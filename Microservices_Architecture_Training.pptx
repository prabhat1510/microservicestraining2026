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5"/>
  </p:notesMasterIdLst>
  <p:sldIdLst>
    <p:sldId id="256" r:id="rId2"/>
    <p:sldId id="257" r:id="rId3"/>
    <p:sldId id="258" r:id="rId4"/>
    <p:sldId id="276" r:id="rId5"/>
    <p:sldId id="277" r:id="rId6"/>
    <p:sldId id="278" r:id="rId7"/>
    <p:sldId id="279" r:id="rId8"/>
    <p:sldId id="280" r:id="rId9"/>
    <p:sldId id="259" r:id="rId10"/>
    <p:sldId id="281" r:id="rId11"/>
    <p:sldId id="282" r:id="rId12"/>
    <p:sldId id="260" r:id="rId13"/>
    <p:sldId id="283" r:id="rId14"/>
    <p:sldId id="284" r:id="rId15"/>
    <p:sldId id="285" r:id="rId16"/>
    <p:sldId id="286" r:id="rId17"/>
    <p:sldId id="287" r:id="rId18"/>
    <p:sldId id="288" r:id="rId19"/>
    <p:sldId id="289" r:id="rId20"/>
    <p:sldId id="294" r:id="rId21"/>
    <p:sldId id="303" r:id="rId22"/>
    <p:sldId id="304" r:id="rId23"/>
    <p:sldId id="305" r:id="rId24"/>
    <p:sldId id="306" r:id="rId25"/>
    <p:sldId id="307" r:id="rId26"/>
    <p:sldId id="308" r:id="rId27"/>
    <p:sldId id="309" r:id="rId28"/>
    <p:sldId id="310" r:id="rId29"/>
    <p:sldId id="311" r:id="rId30"/>
    <p:sldId id="312" r:id="rId31"/>
    <p:sldId id="313" r:id="rId32"/>
    <p:sldId id="314" r:id="rId33"/>
    <p:sldId id="315" r:id="rId34"/>
    <p:sldId id="316" r:id="rId35"/>
    <p:sldId id="317" r:id="rId36"/>
    <p:sldId id="318" r:id="rId37"/>
    <p:sldId id="319" r:id="rId38"/>
    <p:sldId id="320" r:id="rId39"/>
    <p:sldId id="321" r:id="rId40"/>
    <p:sldId id="322" r:id="rId41"/>
    <p:sldId id="323" r:id="rId42"/>
    <p:sldId id="324" r:id="rId43"/>
    <p:sldId id="325" r:id="rId44"/>
    <p:sldId id="326" r:id="rId45"/>
    <p:sldId id="327" r:id="rId46"/>
    <p:sldId id="328" r:id="rId47"/>
    <p:sldId id="329" r:id="rId48"/>
    <p:sldId id="330" r:id="rId49"/>
    <p:sldId id="261" r:id="rId50"/>
    <p:sldId id="262" r:id="rId51"/>
    <p:sldId id="263" r:id="rId52"/>
    <p:sldId id="264" r:id="rId53"/>
    <p:sldId id="331" r:id="rId54"/>
    <p:sldId id="333" r:id="rId55"/>
    <p:sldId id="334" r:id="rId56"/>
    <p:sldId id="335" r:id="rId57"/>
    <p:sldId id="336" r:id="rId58"/>
    <p:sldId id="337" r:id="rId59"/>
    <p:sldId id="338" r:id="rId60"/>
    <p:sldId id="265" r:id="rId61"/>
    <p:sldId id="339" r:id="rId62"/>
    <p:sldId id="340" r:id="rId63"/>
    <p:sldId id="341" r:id="rId64"/>
    <p:sldId id="342" r:id="rId65"/>
    <p:sldId id="343" r:id="rId66"/>
    <p:sldId id="344" r:id="rId67"/>
    <p:sldId id="345" r:id="rId68"/>
    <p:sldId id="346" r:id="rId69"/>
    <p:sldId id="347" r:id="rId70"/>
    <p:sldId id="348" r:id="rId71"/>
    <p:sldId id="349" r:id="rId72"/>
    <p:sldId id="350" r:id="rId73"/>
    <p:sldId id="351" r:id="rId74"/>
    <p:sldId id="352" r:id="rId75"/>
    <p:sldId id="266" r:id="rId76"/>
    <p:sldId id="354" r:id="rId77"/>
    <p:sldId id="355" r:id="rId78"/>
    <p:sldId id="356" r:id="rId79"/>
    <p:sldId id="357" r:id="rId80"/>
    <p:sldId id="358" r:id="rId81"/>
    <p:sldId id="359" r:id="rId82"/>
    <p:sldId id="360" r:id="rId83"/>
    <p:sldId id="361" r:id="rId84"/>
    <p:sldId id="362" r:id="rId85"/>
    <p:sldId id="363" r:id="rId86"/>
    <p:sldId id="364" r:id="rId87"/>
    <p:sldId id="365" r:id="rId88"/>
    <p:sldId id="366" r:id="rId89"/>
    <p:sldId id="367" r:id="rId90"/>
    <p:sldId id="368" r:id="rId91"/>
    <p:sldId id="369" r:id="rId92"/>
    <p:sldId id="370" r:id="rId93"/>
    <p:sldId id="371" r:id="rId94"/>
    <p:sldId id="372" r:id="rId95"/>
    <p:sldId id="267" r:id="rId96"/>
    <p:sldId id="373" r:id="rId97"/>
    <p:sldId id="374" r:id="rId98"/>
    <p:sldId id="375" r:id="rId99"/>
    <p:sldId id="376" r:id="rId100"/>
    <p:sldId id="377" r:id="rId101"/>
    <p:sldId id="378" r:id="rId102"/>
    <p:sldId id="379" r:id="rId103"/>
    <p:sldId id="380" r:id="rId104"/>
    <p:sldId id="382" r:id="rId105"/>
    <p:sldId id="381" r:id="rId106"/>
    <p:sldId id="383" r:id="rId107"/>
    <p:sldId id="384" r:id="rId108"/>
    <p:sldId id="385" r:id="rId109"/>
    <p:sldId id="386" r:id="rId110"/>
    <p:sldId id="387" r:id="rId111"/>
    <p:sldId id="388" r:id="rId112"/>
    <p:sldId id="389" r:id="rId113"/>
    <p:sldId id="390" r:id="rId114"/>
    <p:sldId id="391" r:id="rId115"/>
    <p:sldId id="392" r:id="rId116"/>
    <p:sldId id="268" r:id="rId117"/>
    <p:sldId id="269" r:id="rId118"/>
    <p:sldId id="270" r:id="rId119"/>
    <p:sldId id="271" r:id="rId120"/>
    <p:sldId id="272" r:id="rId121"/>
    <p:sldId id="273" r:id="rId122"/>
    <p:sldId id="274" r:id="rId123"/>
    <p:sldId id="275" r:id="rId1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288" autoAdjust="0"/>
  </p:normalViewPr>
  <p:slideViewPr>
    <p:cSldViewPr snapToGrid="0" snapToObjects="1">
      <p:cViewPr varScale="1">
        <p:scale>
          <a:sx n="79" d="100"/>
          <a:sy n="79" d="100"/>
        </p:scale>
        <p:origin x="157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8D3272-9D30-4716-8B7F-15E4CB8225E9}" type="datetimeFigureOut">
              <a:rPr lang="en-IN" smtClean="0"/>
              <a:t>18-02-2026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0691EF-FDB2-46C1-8D32-B9B07FE37F2A}" type="slidenum">
              <a:rPr lang="en-IN" smtClean="0"/>
              <a:t>‹#›</a:t>
            </a:fld>
            <a:endParaRPr lang="en-IN"/>
          </a:p>
        </p:txBody>
      </p:sp>
    </p:spTree>
    <p:extLst>
      <p:ext uri="{BB962C8B-B14F-4D97-AF65-F5344CB8AC3E}">
        <p14:creationId xmlns:p14="http://schemas.microsoft.com/office/powerpoint/2010/main" val="1576312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pringdoc.org/v2/"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inside one codebase:</a:t>
            </a:r>
          </a:p>
          <a:p>
            <a:r>
              <a:rPr lang="en-US" dirty="0"/>
              <a:t>One project</a:t>
            </a:r>
          </a:p>
          <a:p>
            <a:r>
              <a:rPr lang="en-US" dirty="0"/>
              <a:t>One deployment</a:t>
            </a:r>
          </a:p>
          <a:p>
            <a:r>
              <a:rPr lang="en-US" dirty="0"/>
              <a:t>One database</a:t>
            </a:r>
          </a:p>
          <a:p>
            <a:endParaRPr lang="en-IN" dirty="0"/>
          </a:p>
        </p:txBody>
      </p:sp>
      <p:sp>
        <p:nvSpPr>
          <p:cNvPr id="4" name="Slide Number Placeholder 3"/>
          <p:cNvSpPr>
            <a:spLocks noGrp="1"/>
          </p:cNvSpPr>
          <p:nvPr>
            <p:ph type="sldNum" sz="quarter" idx="5"/>
          </p:nvPr>
        </p:nvSpPr>
        <p:spPr/>
        <p:txBody>
          <a:bodyPr/>
          <a:lstStyle/>
          <a:p>
            <a:fld id="{C70691EF-FDB2-46C1-8D32-B9B07FE37F2A}" type="slidenum">
              <a:rPr lang="en-IN" smtClean="0"/>
              <a:t>4</a:t>
            </a:fld>
            <a:endParaRPr lang="en-IN"/>
          </a:p>
        </p:txBody>
      </p:sp>
    </p:spTree>
    <p:extLst>
      <p:ext uri="{BB962C8B-B14F-4D97-AF65-F5344CB8AC3E}">
        <p14:creationId xmlns:p14="http://schemas.microsoft.com/office/powerpoint/2010/main" val="2365866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service:</a:t>
            </a:r>
          </a:p>
          <a:p>
            <a:r>
              <a:rPr lang="en-US" dirty="0"/>
              <a:t>Has its own code</a:t>
            </a:r>
          </a:p>
          <a:p>
            <a:r>
              <a:rPr lang="en-US" dirty="0"/>
              <a:t>Has its own database</a:t>
            </a:r>
          </a:p>
          <a:p>
            <a:r>
              <a:rPr lang="en-US" dirty="0"/>
              <a:t>Deploys independently</a:t>
            </a:r>
          </a:p>
          <a:p>
            <a:endParaRPr lang="en-IN" dirty="0"/>
          </a:p>
        </p:txBody>
      </p:sp>
      <p:sp>
        <p:nvSpPr>
          <p:cNvPr id="4" name="Slide Number Placeholder 3"/>
          <p:cNvSpPr>
            <a:spLocks noGrp="1"/>
          </p:cNvSpPr>
          <p:nvPr>
            <p:ph type="sldNum" sz="quarter" idx="5"/>
          </p:nvPr>
        </p:nvSpPr>
        <p:spPr/>
        <p:txBody>
          <a:bodyPr/>
          <a:lstStyle/>
          <a:p>
            <a:fld id="{C70691EF-FDB2-46C1-8D32-B9B07FE37F2A}" type="slidenum">
              <a:rPr lang="en-IN" smtClean="0"/>
              <a:t>8</a:t>
            </a:fld>
            <a:endParaRPr lang="en-IN"/>
          </a:p>
        </p:txBody>
      </p:sp>
    </p:spTree>
    <p:extLst>
      <p:ext uri="{BB962C8B-B14F-4D97-AF65-F5344CB8AC3E}">
        <p14:creationId xmlns:p14="http://schemas.microsoft.com/office/powerpoint/2010/main" val="43521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IN" b="0" i="0" dirty="0">
                <a:solidFill>
                  <a:srgbClr val="333333"/>
                </a:solidFill>
                <a:effectLst/>
                <a:latin typeface="Open Sans" panose="020B0606030504020204" pitchFamily="34" charset="0"/>
              </a:rPr>
              <a:t>Using </a:t>
            </a:r>
            <a:r>
              <a:rPr lang="en-IN" b="1" i="0" dirty="0">
                <a:solidFill>
                  <a:srgbClr val="333333"/>
                </a:solidFill>
                <a:effectLst/>
                <a:latin typeface="Open Sans" panose="020B0606030504020204" pitchFamily="34" charset="0"/>
              </a:rPr>
              <a:t>Spring Boot 3 </a:t>
            </a:r>
            <a:r>
              <a:rPr lang="en-IN" b="0" i="0" dirty="0">
                <a:solidFill>
                  <a:srgbClr val="333333"/>
                </a:solidFill>
                <a:effectLst/>
                <a:latin typeface="Open Sans" panose="020B0606030504020204" pitchFamily="34" charset="0"/>
              </a:rPr>
              <a:t>in cloud-native development</a:t>
            </a:r>
          </a:p>
          <a:p>
            <a:pPr algn="l">
              <a:buFont typeface="Arial" panose="020B0604020202020204" pitchFamily="34" charset="0"/>
              <a:buChar char="•"/>
            </a:pPr>
            <a:r>
              <a:rPr lang="en-IN" b="0" i="0" dirty="0">
                <a:solidFill>
                  <a:srgbClr val="333333"/>
                </a:solidFill>
                <a:effectLst/>
                <a:latin typeface="Open Sans" panose="020B0606030504020204" pitchFamily="34" charset="0"/>
              </a:rPr>
              <a:t>Provide service discovery for all microservices with Spring Cloud Netflix </a:t>
            </a:r>
            <a:r>
              <a:rPr lang="en-IN" b="1" i="0" dirty="0">
                <a:solidFill>
                  <a:srgbClr val="333333"/>
                </a:solidFill>
                <a:effectLst/>
                <a:latin typeface="Open Sans" panose="020B0606030504020204" pitchFamily="34" charset="0"/>
              </a:rPr>
              <a:t>Eureka</a:t>
            </a:r>
            <a:r>
              <a:rPr lang="en-IN" b="0" i="0" dirty="0">
                <a:solidFill>
                  <a:srgbClr val="333333"/>
                </a:solidFill>
                <a:effectLst/>
                <a:latin typeface="Open Sans" panose="020B0606030504020204" pitchFamily="34" charset="0"/>
              </a:rPr>
              <a:t>. Anticipating your questions – yes, Eureka is still there. It’s the last of Netflix microservices components still available in Spring Cloud</a:t>
            </a:r>
          </a:p>
          <a:p>
            <a:pPr algn="l">
              <a:buFont typeface="Arial" panose="020B0604020202020204" pitchFamily="34" charset="0"/>
              <a:buChar char="•"/>
            </a:pPr>
            <a:r>
              <a:rPr lang="en-IN" b="1" i="0" dirty="0">
                <a:solidFill>
                  <a:srgbClr val="333333"/>
                </a:solidFill>
                <a:effectLst/>
                <a:latin typeface="Open Sans" panose="020B0606030504020204" pitchFamily="34" charset="0"/>
              </a:rPr>
              <a:t>Spring Cloud </a:t>
            </a:r>
            <a:r>
              <a:rPr lang="en-IN" b="1" i="0" dirty="0" err="1">
                <a:solidFill>
                  <a:srgbClr val="333333"/>
                </a:solidFill>
                <a:effectLst/>
                <a:latin typeface="Open Sans" panose="020B0606030504020204" pitchFamily="34" charset="0"/>
              </a:rPr>
              <a:t>OpenFeign</a:t>
            </a:r>
            <a:r>
              <a:rPr lang="en-IN" b="0" i="0" dirty="0">
                <a:solidFill>
                  <a:srgbClr val="333333"/>
                </a:solidFill>
                <a:effectLst/>
                <a:latin typeface="Open Sans" panose="020B0606030504020204" pitchFamily="34" charset="0"/>
              </a:rPr>
              <a:t> in inter-service communication</a:t>
            </a:r>
          </a:p>
          <a:p>
            <a:pPr algn="l">
              <a:buFont typeface="Arial" panose="020B0604020202020204" pitchFamily="34" charset="0"/>
              <a:buChar char="•"/>
            </a:pPr>
            <a:r>
              <a:rPr lang="en-IN" b="0" i="0" dirty="0">
                <a:solidFill>
                  <a:srgbClr val="333333"/>
                </a:solidFill>
                <a:effectLst/>
                <a:latin typeface="Open Sans" panose="020B0606030504020204" pitchFamily="34" charset="0"/>
              </a:rPr>
              <a:t>Distributed configuration with </a:t>
            </a:r>
            <a:r>
              <a:rPr lang="en-IN" b="1" i="0" dirty="0">
                <a:solidFill>
                  <a:srgbClr val="333333"/>
                </a:solidFill>
                <a:effectLst/>
                <a:latin typeface="Open Sans" panose="020B0606030504020204" pitchFamily="34" charset="0"/>
              </a:rPr>
              <a:t>Spring Cloud Config</a:t>
            </a:r>
            <a:endParaRPr lang="en-IN" b="0" i="0" dirty="0">
              <a:solidFill>
                <a:srgbClr val="333333"/>
              </a:solidFill>
              <a:effectLst/>
              <a:latin typeface="Open Sans" panose="020B0606030504020204" pitchFamily="34" charset="0"/>
            </a:endParaRPr>
          </a:p>
          <a:p>
            <a:pPr algn="l">
              <a:buFont typeface="Arial" panose="020B0604020202020204" pitchFamily="34" charset="0"/>
              <a:buChar char="•"/>
            </a:pPr>
            <a:r>
              <a:rPr lang="en-IN" b="0" i="0" dirty="0">
                <a:solidFill>
                  <a:srgbClr val="333333"/>
                </a:solidFill>
                <a:effectLst/>
                <a:latin typeface="Open Sans" panose="020B0606030504020204" pitchFamily="34" charset="0"/>
              </a:rPr>
              <a:t>API Gateway pattern with </a:t>
            </a:r>
            <a:r>
              <a:rPr lang="en-IN" b="1" i="0" dirty="0">
                <a:solidFill>
                  <a:srgbClr val="333333"/>
                </a:solidFill>
                <a:effectLst/>
                <a:latin typeface="Open Sans" panose="020B0606030504020204" pitchFamily="34" charset="0"/>
              </a:rPr>
              <a:t>Spring Cloud Gateway</a:t>
            </a:r>
            <a:r>
              <a:rPr lang="en-IN" b="0" i="0" dirty="0">
                <a:solidFill>
                  <a:srgbClr val="333333"/>
                </a:solidFill>
                <a:effectLst/>
                <a:latin typeface="Open Sans" panose="020B0606030504020204" pitchFamily="34" charset="0"/>
              </a:rPr>
              <a:t> including a global </a:t>
            </a:r>
            <a:r>
              <a:rPr lang="en-IN" b="0" i="0" dirty="0" err="1">
                <a:solidFill>
                  <a:srgbClr val="333333"/>
                </a:solidFill>
                <a:effectLst/>
                <a:latin typeface="Open Sans" panose="020B0606030504020204" pitchFamily="34" charset="0"/>
              </a:rPr>
              <a:t>OpenAPI</a:t>
            </a:r>
            <a:r>
              <a:rPr lang="en-IN" b="0" i="0" dirty="0">
                <a:solidFill>
                  <a:srgbClr val="333333"/>
                </a:solidFill>
                <a:effectLst/>
                <a:latin typeface="Open Sans" panose="020B0606030504020204" pitchFamily="34" charset="0"/>
              </a:rPr>
              <a:t> documentation with the </a:t>
            </a:r>
            <a:r>
              <a:rPr lang="en-IN" b="1" i="0" u="sng" dirty="0" err="1">
                <a:solidFill>
                  <a:srgbClr val="061018"/>
                </a:solidFill>
                <a:effectLst/>
                <a:latin typeface="Open Sans" panose="020B0606030504020204" pitchFamily="34" charset="0"/>
                <a:hlinkClick r:id="rId3"/>
              </a:rPr>
              <a:t>Springdoc</a:t>
            </a:r>
            <a:r>
              <a:rPr lang="en-IN" b="0" i="0" dirty="0">
                <a:solidFill>
                  <a:srgbClr val="333333"/>
                </a:solidFill>
                <a:effectLst/>
                <a:latin typeface="Open Sans" panose="020B0606030504020204" pitchFamily="34" charset="0"/>
              </a:rPr>
              <a:t> project</a:t>
            </a:r>
          </a:p>
          <a:p>
            <a:pPr algn="l">
              <a:buFont typeface="Arial" panose="020B0604020202020204" pitchFamily="34" charset="0"/>
              <a:buChar char="•"/>
            </a:pPr>
            <a:r>
              <a:rPr lang="en-IN" b="0" i="0" dirty="0">
                <a:solidFill>
                  <a:srgbClr val="333333"/>
                </a:solidFill>
                <a:effectLst/>
                <a:latin typeface="Open Sans" panose="020B0606030504020204" pitchFamily="34" charset="0"/>
              </a:rPr>
              <a:t>Collecting traces with </a:t>
            </a:r>
            <a:r>
              <a:rPr lang="en-IN" b="0" i="0" dirty="0" err="1">
                <a:solidFill>
                  <a:srgbClr val="333333"/>
                </a:solidFill>
                <a:effectLst/>
                <a:latin typeface="Open Sans" panose="020B0606030504020204" pitchFamily="34" charset="0"/>
              </a:rPr>
              <a:t>Micrometer</a:t>
            </a:r>
            <a:r>
              <a:rPr lang="en-IN" b="0" i="0" dirty="0">
                <a:solidFill>
                  <a:srgbClr val="333333"/>
                </a:solidFill>
                <a:effectLst/>
                <a:latin typeface="Open Sans" panose="020B0606030504020204" pitchFamily="34" charset="0"/>
              </a:rPr>
              <a:t> </a:t>
            </a:r>
            <a:r>
              <a:rPr lang="en-IN" b="0" i="0" dirty="0" err="1">
                <a:solidFill>
                  <a:srgbClr val="333333"/>
                </a:solidFill>
                <a:effectLst/>
                <a:latin typeface="Open Sans" panose="020B0606030504020204" pitchFamily="34" charset="0"/>
              </a:rPr>
              <a:t>OpenTelemetry</a:t>
            </a:r>
            <a:r>
              <a:rPr lang="en-IN" b="0" i="0" dirty="0">
                <a:solidFill>
                  <a:srgbClr val="333333"/>
                </a:solidFill>
                <a:effectLst/>
                <a:latin typeface="Open Sans" panose="020B0606030504020204" pitchFamily="34" charset="0"/>
              </a:rPr>
              <a:t> and Zipkin</a:t>
            </a:r>
          </a:p>
          <a:p>
            <a:endParaRPr lang="en-IN" dirty="0"/>
          </a:p>
          <a:p>
            <a:endParaRPr lang="en-IN" dirty="0"/>
          </a:p>
          <a:p>
            <a:r>
              <a:rPr lang="en-IN" dirty="0"/>
              <a:t>http://localhost:8060/employee/</a:t>
            </a:r>
          </a:p>
          <a:p>
            <a:r>
              <a:rPr lang="en-IN" dirty="0"/>
              <a:t>http://localhost:8060/department/organization/1</a:t>
            </a:r>
          </a:p>
          <a:p>
            <a:r>
              <a:rPr lang="en-IN" dirty="0"/>
              <a:t>http://localhost:8060/department/organization/1/with-employees</a:t>
            </a:r>
          </a:p>
          <a:p>
            <a:r>
              <a:rPr lang="en-IN" dirty="0"/>
              <a:t>http://localhost:8060/organization/</a:t>
            </a:r>
          </a:p>
          <a:p>
            <a:r>
              <a:rPr lang="en-IN" dirty="0"/>
              <a:t>http://localhost:8060/organization/1/with-departments</a:t>
            </a:r>
          </a:p>
          <a:p>
            <a:endParaRPr lang="en-IN" dirty="0"/>
          </a:p>
          <a:p>
            <a:r>
              <a:rPr lang="en-IN" dirty="0"/>
              <a:t>http://localhost:8060/swagger-ui.html</a:t>
            </a:r>
          </a:p>
          <a:p>
            <a:endParaRPr lang="en-IN" dirty="0"/>
          </a:p>
        </p:txBody>
      </p:sp>
      <p:sp>
        <p:nvSpPr>
          <p:cNvPr id="4" name="Slide Number Placeholder 3"/>
          <p:cNvSpPr>
            <a:spLocks noGrp="1"/>
          </p:cNvSpPr>
          <p:nvPr>
            <p:ph type="sldNum" sz="quarter" idx="5"/>
          </p:nvPr>
        </p:nvSpPr>
        <p:spPr/>
        <p:txBody>
          <a:bodyPr/>
          <a:lstStyle/>
          <a:p>
            <a:fld id="{C70691EF-FDB2-46C1-8D32-B9B07FE37F2A}" type="slidenum">
              <a:rPr lang="en-IN" smtClean="0"/>
              <a:t>19</a:t>
            </a:fld>
            <a:endParaRPr lang="en-IN"/>
          </a:p>
        </p:txBody>
      </p:sp>
    </p:spTree>
    <p:extLst>
      <p:ext uri="{BB962C8B-B14F-4D97-AF65-F5344CB8AC3E}">
        <p14:creationId xmlns:p14="http://schemas.microsoft.com/office/powerpoint/2010/main" val="3233575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http://localhost:8060/employee/</a:t>
            </a:r>
          </a:p>
          <a:p>
            <a:r>
              <a:rPr lang="en-IN" dirty="0"/>
              <a:t>http://localhost:8060/department/organization/1</a:t>
            </a:r>
          </a:p>
          <a:p>
            <a:r>
              <a:rPr lang="en-IN" dirty="0"/>
              <a:t>http://localhost:8060/department/organization/1/with-employees</a:t>
            </a:r>
          </a:p>
          <a:p>
            <a:r>
              <a:rPr lang="en-IN" dirty="0"/>
              <a:t>http://localhost:8060/organization/</a:t>
            </a:r>
          </a:p>
          <a:p>
            <a:r>
              <a:rPr lang="en-IN" dirty="0"/>
              <a:t>http://localhost:8060/organization/1/with-departments</a:t>
            </a:r>
          </a:p>
          <a:p>
            <a:endParaRPr lang="en-IN" dirty="0"/>
          </a:p>
          <a:p>
            <a:r>
              <a:rPr lang="en-IN" dirty="0"/>
              <a:t>http://localhost:8060/swagger-ui.html</a:t>
            </a:r>
          </a:p>
        </p:txBody>
      </p:sp>
      <p:sp>
        <p:nvSpPr>
          <p:cNvPr id="4" name="Slide Number Placeholder 3"/>
          <p:cNvSpPr>
            <a:spLocks noGrp="1"/>
          </p:cNvSpPr>
          <p:nvPr>
            <p:ph type="sldNum" sz="quarter" idx="5"/>
          </p:nvPr>
        </p:nvSpPr>
        <p:spPr/>
        <p:txBody>
          <a:bodyPr/>
          <a:lstStyle/>
          <a:p>
            <a:fld id="{9BD7E917-8394-433F-96B5-1F86F1B85784}" type="slidenum">
              <a:rPr lang="en-IN" smtClean="0"/>
              <a:t>20</a:t>
            </a:fld>
            <a:endParaRPr lang="en-IN"/>
          </a:p>
        </p:txBody>
      </p:sp>
    </p:spTree>
    <p:extLst>
      <p:ext uri="{BB962C8B-B14F-4D97-AF65-F5344CB8AC3E}">
        <p14:creationId xmlns:p14="http://schemas.microsoft.com/office/powerpoint/2010/main" val="1371736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D7E917-8394-433F-96B5-1F86F1B85784}" type="slidenum">
              <a:rPr lang="en-IN" smtClean="0"/>
              <a:t>21</a:t>
            </a:fld>
            <a:endParaRPr lang="en-IN"/>
          </a:p>
        </p:txBody>
      </p:sp>
    </p:spTree>
    <p:extLst>
      <p:ext uri="{BB962C8B-B14F-4D97-AF65-F5344CB8AC3E}">
        <p14:creationId xmlns:p14="http://schemas.microsoft.com/office/powerpoint/2010/main" val="585737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Explain flow step-by-step.</a:t>
            </a:r>
          </a:p>
        </p:txBody>
      </p:sp>
      <p:sp>
        <p:nvSpPr>
          <p:cNvPr id="4" name="Slide Number Placeholder 3"/>
          <p:cNvSpPr>
            <a:spLocks noGrp="1"/>
          </p:cNvSpPr>
          <p:nvPr>
            <p:ph type="sldNum" sz="quarter" idx="5"/>
          </p:nvPr>
        </p:nvSpPr>
        <p:spPr/>
        <p:txBody>
          <a:bodyPr/>
          <a:lstStyle/>
          <a:p>
            <a:fld id="{C70691EF-FDB2-46C1-8D32-B9B07FE37F2A}" type="slidenum">
              <a:rPr lang="en-IN" smtClean="0"/>
              <a:t>26</a:t>
            </a:fld>
            <a:endParaRPr lang="en-IN"/>
          </a:p>
        </p:txBody>
      </p:sp>
    </p:spTree>
    <p:extLst>
      <p:ext uri="{BB962C8B-B14F-4D97-AF65-F5344CB8AC3E}">
        <p14:creationId xmlns:p14="http://schemas.microsoft.com/office/powerpoint/2010/main" val="495773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0691EF-FDB2-46C1-8D32-B9B07FE37F2A}" type="slidenum">
              <a:rPr lang="en-IN" smtClean="0"/>
              <a:t>28</a:t>
            </a:fld>
            <a:endParaRPr lang="en-IN"/>
          </a:p>
        </p:txBody>
      </p:sp>
    </p:spTree>
    <p:extLst>
      <p:ext uri="{BB962C8B-B14F-4D97-AF65-F5344CB8AC3E}">
        <p14:creationId xmlns:p14="http://schemas.microsoft.com/office/powerpoint/2010/main" val="3390706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0691EF-FDB2-46C1-8D32-B9B07FE37F2A}" type="slidenum">
              <a:rPr lang="en-IN" smtClean="0"/>
              <a:t>40</a:t>
            </a:fld>
            <a:endParaRPr lang="en-IN"/>
          </a:p>
        </p:txBody>
      </p:sp>
    </p:spTree>
    <p:extLst>
      <p:ext uri="{BB962C8B-B14F-4D97-AF65-F5344CB8AC3E}">
        <p14:creationId xmlns:p14="http://schemas.microsoft.com/office/powerpoint/2010/main" val="2632118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0691EF-FDB2-46C1-8D32-B9B07FE37F2A}" type="slidenum">
              <a:rPr lang="en-IN" smtClean="0"/>
              <a:t>41</a:t>
            </a:fld>
            <a:endParaRPr lang="en-IN"/>
          </a:p>
        </p:txBody>
      </p:sp>
    </p:spTree>
    <p:extLst>
      <p:ext uri="{BB962C8B-B14F-4D97-AF65-F5344CB8AC3E}">
        <p14:creationId xmlns:p14="http://schemas.microsoft.com/office/powerpoint/2010/main" val="3135931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60E6D-E1F6-19E6-623E-0F317647F3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48CC6D-69A3-8AA0-46D2-45B4C0B259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D27C83-E34B-363F-4439-75BCA3B40A6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6FE4EFC-C2BF-B019-686F-616CF68A36D8}"/>
              </a:ext>
            </a:extLst>
          </p:cNvPr>
          <p:cNvSpPr>
            <a:spLocks noGrp="1"/>
          </p:cNvSpPr>
          <p:nvPr>
            <p:ph type="sldNum" sz="quarter" idx="5"/>
          </p:nvPr>
        </p:nvSpPr>
        <p:spPr/>
        <p:txBody>
          <a:bodyPr/>
          <a:lstStyle/>
          <a:p>
            <a:fld id="{C70691EF-FDB2-46C1-8D32-B9B07FE37F2A}" type="slidenum">
              <a:rPr lang="en-IN" smtClean="0"/>
              <a:t>42</a:t>
            </a:fld>
            <a:endParaRPr lang="en-IN"/>
          </a:p>
        </p:txBody>
      </p:sp>
    </p:spTree>
    <p:extLst>
      <p:ext uri="{BB962C8B-B14F-4D97-AF65-F5344CB8AC3E}">
        <p14:creationId xmlns:p14="http://schemas.microsoft.com/office/powerpoint/2010/main" val="4094539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EEB3F-43C0-5ABC-8A9C-24E7EE2E4F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A989A6-3427-52E6-EC7B-2E5A70600C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9D50C8-7440-E015-1283-14A14E96DD2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0315B2E-024A-B8D5-6A26-1CF55221FE49}"/>
              </a:ext>
            </a:extLst>
          </p:cNvPr>
          <p:cNvSpPr>
            <a:spLocks noGrp="1"/>
          </p:cNvSpPr>
          <p:nvPr>
            <p:ph type="sldNum" sz="quarter" idx="5"/>
          </p:nvPr>
        </p:nvSpPr>
        <p:spPr/>
        <p:txBody>
          <a:bodyPr/>
          <a:lstStyle/>
          <a:p>
            <a:fld id="{C70691EF-FDB2-46C1-8D32-B9B07FE37F2A}" type="slidenum">
              <a:rPr lang="en-IN" smtClean="0"/>
              <a:t>43</a:t>
            </a:fld>
            <a:endParaRPr lang="en-IN"/>
          </a:p>
        </p:txBody>
      </p:sp>
    </p:spTree>
    <p:extLst>
      <p:ext uri="{BB962C8B-B14F-4D97-AF65-F5344CB8AC3E}">
        <p14:creationId xmlns:p14="http://schemas.microsoft.com/office/powerpoint/2010/main" val="790777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D73A8-BFEA-F2E3-BB36-ECF6B9BFE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674D5B-067B-C973-5651-8485F90122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4CE328-C639-8154-82AD-7ED1B864DB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EEEE13-D5E0-F137-136B-6DC177E9CDC5}"/>
              </a:ext>
            </a:extLst>
          </p:cNvPr>
          <p:cNvSpPr>
            <a:spLocks noGrp="1"/>
          </p:cNvSpPr>
          <p:nvPr>
            <p:ph type="sldNum" sz="quarter" idx="5"/>
          </p:nvPr>
        </p:nvSpPr>
        <p:spPr/>
        <p:txBody>
          <a:bodyPr/>
          <a:lstStyle/>
          <a:p>
            <a:fld id="{C70691EF-FDB2-46C1-8D32-B9B07FE37F2A}" type="slidenum">
              <a:rPr lang="en-IN" smtClean="0"/>
              <a:t>44</a:t>
            </a:fld>
            <a:endParaRPr lang="en-IN"/>
          </a:p>
        </p:txBody>
      </p:sp>
    </p:spTree>
    <p:extLst>
      <p:ext uri="{BB962C8B-B14F-4D97-AF65-F5344CB8AC3E}">
        <p14:creationId xmlns:p14="http://schemas.microsoft.com/office/powerpoint/2010/main" val="6238787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D49FF-FD11-BDDA-0BDB-095787B09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45F662-6E81-B64A-5B7F-87B507D574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08EDC0-46C7-48C6-FE3D-DC025CDE318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D05E32E-787A-1AD9-8822-05E64AD36054}"/>
              </a:ext>
            </a:extLst>
          </p:cNvPr>
          <p:cNvSpPr>
            <a:spLocks noGrp="1"/>
          </p:cNvSpPr>
          <p:nvPr>
            <p:ph type="sldNum" sz="quarter" idx="5"/>
          </p:nvPr>
        </p:nvSpPr>
        <p:spPr/>
        <p:txBody>
          <a:bodyPr/>
          <a:lstStyle/>
          <a:p>
            <a:fld id="{C70691EF-FDB2-46C1-8D32-B9B07FE37F2A}" type="slidenum">
              <a:rPr lang="en-IN" smtClean="0"/>
              <a:t>45</a:t>
            </a:fld>
            <a:endParaRPr lang="en-IN"/>
          </a:p>
        </p:txBody>
      </p:sp>
    </p:spTree>
    <p:extLst>
      <p:ext uri="{BB962C8B-B14F-4D97-AF65-F5344CB8AC3E}">
        <p14:creationId xmlns:p14="http://schemas.microsoft.com/office/powerpoint/2010/main" val="36259358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E9338-0B86-D4DA-6688-3A7D31D69F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ACE5F8-A84C-07A4-23E0-E7BCAEA1D2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AB58A-805B-C56E-39DE-B32E9410991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0A4FF44-06A4-3DFF-2F3B-A5FC7F7177F6}"/>
              </a:ext>
            </a:extLst>
          </p:cNvPr>
          <p:cNvSpPr>
            <a:spLocks noGrp="1"/>
          </p:cNvSpPr>
          <p:nvPr>
            <p:ph type="sldNum" sz="quarter" idx="5"/>
          </p:nvPr>
        </p:nvSpPr>
        <p:spPr/>
        <p:txBody>
          <a:bodyPr/>
          <a:lstStyle/>
          <a:p>
            <a:fld id="{C70691EF-FDB2-46C1-8D32-B9B07FE37F2A}" type="slidenum">
              <a:rPr lang="en-IN" smtClean="0"/>
              <a:t>46</a:t>
            </a:fld>
            <a:endParaRPr lang="en-IN"/>
          </a:p>
        </p:txBody>
      </p:sp>
    </p:spTree>
    <p:extLst>
      <p:ext uri="{BB962C8B-B14F-4D97-AF65-F5344CB8AC3E}">
        <p14:creationId xmlns:p14="http://schemas.microsoft.com/office/powerpoint/2010/main" val="10603214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43687-8E47-9947-BD2F-8D2666FB1D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29467-874E-755A-394C-FB00B3AD94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E6087C-04B7-9D87-4DC7-43FD6925B7C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23E8008-A6B0-F66A-B7F7-B38AE435FE7E}"/>
              </a:ext>
            </a:extLst>
          </p:cNvPr>
          <p:cNvSpPr>
            <a:spLocks noGrp="1"/>
          </p:cNvSpPr>
          <p:nvPr>
            <p:ph type="sldNum" sz="quarter" idx="5"/>
          </p:nvPr>
        </p:nvSpPr>
        <p:spPr/>
        <p:txBody>
          <a:bodyPr/>
          <a:lstStyle/>
          <a:p>
            <a:fld id="{C70691EF-FDB2-46C1-8D32-B9B07FE37F2A}" type="slidenum">
              <a:rPr lang="en-IN" smtClean="0"/>
              <a:t>47</a:t>
            </a:fld>
            <a:endParaRPr lang="en-IN"/>
          </a:p>
        </p:txBody>
      </p:sp>
    </p:spTree>
    <p:extLst>
      <p:ext uri="{BB962C8B-B14F-4D97-AF65-F5344CB8AC3E}">
        <p14:creationId xmlns:p14="http://schemas.microsoft.com/office/powerpoint/2010/main" val="7754869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35224-260B-250E-41AF-FB8E209F2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43C10-AABF-37EE-BF4C-894B9AAA0C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DCB2FD-9C53-071B-E864-37CDE21A9D30}"/>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Apart from these options, Apache </a:t>
            </a:r>
            <a:r>
              <a:rPr lang="en-US" sz="1200" b="0" i="0" kern="1200" dirty="0" err="1">
                <a:solidFill>
                  <a:schemeClr val="tx1"/>
                </a:solidFill>
                <a:effectLst/>
                <a:latin typeface="+mn-lt"/>
                <a:ea typeface="+mn-ea"/>
                <a:cs typeface="+mn-cs"/>
              </a:rPr>
              <a:t>HttpClient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OkHttp</a:t>
            </a:r>
            <a:r>
              <a:rPr lang="en-US" sz="1200" b="0" i="0" kern="1200" dirty="0">
                <a:solidFill>
                  <a:schemeClr val="tx1"/>
                </a:solidFill>
                <a:effectLst/>
                <a:latin typeface="+mn-lt"/>
                <a:ea typeface="+mn-ea"/>
                <a:cs typeface="+mn-cs"/>
              </a:rPr>
              <a:t>, Retrofit are different other frameworks that can be integrated with Java Microservices Environment to send requests and receive responses between Services.</a:t>
            </a:r>
            <a:br>
              <a:rPr lang="en-US" dirty="0"/>
            </a:br>
            <a:r>
              <a:rPr lang="en-US" sz="1200" b="0" i="0" kern="1200" dirty="0">
                <a:solidFill>
                  <a:schemeClr val="tx1"/>
                </a:solidFill>
                <a:effectLst/>
                <a:latin typeface="+mn-lt"/>
                <a:ea typeface="+mn-ea"/>
                <a:cs typeface="+mn-cs"/>
              </a:rPr>
              <a:t>Depending on your project specific requirements, such as performance, ease of use, integration with existing frameworks, and support for desired protocols, authentication mechanisms, one can choose the best that fits the needs.</a:t>
            </a:r>
            <a:endParaRPr lang="en-IN" dirty="0"/>
          </a:p>
        </p:txBody>
      </p:sp>
      <p:sp>
        <p:nvSpPr>
          <p:cNvPr id="4" name="Slide Number Placeholder 3">
            <a:extLst>
              <a:ext uri="{FF2B5EF4-FFF2-40B4-BE49-F238E27FC236}">
                <a16:creationId xmlns:a16="http://schemas.microsoft.com/office/drawing/2014/main" id="{A4078E62-F872-EA04-2FBE-8302B44B0AF1}"/>
              </a:ext>
            </a:extLst>
          </p:cNvPr>
          <p:cNvSpPr>
            <a:spLocks noGrp="1"/>
          </p:cNvSpPr>
          <p:nvPr>
            <p:ph type="sldNum" sz="quarter" idx="5"/>
          </p:nvPr>
        </p:nvSpPr>
        <p:spPr/>
        <p:txBody>
          <a:bodyPr/>
          <a:lstStyle/>
          <a:p>
            <a:fld id="{C70691EF-FDB2-46C1-8D32-B9B07FE37F2A}" type="slidenum">
              <a:rPr lang="en-IN" smtClean="0"/>
              <a:t>48</a:t>
            </a:fld>
            <a:endParaRPr lang="en-IN"/>
          </a:p>
        </p:txBody>
      </p:sp>
    </p:spTree>
    <p:extLst>
      <p:ext uri="{BB962C8B-B14F-4D97-AF65-F5344CB8AC3E}">
        <p14:creationId xmlns:p14="http://schemas.microsoft.com/office/powerpoint/2010/main" val="40890365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0691EF-FDB2-46C1-8D32-B9B07FE37F2A}" type="slidenum">
              <a:rPr lang="en-IN" smtClean="0"/>
              <a:t>79</a:t>
            </a:fld>
            <a:endParaRPr lang="en-IN"/>
          </a:p>
        </p:txBody>
      </p:sp>
    </p:spTree>
    <p:extLst>
      <p:ext uri="{BB962C8B-B14F-4D97-AF65-F5344CB8AC3E}">
        <p14:creationId xmlns:p14="http://schemas.microsoft.com/office/powerpoint/2010/main" val="1742340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hyperlink" Target="https://start.spring.io/" TargetMode="Externa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Microservices Architecture &amp; System Design</a:t>
            </a:r>
          </a:p>
        </p:txBody>
      </p:sp>
      <p:sp>
        <p:nvSpPr>
          <p:cNvPr id="3" name="Subtitle 2"/>
          <p:cNvSpPr>
            <a:spLocks noGrp="1"/>
          </p:cNvSpPr>
          <p:nvPr>
            <p:ph type="subTitle" idx="1"/>
          </p:nvPr>
        </p:nvSpPr>
        <p:spPr/>
        <p:txBody>
          <a:bodyPr/>
          <a:lstStyle/>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Course Objectives</a:t>
            </a:r>
          </a:p>
        </p:txBody>
      </p:sp>
      <p:sp>
        <p:nvSpPr>
          <p:cNvPr id="3" name="Content Placeholder 2"/>
          <p:cNvSpPr>
            <a:spLocks noGrp="1"/>
          </p:cNvSpPr>
          <p:nvPr>
            <p:ph idx="1"/>
          </p:nvPr>
        </p:nvSpPr>
        <p:spPr/>
        <p:txBody>
          <a:bodyPr/>
          <a:lstStyle/>
          <a:p>
            <a:r>
              <a:t>Understand Microservices Architecture</a:t>
            </a:r>
          </a:p>
          <a:p>
            <a:r>
              <a:t>Learn System Design Principles</a:t>
            </a:r>
          </a:p>
          <a:p>
            <a:r>
              <a:t>Implement Design Patterns</a:t>
            </a:r>
          </a:p>
          <a:p>
            <a:r>
              <a:t>Deploy using Docker &amp; Kubernetes</a:t>
            </a:r>
          </a:p>
          <a:p>
            <a:r>
              <a:t>Build Enterprise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Monolith Architecture</a:t>
            </a:r>
          </a:p>
        </p:txBody>
      </p:sp>
      <p:sp>
        <p:nvSpPr>
          <p:cNvPr id="3" name="Content Placeholder 2"/>
          <p:cNvSpPr>
            <a:spLocks noGrp="1"/>
          </p:cNvSpPr>
          <p:nvPr>
            <p:ph idx="1"/>
          </p:nvPr>
        </p:nvSpPr>
        <p:spPr/>
        <p:txBody>
          <a:bodyPr/>
          <a:lstStyle/>
          <a:p>
            <a:r>
              <a:t>Single codebase application</a:t>
            </a:r>
          </a:p>
          <a:p>
            <a:r>
              <a:t>All modules tightly coupled</a:t>
            </a:r>
          </a:p>
          <a:p>
            <a:r>
              <a:t>Difficult to scale</a:t>
            </a:r>
          </a:p>
          <a:p>
            <a:r>
              <a:t>Slow deployments</a:t>
            </a:r>
          </a:p>
          <a:p>
            <a:r>
              <a:t>Single point of failure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783E7-70EA-FCA4-889F-79D692A7699E}"/>
              </a:ext>
            </a:extLst>
          </p:cNvPr>
          <p:cNvSpPr>
            <a:spLocks noGrp="1"/>
          </p:cNvSpPr>
          <p:nvPr>
            <p:ph type="title"/>
          </p:nvPr>
        </p:nvSpPr>
        <p:spPr/>
        <p:txBody>
          <a:bodyPr/>
          <a:lstStyle/>
          <a:p>
            <a:r>
              <a:rPr lang="en-IN" dirty="0"/>
              <a:t>What is a Monolith?</a:t>
            </a:r>
          </a:p>
        </p:txBody>
      </p:sp>
      <p:sp>
        <p:nvSpPr>
          <p:cNvPr id="3" name="Content Placeholder 2">
            <a:extLst>
              <a:ext uri="{FF2B5EF4-FFF2-40B4-BE49-F238E27FC236}">
                <a16:creationId xmlns:a16="http://schemas.microsoft.com/office/drawing/2014/main" id="{E08D0AC2-26CA-D14D-3E23-C1AA9516CEA2}"/>
              </a:ext>
            </a:extLst>
          </p:cNvPr>
          <p:cNvSpPr>
            <a:spLocks noGrp="1"/>
          </p:cNvSpPr>
          <p:nvPr>
            <p:ph idx="1"/>
          </p:nvPr>
        </p:nvSpPr>
        <p:spPr/>
        <p:txBody>
          <a:bodyPr>
            <a:noAutofit/>
          </a:bodyPr>
          <a:lstStyle/>
          <a:p>
            <a:pPr marL="0" indent="0">
              <a:buNone/>
            </a:pPr>
            <a:r>
              <a:rPr lang="en-US" sz="2400" dirty="0"/>
              <a:t>Let us start with a simple question.</a:t>
            </a:r>
          </a:p>
          <a:p>
            <a:pPr marL="0" indent="0">
              <a:buNone/>
            </a:pPr>
            <a:r>
              <a:rPr lang="en-US" sz="2400" dirty="0"/>
              <a:t>Imagine a Banking Application.</a:t>
            </a:r>
          </a:p>
          <a:p>
            <a:pPr marL="0" indent="0">
              <a:buNone/>
            </a:pPr>
            <a:r>
              <a:rPr lang="en-US" sz="2400" dirty="0"/>
              <a:t>It has features like:</a:t>
            </a:r>
          </a:p>
          <a:p>
            <a:r>
              <a:rPr lang="en-US" sz="2400" dirty="0"/>
              <a:t>Login</a:t>
            </a:r>
          </a:p>
          <a:p>
            <a:r>
              <a:rPr lang="en-US" sz="2400" dirty="0"/>
              <a:t>Customer management</a:t>
            </a:r>
          </a:p>
          <a:p>
            <a:r>
              <a:rPr lang="en-US" sz="2400" dirty="0"/>
              <a:t>Account management</a:t>
            </a:r>
          </a:p>
          <a:p>
            <a:r>
              <a:rPr lang="en-US" sz="2400" dirty="0"/>
              <a:t>Transactions</a:t>
            </a:r>
          </a:p>
          <a:p>
            <a:r>
              <a:rPr lang="en-US" sz="2400" dirty="0"/>
              <a:t>Notifications</a:t>
            </a:r>
          </a:p>
          <a:p>
            <a:pPr marL="0" indent="0">
              <a:buNone/>
            </a:pPr>
            <a:r>
              <a:rPr lang="en-US" sz="2400" dirty="0"/>
              <a:t>In traditional architecture, all of this is built into </a:t>
            </a:r>
            <a:r>
              <a:rPr lang="en-US" sz="2400" b="1" dirty="0"/>
              <a:t>one single application</a:t>
            </a:r>
            <a:r>
              <a:rPr lang="en-US" sz="2400" dirty="0"/>
              <a:t>.</a:t>
            </a:r>
          </a:p>
          <a:p>
            <a:pPr marL="0" indent="0">
              <a:buNone/>
            </a:pPr>
            <a:r>
              <a:rPr lang="en-US" sz="2400" dirty="0"/>
              <a:t>This is called a </a:t>
            </a:r>
            <a:r>
              <a:rPr lang="en-US" sz="2400" b="1" dirty="0"/>
              <a:t>Monolithic Architecture</a:t>
            </a:r>
            <a:r>
              <a:rPr lang="en-US" sz="2400" dirty="0"/>
              <a:t>.</a:t>
            </a:r>
          </a:p>
          <a:p>
            <a:endParaRPr lang="en-IN" sz="2400" dirty="0"/>
          </a:p>
        </p:txBody>
      </p:sp>
      <p:pic>
        <p:nvPicPr>
          <p:cNvPr id="1028" name="Picture 4" descr="Bringing Monolithic and Microservice Architectures together in Banking  Software | nasscom | The Official Community of Indian IT Industry">
            <a:extLst>
              <a:ext uri="{FF2B5EF4-FFF2-40B4-BE49-F238E27FC236}">
                <a16:creationId xmlns:a16="http://schemas.microsoft.com/office/drawing/2014/main" id="{13C79014-5066-33B6-F9F3-C549B7D1C0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4336" y="2479248"/>
            <a:ext cx="5379664" cy="2605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8619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6E80C-E060-A27E-5443-B9531334FDDA}"/>
              </a:ext>
            </a:extLst>
          </p:cNvPr>
          <p:cNvSpPr>
            <a:spLocks noGrp="1"/>
          </p:cNvSpPr>
          <p:nvPr>
            <p:ph type="title"/>
          </p:nvPr>
        </p:nvSpPr>
        <p:spPr/>
        <p:txBody>
          <a:bodyPr/>
          <a:lstStyle/>
          <a:p>
            <a:r>
              <a:rPr lang="en-IN" dirty="0"/>
              <a:t>Problems with Monolith</a:t>
            </a:r>
          </a:p>
        </p:txBody>
      </p:sp>
      <p:sp>
        <p:nvSpPr>
          <p:cNvPr id="3" name="Content Placeholder 2">
            <a:extLst>
              <a:ext uri="{FF2B5EF4-FFF2-40B4-BE49-F238E27FC236}">
                <a16:creationId xmlns:a16="http://schemas.microsoft.com/office/drawing/2014/main" id="{DBB97EB1-220C-F721-4EEC-F7B35107F0A7}"/>
              </a:ext>
            </a:extLst>
          </p:cNvPr>
          <p:cNvSpPr>
            <a:spLocks noGrp="1"/>
          </p:cNvSpPr>
          <p:nvPr>
            <p:ph idx="1"/>
          </p:nvPr>
        </p:nvSpPr>
        <p:spPr/>
        <p:txBody>
          <a:bodyPr>
            <a:normAutofit lnSpcReduction="10000"/>
          </a:bodyPr>
          <a:lstStyle/>
          <a:p>
            <a:pPr marL="0" indent="0">
              <a:buNone/>
            </a:pPr>
            <a:r>
              <a:rPr lang="en-US" sz="2400" dirty="0"/>
              <a:t>Monolith works well initially.</a:t>
            </a:r>
          </a:p>
          <a:p>
            <a:pPr marL="0" indent="0">
              <a:buNone/>
            </a:pPr>
            <a:r>
              <a:rPr lang="en-US" sz="2400" dirty="0"/>
              <a:t>But as application grows, problems start.</a:t>
            </a:r>
          </a:p>
          <a:p>
            <a:pPr marL="0" indent="0">
              <a:buNone/>
            </a:pPr>
            <a:r>
              <a:rPr lang="en-US" sz="2400" b="1" dirty="0"/>
              <a:t>Problem 1 – Hard to Scale</a:t>
            </a:r>
          </a:p>
          <a:p>
            <a:pPr lvl="2"/>
            <a:r>
              <a:rPr lang="en-US" sz="1600" dirty="0"/>
              <a:t>If only transaction module needs scaling, you must scale entire application.</a:t>
            </a:r>
          </a:p>
          <a:p>
            <a:pPr lvl="2"/>
            <a:r>
              <a:rPr lang="en-US" sz="1600" dirty="0"/>
              <a:t>Example:</a:t>
            </a:r>
            <a:br>
              <a:rPr lang="en-US" sz="1600" dirty="0"/>
            </a:br>
            <a:r>
              <a:rPr lang="en-US" sz="1600" dirty="0"/>
              <a:t>Transaction load increases → deploy 10 copies of full application</a:t>
            </a:r>
          </a:p>
          <a:p>
            <a:pPr lvl="2"/>
            <a:r>
              <a:rPr lang="en-US" sz="1600" dirty="0"/>
              <a:t>This wastes resources.</a:t>
            </a:r>
          </a:p>
          <a:p>
            <a:pPr marL="0" indent="0">
              <a:buNone/>
            </a:pPr>
            <a:r>
              <a:rPr lang="en-US" sz="2400" b="1" dirty="0"/>
              <a:t>Problem 2 – Hard to Maintain</a:t>
            </a:r>
          </a:p>
          <a:p>
            <a:pPr marL="0" indent="0">
              <a:buNone/>
            </a:pPr>
            <a:r>
              <a:rPr lang="en-US" sz="2400" dirty="0"/>
              <a:t>Code becomes huge.</a:t>
            </a:r>
          </a:p>
          <a:p>
            <a:pPr marL="0" indent="0">
              <a:buNone/>
            </a:pPr>
            <a:r>
              <a:rPr lang="en-US" sz="2400" dirty="0"/>
              <a:t>Example:</a:t>
            </a:r>
          </a:p>
          <a:p>
            <a:pPr lvl="2"/>
            <a:r>
              <a:rPr lang="en-US" sz="1600" dirty="0"/>
              <a:t>1 million lines of code</a:t>
            </a:r>
          </a:p>
          <a:p>
            <a:pPr lvl="2"/>
            <a:r>
              <a:rPr lang="en-US" sz="1600" dirty="0"/>
              <a:t>Hundreds of developers</a:t>
            </a:r>
          </a:p>
          <a:p>
            <a:pPr lvl="2"/>
            <a:r>
              <a:rPr lang="en-US" sz="1600" dirty="0"/>
              <a:t>Understanding and modifying code becomes difficult.</a:t>
            </a:r>
          </a:p>
          <a:p>
            <a:pPr marL="914400" lvl="2" indent="0">
              <a:buNone/>
            </a:pPr>
            <a:endParaRPr lang="en-US" sz="1600" dirty="0"/>
          </a:p>
          <a:p>
            <a:endParaRPr lang="en-IN" sz="2400" dirty="0"/>
          </a:p>
        </p:txBody>
      </p:sp>
    </p:spTree>
    <p:extLst>
      <p:ext uri="{BB962C8B-B14F-4D97-AF65-F5344CB8AC3E}">
        <p14:creationId xmlns:p14="http://schemas.microsoft.com/office/powerpoint/2010/main" val="810633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38EB1-85A9-EDF8-BF33-C9D4E68DD7A8}"/>
              </a:ext>
            </a:extLst>
          </p:cNvPr>
          <p:cNvSpPr>
            <a:spLocks noGrp="1"/>
          </p:cNvSpPr>
          <p:nvPr>
            <p:ph type="title"/>
          </p:nvPr>
        </p:nvSpPr>
        <p:spPr/>
        <p:txBody>
          <a:bodyPr/>
          <a:lstStyle/>
          <a:p>
            <a:r>
              <a:rPr lang="en-IN" dirty="0"/>
              <a:t>Problems with Monolith</a:t>
            </a:r>
          </a:p>
        </p:txBody>
      </p:sp>
      <p:sp>
        <p:nvSpPr>
          <p:cNvPr id="3" name="Content Placeholder 2">
            <a:extLst>
              <a:ext uri="{FF2B5EF4-FFF2-40B4-BE49-F238E27FC236}">
                <a16:creationId xmlns:a16="http://schemas.microsoft.com/office/drawing/2014/main" id="{BABD4400-28AF-EC42-38A0-70F88AEAFA9A}"/>
              </a:ext>
            </a:extLst>
          </p:cNvPr>
          <p:cNvSpPr>
            <a:spLocks noGrp="1"/>
          </p:cNvSpPr>
          <p:nvPr>
            <p:ph idx="1"/>
          </p:nvPr>
        </p:nvSpPr>
        <p:spPr/>
        <p:txBody>
          <a:bodyPr>
            <a:normAutofit/>
          </a:bodyPr>
          <a:lstStyle/>
          <a:p>
            <a:pPr marL="0" indent="0">
              <a:buNone/>
            </a:pPr>
            <a:r>
              <a:rPr lang="en-US" sz="2400" b="1" dirty="0"/>
              <a:t>Problem 3 – Single Point of Failure</a:t>
            </a:r>
          </a:p>
          <a:p>
            <a:pPr marL="0" indent="0">
              <a:buNone/>
            </a:pPr>
            <a:r>
              <a:rPr lang="en-US" sz="2400" dirty="0"/>
              <a:t>If one module crashes, entire application crashes.</a:t>
            </a:r>
          </a:p>
          <a:p>
            <a:pPr marL="0" indent="0">
              <a:buNone/>
            </a:pPr>
            <a:r>
              <a:rPr lang="en-US" sz="2400" dirty="0"/>
              <a:t>Example:</a:t>
            </a:r>
          </a:p>
          <a:p>
            <a:pPr lvl="2"/>
            <a:r>
              <a:rPr lang="en-US" dirty="0"/>
              <a:t>Transaction bug → whole banking app down</a:t>
            </a:r>
          </a:p>
          <a:p>
            <a:pPr marL="0" indent="0">
              <a:buNone/>
            </a:pPr>
            <a:r>
              <a:rPr lang="en-US" sz="2400" b="1" dirty="0"/>
              <a:t>Problem 4 – Slow Deployment</a:t>
            </a:r>
          </a:p>
          <a:p>
            <a:pPr marL="0" indent="0">
              <a:buNone/>
            </a:pPr>
            <a:r>
              <a:rPr lang="en-US" sz="2400" dirty="0"/>
              <a:t>Even a small change requires full deployment.</a:t>
            </a:r>
          </a:p>
          <a:p>
            <a:pPr marL="0" indent="0">
              <a:buNone/>
            </a:pPr>
            <a:r>
              <a:rPr lang="en-US" sz="2400" dirty="0"/>
              <a:t>Example:</a:t>
            </a:r>
          </a:p>
          <a:p>
            <a:pPr lvl="2"/>
            <a:r>
              <a:rPr lang="en-US" dirty="0"/>
              <a:t>Fix typo in notification → redeploy full system</a:t>
            </a:r>
          </a:p>
          <a:p>
            <a:pPr lvl="2"/>
            <a:r>
              <a:rPr lang="en-US" dirty="0"/>
              <a:t>This is inefficient.</a:t>
            </a:r>
          </a:p>
          <a:p>
            <a:endParaRPr lang="en-IN" sz="2400" dirty="0"/>
          </a:p>
        </p:txBody>
      </p:sp>
    </p:spTree>
    <p:extLst>
      <p:ext uri="{BB962C8B-B14F-4D97-AF65-F5344CB8AC3E}">
        <p14:creationId xmlns:p14="http://schemas.microsoft.com/office/powerpoint/2010/main" val="3665832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3AC10-35FF-60B9-7781-9CD7A9E7D44A}"/>
              </a:ext>
            </a:extLst>
          </p:cNvPr>
          <p:cNvSpPr>
            <a:spLocks noGrp="1"/>
          </p:cNvSpPr>
          <p:nvPr>
            <p:ph type="title"/>
          </p:nvPr>
        </p:nvSpPr>
        <p:spPr/>
        <p:txBody>
          <a:bodyPr/>
          <a:lstStyle/>
          <a:p>
            <a:r>
              <a:rPr lang="en-IN" dirty="0"/>
              <a:t>Question</a:t>
            </a:r>
          </a:p>
        </p:txBody>
      </p:sp>
      <p:sp>
        <p:nvSpPr>
          <p:cNvPr id="3" name="Content Placeholder 2">
            <a:extLst>
              <a:ext uri="{FF2B5EF4-FFF2-40B4-BE49-F238E27FC236}">
                <a16:creationId xmlns:a16="http://schemas.microsoft.com/office/drawing/2014/main" id="{4975911A-E387-62A7-0632-3C7C38BBB22A}"/>
              </a:ext>
            </a:extLst>
          </p:cNvPr>
          <p:cNvSpPr>
            <a:spLocks noGrp="1"/>
          </p:cNvSpPr>
          <p:nvPr>
            <p:ph idx="1"/>
          </p:nvPr>
        </p:nvSpPr>
        <p:spPr/>
        <p:txBody>
          <a:bodyPr/>
          <a:lstStyle/>
          <a:p>
            <a:r>
              <a:rPr lang="en-US" dirty="0"/>
              <a:t>What problems have you faced working on large applications?</a:t>
            </a:r>
            <a:endParaRPr lang="en-IN" dirty="0"/>
          </a:p>
        </p:txBody>
      </p:sp>
    </p:spTree>
    <p:extLst>
      <p:ext uri="{BB962C8B-B14F-4D97-AF65-F5344CB8AC3E}">
        <p14:creationId xmlns:p14="http://schemas.microsoft.com/office/powerpoint/2010/main" val="3243656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717CE-260F-1136-0225-9D09123D0688}"/>
              </a:ext>
            </a:extLst>
          </p:cNvPr>
          <p:cNvSpPr>
            <a:spLocks noGrp="1"/>
          </p:cNvSpPr>
          <p:nvPr>
            <p:ph type="title"/>
          </p:nvPr>
        </p:nvSpPr>
        <p:spPr/>
        <p:txBody>
          <a:bodyPr/>
          <a:lstStyle/>
          <a:p>
            <a:r>
              <a:rPr lang="en-IN" dirty="0"/>
              <a:t>Introduction to Microservices</a:t>
            </a:r>
          </a:p>
        </p:txBody>
      </p:sp>
      <p:sp>
        <p:nvSpPr>
          <p:cNvPr id="3" name="Content Placeholder 2">
            <a:extLst>
              <a:ext uri="{FF2B5EF4-FFF2-40B4-BE49-F238E27FC236}">
                <a16:creationId xmlns:a16="http://schemas.microsoft.com/office/drawing/2014/main" id="{4A420F64-76BA-235D-E2BB-5F3A9FB7E4D4}"/>
              </a:ext>
            </a:extLst>
          </p:cNvPr>
          <p:cNvSpPr>
            <a:spLocks noGrp="1"/>
          </p:cNvSpPr>
          <p:nvPr>
            <p:ph idx="1"/>
          </p:nvPr>
        </p:nvSpPr>
        <p:spPr/>
        <p:txBody>
          <a:bodyPr>
            <a:normAutofit/>
          </a:bodyPr>
          <a:lstStyle/>
          <a:p>
            <a:pPr marL="0" indent="0">
              <a:buNone/>
            </a:pPr>
            <a:r>
              <a:rPr lang="en-US" sz="2400" dirty="0"/>
              <a:t>Microservices solve these problems.</a:t>
            </a:r>
          </a:p>
          <a:p>
            <a:pPr marL="0" indent="0">
              <a:buNone/>
            </a:pPr>
            <a:r>
              <a:rPr lang="en-US" sz="2400" dirty="0"/>
              <a:t>Instead of one big application, we break it into small services.</a:t>
            </a:r>
          </a:p>
          <a:p>
            <a:pPr marL="0" indent="0">
              <a:buNone/>
            </a:pPr>
            <a:r>
              <a:rPr lang="en-US" sz="2400" dirty="0"/>
              <a:t>Each service handles one business function.</a:t>
            </a:r>
          </a:p>
          <a:p>
            <a:pPr marL="0" indent="0">
              <a:buNone/>
            </a:pPr>
            <a:r>
              <a:rPr lang="en-US" sz="2400" dirty="0"/>
              <a:t>Example:</a:t>
            </a:r>
          </a:p>
          <a:p>
            <a:pPr marL="0" indent="0">
              <a:buNone/>
            </a:pPr>
            <a:r>
              <a:rPr lang="en-US" sz="2400" dirty="0"/>
              <a:t>Banking application split into:</a:t>
            </a:r>
          </a:p>
          <a:p>
            <a:pPr lvl="2"/>
            <a:r>
              <a:rPr lang="en-US" dirty="0"/>
              <a:t>Auth Service</a:t>
            </a:r>
          </a:p>
          <a:p>
            <a:pPr lvl="2"/>
            <a:r>
              <a:rPr lang="en-US" dirty="0"/>
              <a:t>Customer Service</a:t>
            </a:r>
          </a:p>
          <a:p>
            <a:pPr lvl="2"/>
            <a:r>
              <a:rPr lang="en-US" dirty="0"/>
              <a:t>Account Service</a:t>
            </a:r>
          </a:p>
          <a:p>
            <a:pPr lvl="2"/>
            <a:r>
              <a:rPr lang="en-US" dirty="0"/>
              <a:t>Transaction Service</a:t>
            </a:r>
          </a:p>
          <a:p>
            <a:pPr marL="0" indent="0">
              <a:buNone/>
            </a:pPr>
            <a:r>
              <a:rPr lang="en-US" sz="2400" dirty="0"/>
              <a:t>Each service is independent.</a:t>
            </a:r>
          </a:p>
          <a:p>
            <a:endParaRPr lang="en-IN" sz="2400" dirty="0"/>
          </a:p>
        </p:txBody>
      </p:sp>
    </p:spTree>
    <p:extLst>
      <p:ext uri="{BB962C8B-B14F-4D97-AF65-F5344CB8AC3E}">
        <p14:creationId xmlns:p14="http://schemas.microsoft.com/office/powerpoint/2010/main" val="2084501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Microservices Architecture</a:t>
            </a:r>
          </a:p>
        </p:txBody>
      </p:sp>
      <p:sp>
        <p:nvSpPr>
          <p:cNvPr id="3" name="Content Placeholder 2"/>
          <p:cNvSpPr>
            <a:spLocks noGrp="1"/>
          </p:cNvSpPr>
          <p:nvPr>
            <p:ph idx="1"/>
          </p:nvPr>
        </p:nvSpPr>
        <p:spPr/>
        <p:txBody>
          <a:bodyPr/>
          <a:lstStyle/>
          <a:p>
            <a:r>
              <a:t>Application split into small services</a:t>
            </a:r>
          </a:p>
          <a:p>
            <a:r>
              <a:t>Each service independently deployable</a:t>
            </a:r>
          </a:p>
          <a:p>
            <a:r>
              <a:t>Independent database per service</a:t>
            </a:r>
          </a:p>
          <a:p>
            <a:r>
              <a:t>Improved scalability</a:t>
            </a:r>
          </a:p>
          <a:p>
            <a:r>
              <a:t>Fault isolation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37A67-624E-F661-BF04-4D988745A717}"/>
              </a:ext>
            </a:extLst>
          </p:cNvPr>
          <p:cNvSpPr>
            <a:spLocks noGrp="1"/>
          </p:cNvSpPr>
          <p:nvPr>
            <p:ph type="title"/>
          </p:nvPr>
        </p:nvSpPr>
        <p:spPr/>
        <p:txBody>
          <a:bodyPr/>
          <a:lstStyle/>
          <a:p>
            <a:r>
              <a:rPr lang="en-IN" dirty="0"/>
              <a:t>Microservices Architecture</a:t>
            </a:r>
          </a:p>
        </p:txBody>
      </p:sp>
      <p:pic>
        <p:nvPicPr>
          <p:cNvPr id="2050" name="Picture 2" descr="The API gateway pattern versus the direct client-to-microservice  communication - .NET | Microsoft Learn">
            <a:extLst>
              <a:ext uri="{FF2B5EF4-FFF2-40B4-BE49-F238E27FC236}">
                <a16:creationId xmlns:a16="http://schemas.microsoft.com/office/drawing/2014/main" id="{ADE476D6-A8D9-F9BA-3527-1DDCB2C18C3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44955" y="1600200"/>
            <a:ext cx="7054089"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9608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56D29-D851-4DE5-4BDA-16B3F7F3508F}"/>
              </a:ext>
            </a:extLst>
          </p:cNvPr>
          <p:cNvSpPr>
            <a:spLocks noGrp="1"/>
          </p:cNvSpPr>
          <p:nvPr>
            <p:ph type="title"/>
          </p:nvPr>
        </p:nvSpPr>
        <p:spPr/>
        <p:txBody>
          <a:bodyPr/>
          <a:lstStyle/>
          <a:p>
            <a:r>
              <a:rPr lang="en-IN" dirty="0"/>
              <a:t>Advantages of Microservices</a:t>
            </a:r>
          </a:p>
        </p:txBody>
      </p:sp>
      <p:sp>
        <p:nvSpPr>
          <p:cNvPr id="3" name="Content Placeholder 2">
            <a:extLst>
              <a:ext uri="{FF2B5EF4-FFF2-40B4-BE49-F238E27FC236}">
                <a16:creationId xmlns:a16="http://schemas.microsoft.com/office/drawing/2014/main" id="{F06D25C2-AD1D-C593-006C-547AB7BFCCCB}"/>
              </a:ext>
            </a:extLst>
          </p:cNvPr>
          <p:cNvSpPr>
            <a:spLocks noGrp="1"/>
          </p:cNvSpPr>
          <p:nvPr>
            <p:ph idx="1"/>
          </p:nvPr>
        </p:nvSpPr>
        <p:spPr/>
        <p:txBody>
          <a:bodyPr>
            <a:normAutofit fontScale="92500" lnSpcReduction="20000"/>
          </a:bodyPr>
          <a:lstStyle/>
          <a:p>
            <a:r>
              <a:rPr lang="en-US" b="1" dirty="0"/>
              <a:t>Independent Deployment</a:t>
            </a:r>
          </a:p>
          <a:p>
            <a:pPr lvl="2"/>
            <a:r>
              <a:rPr lang="en-US" dirty="0"/>
              <a:t>We can deploy Customer Service without touching Transaction Service.</a:t>
            </a:r>
          </a:p>
          <a:p>
            <a:r>
              <a:rPr lang="en-US" b="1" dirty="0"/>
              <a:t>Independent Scaling</a:t>
            </a:r>
          </a:p>
          <a:p>
            <a:pPr lvl="2"/>
            <a:r>
              <a:rPr lang="en-US" dirty="0"/>
              <a:t>If transaction load increases, scale only Transaction Service.</a:t>
            </a:r>
          </a:p>
          <a:p>
            <a:r>
              <a:rPr lang="en-US" b="1" dirty="0"/>
              <a:t>Fault Isolation</a:t>
            </a:r>
          </a:p>
          <a:p>
            <a:pPr lvl="2"/>
            <a:r>
              <a:rPr lang="en-US" dirty="0"/>
              <a:t>If Notification Service crashes, Banking still works.</a:t>
            </a:r>
          </a:p>
          <a:p>
            <a:r>
              <a:rPr lang="en-US" b="1" dirty="0"/>
              <a:t>Technology Flexibility</a:t>
            </a:r>
          </a:p>
          <a:p>
            <a:pPr lvl="2"/>
            <a:r>
              <a:rPr lang="en-US" dirty="0"/>
              <a:t>One service can use:</a:t>
            </a:r>
          </a:p>
          <a:p>
            <a:pPr lvl="3">
              <a:buFont typeface="Arial" panose="020B0604020202020204" pitchFamily="34" charset="0"/>
              <a:buChar char="•"/>
            </a:pPr>
            <a:r>
              <a:rPr lang="en-US" dirty="0"/>
              <a:t>Java</a:t>
            </a:r>
          </a:p>
          <a:p>
            <a:pPr lvl="3">
              <a:buFont typeface="Arial" panose="020B0604020202020204" pitchFamily="34" charset="0"/>
              <a:buChar char="•"/>
            </a:pPr>
            <a:r>
              <a:rPr lang="en-US" dirty="0"/>
              <a:t>Another can use Python</a:t>
            </a:r>
          </a:p>
          <a:p>
            <a:pPr lvl="3">
              <a:buFont typeface="Arial" panose="020B0604020202020204" pitchFamily="34" charset="0"/>
              <a:buChar char="•"/>
            </a:pPr>
            <a:r>
              <a:rPr lang="en-US" dirty="0"/>
              <a:t>Another can use NodeJS</a:t>
            </a:r>
          </a:p>
          <a:p>
            <a:pPr marL="914400" lvl="2" indent="0">
              <a:buNone/>
            </a:pPr>
            <a:endParaRPr lang="en-US" dirty="0"/>
          </a:p>
          <a:p>
            <a:pPr marL="914400" lvl="2" indent="0">
              <a:buNone/>
            </a:pPr>
            <a:endParaRPr lang="en-US" dirty="0"/>
          </a:p>
          <a:p>
            <a:endParaRPr lang="en-IN" dirty="0"/>
          </a:p>
        </p:txBody>
      </p:sp>
    </p:spTree>
    <p:extLst>
      <p:ext uri="{BB962C8B-B14F-4D97-AF65-F5344CB8AC3E}">
        <p14:creationId xmlns:p14="http://schemas.microsoft.com/office/powerpoint/2010/main" val="3469203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Microservices Principles</a:t>
            </a:r>
          </a:p>
        </p:txBody>
      </p:sp>
      <p:sp>
        <p:nvSpPr>
          <p:cNvPr id="3" name="Content Placeholder 2"/>
          <p:cNvSpPr>
            <a:spLocks noGrp="1"/>
          </p:cNvSpPr>
          <p:nvPr>
            <p:ph idx="1"/>
          </p:nvPr>
        </p:nvSpPr>
        <p:spPr/>
        <p:txBody>
          <a:bodyPr>
            <a:normAutofit fontScale="92500" lnSpcReduction="20000"/>
          </a:bodyPr>
          <a:lstStyle/>
          <a:p>
            <a:r>
              <a:rPr dirty="0"/>
              <a:t>Single Responsibility Principle</a:t>
            </a:r>
            <a:endParaRPr lang="en-IN" dirty="0"/>
          </a:p>
          <a:p>
            <a:pPr lvl="2"/>
            <a:r>
              <a:rPr lang="en-US" dirty="0"/>
              <a:t>Each service does one job.</a:t>
            </a:r>
          </a:p>
          <a:p>
            <a:pPr lvl="3">
              <a:buFont typeface="Arial" panose="020B0604020202020204" pitchFamily="34" charset="0"/>
              <a:buChar char="•"/>
            </a:pPr>
            <a:r>
              <a:rPr lang="en-US" dirty="0"/>
              <a:t>Example:</a:t>
            </a:r>
            <a:br>
              <a:rPr lang="en-US" dirty="0"/>
            </a:br>
            <a:r>
              <a:rPr lang="en-US" dirty="0"/>
              <a:t>Customer Service → manages customers only.</a:t>
            </a:r>
          </a:p>
          <a:p>
            <a:r>
              <a:rPr dirty="0"/>
              <a:t>Loose coupling</a:t>
            </a:r>
            <a:endParaRPr lang="en-IN" dirty="0"/>
          </a:p>
          <a:p>
            <a:pPr lvl="2"/>
            <a:r>
              <a:rPr lang="en-US" dirty="0"/>
              <a:t>Services should not depend tightly on each other.</a:t>
            </a:r>
            <a:endParaRPr dirty="0"/>
          </a:p>
          <a:p>
            <a:r>
              <a:rPr dirty="0"/>
              <a:t>High cohesion</a:t>
            </a:r>
            <a:endParaRPr lang="en-IN" dirty="0"/>
          </a:p>
          <a:p>
            <a:pPr lvl="2"/>
            <a:r>
              <a:rPr lang="en-US" dirty="0"/>
              <a:t>All related functionality stays inside same service.</a:t>
            </a:r>
            <a:endParaRPr dirty="0"/>
          </a:p>
          <a:p>
            <a:r>
              <a:rPr dirty="0"/>
              <a:t>Independent deployment</a:t>
            </a:r>
            <a:endParaRPr lang="en-IN" dirty="0"/>
          </a:p>
          <a:p>
            <a:pPr lvl="2"/>
            <a:r>
              <a:rPr lang="en-IN" dirty="0"/>
              <a:t>Each service deploys independently.</a:t>
            </a:r>
            <a:endParaRPr dirty="0"/>
          </a:p>
          <a:p>
            <a:r>
              <a:rPr dirty="0"/>
              <a:t>Domain driven design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CBB2F-CA36-60D3-BCA7-6F716B089C23}"/>
              </a:ext>
            </a:extLst>
          </p:cNvPr>
          <p:cNvSpPr>
            <a:spLocks noGrp="1"/>
          </p:cNvSpPr>
          <p:nvPr>
            <p:ph type="title"/>
          </p:nvPr>
        </p:nvSpPr>
        <p:spPr/>
        <p:txBody>
          <a:bodyPr>
            <a:normAutofit fontScale="90000"/>
          </a:bodyPr>
          <a:lstStyle/>
          <a:p>
            <a:r>
              <a:rPr lang="en-IN" dirty="0"/>
              <a:t>Example Monolithic Vs Microservices</a:t>
            </a:r>
          </a:p>
        </p:txBody>
      </p:sp>
      <p:sp>
        <p:nvSpPr>
          <p:cNvPr id="3" name="Content Placeholder 2">
            <a:extLst>
              <a:ext uri="{FF2B5EF4-FFF2-40B4-BE49-F238E27FC236}">
                <a16:creationId xmlns:a16="http://schemas.microsoft.com/office/drawing/2014/main" id="{BF684B7C-42E5-8CC3-9593-38297AFDB0A3}"/>
              </a:ext>
            </a:extLst>
          </p:cNvPr>
          <p:cNvSpPr>
            <a:spLocks noGrp="1"/>
          </p:cNvSpPr>
          <p:nvPr>
            <p:ph idx="1"/>
          </p:nvPr>
        </p:nvSpPr>
        <p:spPr/>
        <p:txBody>
          <a:bodyPr/>
          <a:lstStyle/>
          <a:p>
            <a:pPr marL="0" indent="0">
              <a:buNone/>
            </a:pPr>
            <a:r>
              <a:rPr lang="en-US" dirty="0"/>
              <a:t>We will now analyze a Monolithic Banking Application.</a:t>
            </a:r>
          </a:p>
          <a:p>
            <a:pPr marL="0" indent="0">
              <a:buNone/>
            </a:pPr>
            <a:r>
              <a:rPr lang="en-US" dirty="0"/>
              <a:t>Modules:</a:t>
            </a:r>
          </a:p>
          <a:p>
            <a:pPr lvl="2"/>
            <a:r>
              <a:rPr lang="en-US" dirty="0"/>
              <a:t>Auth</a:t>
            </a:r>
          </a:p>
          <a:p>
            <a:pPr lvl="2"/>
            <a:r>
              <a:rPr lang="en-US" dirty="0"/>
              <a:t>Customer</a:t>
            </a:r>
          </a:p>
          <a:p>
            <a:pPr lvl="2"/>
            <a:r>
              <a:rPr lang="en-US" dirty="0"/>
              <a:t>Account</a:t>
            </a:r>
          </a:p>
          <a:p>
            <a:pPr lvl="2"/>
            <a:r>
              <a:rPr lang="en-US" dirty="0"/>
              <a:t>Transaction</a:t>
            </a:r>
          </a:p>
          <a:p>
            <a:pPr marL="0" indent="0">
              <a:buNone/>
            </a:pPr>
            <a:r>
              <a:rPr lang="en-US" dirty="0"/>
              <a:t>Which module can become microservice?</a:t>
            </a:r>
            <a:endParaRPr lang="en-IN" dirty="0"/>
          </a:p>
        </p:txBody>
      </p:sp>
    </p:spTree>
    <p:extLst>
      <p:ext uri="{BB962C8B-B14F-4D97-AF65-F5344CB8AC3E}">
        <p14:creationId xmlns:p14="http://schemas.microsoft.com/office/powerpoint/2010/main" val="3430627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2214B-5CB7-0BB2-34FE-091D13422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FB51DE-8927-DEC6-28C9-2AAB0981D0ED}"/>
              </a:ext>
            </a:extLst>
          </p:cNvPr>
          <p:cNvSpPr>
            <a:spLocks noGrp="1"/>
          </p:cNvSpPr>
          <p:nvPr>
            <p:ph type="title"/>
          </p:nvPr>
        </p:nvSpPr>
        <p:spPr/>
        <p:txBody>
          <a:bodyPr>
            <a:normAutofit fontScale="90000"/>
          </a:bodyPr>
          <a:lstStyle/>
          <a:p>
            <a:r>
              <a:rPr lang="en-IN" dirty="0"/>
              <a:t>Example Monolithic Vs Microservices</a:t>
            </a:r>
          </a:p>
        </p:txBody>
      </p:sp>
      <p:sp>
        <p:nvSpPr>
          <p:cNvPr id="3" name="Content Placeholder 2">
            <a:extLst>
              <a:ext uri="{FF2B5EF4-FFF2-40B4-BE49-F238E27FC236}">
                <a16:creationId xmlns:a16="http://schemas.microsoft.com/office/drawing/2014/main" id="{7A9BB9B8-DE98-A315-7CA3-8CFBC7330E63}"/>
              </a:ext>
            </a:extLst>
          </p:cNvPr>
          <p:cNvSpPr>
            <a:spLocks noGrp="1"/>
          </p:cNvSpPr>
          <p:nvPr>
            <p:ph idx="1"/>
          </p:nvPr>
        </p:nvSpPr>
        <p:spPr/>
        <p:txBody>
          <a:bodyPr/>
          <a:lstStyle/>
          <a:p>
            <a:pPr marL="0" indent="0">
              <a:buNone/>
            </a:pPr>
            <a:r>
              <a:rPr lang="en-US" dirty="0"/>
              <a:t>We will now analyze a Monolithic Banking Application.</a:t>
            </a:r>
          </a:p>
          <a:p>
            <a:pPr marL="0" indent="0">
              <a:buNone/>
            </a:pPr>
            <a:r>
              <a:rPr lang="en-US" dirty="0"/>
              <a:t>Modules:</a:t>
            </a:r>
          </a:p>
          <a:p>
            <a:pPr lvl="2"/>
            <a:r>
              <a:rPr lang="en-US" dirty="0"/>
              <a:t>Auth</a:t>
            </a:r>
          </a:p>
          <a:p>
            <a:pPr lvl="2"/>
            <a:r>
              <a:rPr lang="en-US" dirty="0"/>
              <a:t>Customer</a:t>
            </a:r>
          </a:p>
          <a:p>
            <a:pPr lvl="2"/>
            <a:r>
              <a:rPr lang="en-US" dirty="0"/>
              <a:t>Account</a:t>
            </a:r>
          </a:p>
          <a:p>
            <a:pPr lvl="2"/>
            <a:r>
              <a:rPr lang="en-US" dirty="0"/>
              <a:t>Transaction</a:t>
            </a:r>
          </a:p>
          <a:p>
            <a:pPr marL="0" indent="0">
              <a:buNone/>
            </a:pPr>
            <a:r>
              <a:rPr lang="en-US" dirty="0"/>
              <a:t>Which module can become microservice?</a:t>
            </a:r>
            <a:endParaRPr lang="en-IN" dirty="0"/>
          </a:p>
        </p:txBody>
      </p:sp>
    </p:spTree>
    <p:extLst>
      <p:ext uri="{BB962C8B-B14F-4D97-AF65-F5344CB8AC3E}">
        <p14:creationId xmlns:p14="http://schemas.microsoft.com/office/powerpoint/2010/main" val="3230681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5DBF6-E3C0-B892-1689-4DB0A5EC9994}"/>
              </a:ext>
            </a:extLst>
          </p:cNvPr>
          <p:cNvSpPr>
            <a:spLocks noGrp="1"/>
          </p:cNvSpPr>
          <p:nvPr>
            <p:ph type="title"/>
          </p:nvPr>
        </p:nvSpPr>
        <p:spPr/>
        <p:txBody>
          <a:bodyPr/>
          <a:lstStyle/>
          <a:p>
            <a:r>
              <a:rPr lang="en-IN" dirty="0"/>
              <a:t>Answer</a:t>
            </a:r>
          </a:p>
        </p:txBody>
      </p:sp>
      <p:sp>
        <p:nvSpPr>
          <p:cNvPr id="3" name="Content Placeholder 2">
            <a:extLst>
              <a:ext uri="{FF2B5EF4-FFF2-40B4-BE49-F238E27FC236}">
                <a16:creationId xmlns:a16="http://schemas.microsoft.com/office/drawing/2014/main" id="{3AED0F1F-D776-AD95-636C-09C7CF7A8C1C}"/>
              </a:ext>
            </a:extLst>
          </p:cNvPr>
          <p:cNvSpPr>
            <a:spLocks noGrp="1"/>
          </p:cNvSpPr>
          <p:nvPr>
            <p:ph idx="1"/>
          </p:nvPr>
        </p:nvSpPr>
        <p:spPr/>
        <p:txBody>
          <a:bodyPr/>
          <a:lstStyle/>
          <a:p>
            <a:r>
              <a:rPr lang="en-US" dirty="0"/>
              <a:t>Auth Service</a:t>
            </a:r>
          </a:p>
          <a:p>
            <a:r>
              <a:rPr lang="en-US" dirty="0"/>
              <a:t>Customer Service</a:t>
            </a:r>
          </a:p>
          <a:p>
            <a:r>
              <a:rPr lang="en-US" dirty="0"/>
              <a:t>Account Service</a:t>
            </a:r>
          </a:p>
          <a:p>
            <a:r>
              <a:rPr lang="en-US" dirty="0"/>
              <a:t>Transaction Service</a:t>
            </a:r>
            <a:endParaRPr lang="en-IN" dirty="0"/>
          </a:p>
        </p:txBody>
      </p:sp>
    </p:spTree>
    <p:extLst>
      <p:ext uri="{BB962C8B-B14F-4D97-AF65-F5344CB8AC3E}">
        <p14:creationId xmlns:p14="http://schemas.microsoft.com/office/powerpoint/2010/main" val="2452342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DA4B6-DA5B-1A9A-8D44-DCE92A999B24}"/>
              </a:ext>
            </a:extLst>
          </p:cNvPr>
          <p:cNvSpPr>
            <a:spLocks noGrp="1"/>
          </p:cNvSpPr>
          <p:nvPr>
            <p:ph type="title"/>
          </p:nvPr>
        </p:nvSpPr>
        <p:spPr/>
        <p:txBody>
          <a:bodyPr>
            <a:normAutofit fontScale="90000"/>
          </a:bodyPr>
          <a:lstStyle/>
          <a:p>
            <a:r>
              <a:rPr lang="en-IN" dirty="0"/>
              <a:t>Microservices Architecture Patterns</a:t>
            </a:r>
          </a:p>
        </p:txBody>
      </p:sp>
      <p:sp>
        <p:nvSpPr>
          <p:cNvPr id="3" name="Content Placeholder 2">
            <a:extLst>
              <a:ext uri="{FF2B5EF4-FFF2-40B4-BE49-F238E27FC236}">
                <a16:creationId xmlns:a16="http://schemas.microsoft.com/office/drawing/2014/main" id="{ECF78E0A-8B2B-FFD7-F16E-2B10822ECF8A}"/>
              </a:ext>
            </a:extLst>
          </p:cNvPr>
          <p:cNvSpPr>
            <a:spLocks noGrp="1"/>
          </p:cNvSpPr>
          <p:nvPr>
            <p:ph idx="1"/>
          </p:nvPr>
        </p:nvSpPr>
        <p:spPr/>
        <p:txBody>
          <a:bodyPr>
            <a:normAutofit lnSpcReduction="10000"/>
          </a:bodyPr>
          <a:lstStyle/>
          <a:p>
            <a:r>
              <a:rPr lang="en-US" dirty="0"/>
              <a:t>Microservices require specific patterns to work efficiently.</a:t>
            </a:r>
          </a:p>
          <a:p>
            <a:pPr marL="0" indent="0">
              <a:buNone/>
            </a:pPr>
            <a:r>
              <a:rPr lang="en-US" b="1" dirty="0"/>
              <a:t>Pattern 1 – Database per Service</a:t>
            </a:r>
          </a:p>
          <a:p>
            <a:pPr marL="0" indent="0">
              <a:buNone/>
            </a:pPr>
            <a:r>
              <a:rPr lang="en-US" dirty="0"/>
              <a:t>	Each service has its own database.</a:t>
            </a:r>
          </a:p>
          <a:p>
            <a:pPr lvl="2"/>
            <a:r>
              <a:rPr lang="en-US" dirty="0"/>
              <a:t>Why?</a:t>
            </a:r>
          </a:p>
          <a:p>
            <a:pPr lvl="3">
              <a:buFont typeface="Arial" panose="020B0604020202020204" pitchFamily="34" charset="0"/>
              <a:buChar char="•"/>
            </a:pPr>
            <a:r>
              <a:rPr lang="en-US" dirty="0"/>
              <a:t>To avoid coupling.</a:t>
            </a:r>
          </a:p>
          <a:p>
            <a:pPr marL="0" indent="0">
              <a:buNone/>
            </a:pPr>
            <a:r>
              <a:rPr lang="en-US" b="1" dirty="0"/>
              <a:t>Pattern 2 – API Gateway</a:t>
            </a:r>
          </a:p>
          <a:p>
            <a:pPr marL="0" indent="0">
              <a:buNone/>
            </a:pPr>
            <a:r>
              <a:rPr lang="en-US" dirty="0"/>
              <a:t>	Single entry point.</a:t>
            </a:r>
          </a:p>
          <a:p>
            <a:pPr lvl="2"/>
            <a:r>
              <a:rPr lang="en-US" dirty="0"/>
              <a:t>Client → API Gateway → Microservice</a:t>
            </a:r>
          </a:p>
          <a:p>
            <a:pPr marL="0" indent="0">
              <a:buNone/>
            </a:pPr>
            <a:endParaRPr lang="en-IN" dirty="0"/>
          </a:p>
        </p:txBody>
      </p:sp>
    </p:spTree>
    <p:extLst>
      <p:ext uri="{BB962C8B-B14F-4D97-AF65-F5344CB8AC3E}">
        <p14:creationId xmlns:p14="http://schemas.microsoft.com/office/powerpoint/2010/main" val="692182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565F6-A25C-535C-B890-0616D92C7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CB2435-E4F0-A633-667E-A90014DC885D}"/>
              </a:ext>
            </a:extLst>
          </p:cNvPr>
          <p:cNvSpPr>
            <a:spLocks noGrp="1"/>
          </p:cNvSpPr>
          <p:nvPr>
            <p:ph type="title"/>
          </p:nvPr>
        </p:nvSpPr>
        <p:spPr/>
        <p:txBody>
          <a:bodyPr>
            <a:normAutofit fontScale="90000"/>
          </a:bodyPr>
          <a:lstStyle/>
          <a:p>
            <a:r>
              <a:rPr lang="en-IN" dirty="0"/>
              <a:t>Microservices Architecture Patterns</a:t>
            </a:r>
          </a:p>
        </p:txBody>
      </p:sp>
      <p:sp>
        <p:nvSpPr>
          <p:cNvPr id="3" name="Content Placeholder 2">
            <a:extLst>
              <a:ext uri="{FF2B5EF4-FFF2-40B4-BE49-F238E27FC236}">
                <a16:creationId xmlns:a16="http://schemas.microsoft.com/office/drawing/2014/main" id="{0E01A7A1-16B8-770C-1CEE-D0D46206EA04}"/>
              </a:ext>
            </a:extLst>
          </p:cNvPr>
          <p:cNvSpPr>
            <a:spLocks noGrp="1"/>
          </p:cNvSpPr>
          <p:nvPr>
            <p:ph idx="1"/>
          </p:nvPr>
        </p:nvSpPr>
        <p:spPr/>
        <p:txBody>
          <a:bodyPr>
            <a:normAutofit fontScale="92500" lnSpcReduction="20000"/>
          </a:bodyPr>
          <a:lstStyle/>
          <a:p>
            <a:pPr marL="0" indent="0">
              <a:buNone/>
            </a:pPr>
            <a:r>
              <a:rPr lang="en-US" sz="2400" b="1" dirty="0"/>
              <a:t>Pattern 3 – Service Discovery</a:t>
            </a:r>
          </a:p>
          <a:p>
            <a:pPr lvl="2"/>
            <a:r>
              <a:rPr lang="en-US" dirty="0"/>
              <a:t>Services find each other dynamically.</a:t>
            </a:r>
          </a:p>
          <a:p>
            <a:pPr marL="0" indent="0">
              <a:buNone/>
            </a:pPr>
            <a:r>
              <a:rPr lang="en-US" sz="2400" b="1" dirty="0"/>
              <a:t>Pattern 4 – Circuit Breaker</a:t>
            </a:r>
          </a:p>
          <a:p>
            <a:pPr lvl="2"/>
            <a:r>
              <a:rPr lang="en-US" dirty="0"/>
              <a:t>Prevents cascading failures.</a:t>
            </a:r>
          </a:p>
          <a:p>
            <a:pPr marL="0" indent="0">
              <a:buNone/>
            </a:pPr>
            <a:r>
              <a:rPr lang="en-IN" sz="2400" b="1" dirty="0"/>
              <a:t>Pattern 5 – Saga Pattern</a:t>
            </a:r>
          </a:p>
          <a:p>
            <a:pPr lvl="2"/>
            <a:r>
              <a:rPr lang="en-IN" dirty="0"/>
              <a:t>Manages distributed transactions.</a:t>
            </a:r>
          </a:p>
          <a:p>
            <a:pPr marL="0" indent="0">
              <a:buNone/>
            </a:pPr>
            <a:r>
              <a:rPr lang="en-US" sz="2400" b="1" dirty="0"/>
              <a:t>Pattern 6 – Event Driven Architecture</a:t>
            </a:r>
          </a:p>
          <a:p>
            <a:pPr lvl="2"/>
            <a:r>
              <a:rPr lang="en-US" dirty="0"/>
              <a:t>Services communicate using events.</a:t>
            </a:r>
          </a:p>
          <a:p>
            <a:pPr marL="0" indent="0">
              <a:buNone/>
            </a:pPr>
            <a:r>
              <a:rPr lang="en-US" sz="2400" b="1" dirty="0"/>
              <a:t>Pattern 7 – CQRS Pattern</a:t>
            </a:r>
          </a:p>
          <a:p>
            <a:pPr lvl="2"/>
            <a:r>
              <a:rPr lang="en-US" sz="2600" dirty="0"/>
              <a:t>Separate read and write operations.</a:t>
            </a:r>
          </a:p>
          <a:p>
            <a:pPr marL="0" indent="0">
              <a:buNone/>
            </a:pPr>
            <a:r>
              <a:rPr lang="en-IN" sz="2600" b="1" dirty="0"/>
              <a:t>Pattern 8 – Strangler Pattern</a:t>
            </a:r>
          </a:p>
          <a:p>
            <a:pPr lvl="2"/>
            <a:r>
              <a:rPr lang="en-IN" sz="2600" dirty="0"/>
              <a:t>Gradually migrate monolith → microservices.</a:t>
            </a:r>
          </a:p>
          <a:p>
            <a:pPr marL="914400" lvl="2" indent="0">
              <a:buNone/>
            </a:pPr>
            <a:endParaRPr lang="en-US" dirty="0"/>
          </a:p>
          <a:p>
            <a:endParaRPr lang="en-US" sz="2400" dirty="0"/>
          </a:p>
          <a:p>
            <a:pPr marL="0" indent="0">
              <a:buNone/>
            </a:pPr>
            <a:endParaRPr lang="en-IN" sz="2400" dirty="0"/>
          </a:p>
        </p:txBody>
      </p:sp>
    </p:spTree>
    <p:extLst>
      <p:ext uri="{BB962C8B-B14F-4D97-AF65-F5344CB8AC3E}">
        <p14:creationId xmlns:p14="http://schemas.microsoft.com/office/powerpoint/2010/main" val="3876903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50F91-5911-82D0-2D08-3DE7FB3F9818}"/>
              </a:ext>
            </a:extLst>
          </p:cNvPr>
          <p:cNvSpPr>
            <a:spLocks noGrp="1"/>
          </p:cNvSpPr>
          <p:nvPr>
            <p:ph type="title"/>
          </p:nvPr>
        </p:nvSpPr>
        <p:spPr/>
        <p:txBody>
          <a:bodyPr/>
          <a:lstStyle/>
          <a:p>
            <a:r>
              <a:rPr lang="en-IN" dirty="0"/>
              <a:t>Exercise</a:t>
            </a:r>
          </a:p>
        </p:txBody>
      </p:sp>
      <p:sp>
        <p:nvSpPr>
          <p:cNvPr id="3" name="Content Placeholder 2">
            <a:extLst>
              <a:ext uri="{FF2B5EF4-FFF2-40B4-BE49-F238E27FC236}">
                <a16:creationId xmlns:a16="http://schemas.microsoft.com/office/drawing/2014/main" id="{5EF42507-5DB5-D7E1-E1CB-ED2E35889CCB}"/>
              </a:ext>
            </a:extLst>
          </p:cNvPr>
          <p:cNvSpPr>
            <a:spLocks noGrp="1"/>
          </p:cNvSpPr>
          <p:nvPr>
            <p:ph idx="1"/>
          </p:nvPr>
        </p:nvSpPr>
        <p:spPr/>
        <p:txBody>
          <a:bodyPr/>
          <a:lstStyle/>
          <a:p>
            <a:pPr marL="0" indent="0">
              <a:buNone/>
            </a:pPr>
            <a:r>
              <a:rPr lang="en-US" dirty="0"/>
              <a:t>Open draw.io.</a:t>
            </a:r>
          </a:p>
          <a:p>
            <a:pPr marL="0" indent="0">
              <a:buNone/>
            </a:pPr>
            <a:r>
              <a:rPr lang="en-US" dirty="0"/>
              <a:t>Create architecture with:</a:t>
            </a:r>
          </a:p>
          <a:p>
            <a:pPr lvl="2"/>
            <a:r>
              <a:rPr lang="en-US" dirty="0"/>
              <a:t>API Gateway</a:t>
            </a:r>
          </a:p>
          <a:p>
            <a:pPr lvl="2"/>
            <a:r>
              <a:rPr lang="en-US" dirty="0"/>
              <a:t>Customer Service</a:t>
            </a:r>
          </a:p>
          <a:p>
            <a:pPr lvl="2"/>
            <a:r>
              <a:rPr lang="en-US" dirty="0"/>
              <a:t>Account Service</a:t>
            </a:r>
          </a:p>
          <a:p>
            <a:pPr lvl="2"/>
            <a:r>
              <a:rPr lang="en-US" dirty="0"/>
              <a:t>Database per service</a:t>
            </a:r>
          </a:p>
          <a:p>
            <a:endParaRPr lang="en-IN" dirty="0"/>
          </a:p>
        </p:txBody>
      </p:sp>
    </p:spTree>
    <p:extLst>
      <p:ext uri="{BB962C8B-B14F-4D97-AF65-F5344CB8AC3E}">
        <p14:creationId xmlns:p14="http://schemas.microsoft.com/office/powerpoint/2010/main" val="1985721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8EA7A-8BB5-6A04-9004-491E6BF941BF}"/>
              </a:ext>
            </a:extLst>
          </p:cNvPr>
          <p:cNvSpPr>
            <a:spLocks noGrp="1"/>
          </p:cNvSpPr>
          <p:nvPr>
            <p:ph type="title"/>
          </p:nvPr>
        </p:nvSpPr>
        <p:spPr/>
        <p:txBody>
          <a:bodyPr/>
          <a:lstStyle/>
          <a:p>
            <a:r>
              <a:rPr lang="en-IN" dirty="0"/>
              <a:t>Spring Boot Microservice Creation</a:t>
            </a:r>
          </a:p>
        </p:txBody>
      </p:sp>
      <p:sp>
        <p:nvSpPr>
          <p:cNvPr id="3" name="Content Placeholder 2">
            <a:extLst>
              <a:ext uri="{FF2B5EF4-FFF2-40B4-BE49-F238E27FC236}">
                <a16:creationId xmlns:a16="http://schemas.microsoft.com/office/drawing/2014/main" id="{93425EBC-CB8A-ECF9-B486-D717DE83C829}"/>
              </a:ext>
            </a:extLst>
          </p:cNvPr>
          <p:cNvSpPr>
            <a:spLocks noGrp="1"/>
          </p:cNvSpPr>
          <p:nvPr>
            <p:ph idx="1"/>
          </p:nvPr>
        </p:nvSpPr>
        <p:spPr/>
        <p:txBody>
          <a:bodyPr>
            <a:normAutofit/>
          </a:bodyPr>
          <a:lstStyle/>
          <a:p>
            <a:pPr marL="0" indent="0">
              <a:buNone/>
            </a:pPr>
            <a:r>
              <a:rPr lang="en-US" sz="1600" dirty="0"/>
              <a:t>We will now build our first microservice.</a:t>
            </a:r>
          </a:p>
          <a:p>
            <a:pPr marL="0" indent="0">
              <a:buNone/>
            </a:pPr>
            <a:r>
              <a:rPr lang="en-US" sz="1600" dirty="0"/>
              <a:t>Spring Boot is industry standard for microservices.</a:t>
            </a:r>
          </a:p>
          <a:p>
            <a:pPr marL="0" indent="0">
              <a:buNone/>
            </a:pPr>
            <a:r>
              <a:rPr lang="en-IN" sz="1600" dirty="0"/>
              <a:t>Layers:</a:t>
            </a:r>
          </a:p>
          <a:p>
            <a:pPr lvl="2"/>
            <a:r>
              <a:rPr lang="en-IN" sz="1600" dirty="0"/>
              <a:t>Controller → handles HTTP requests</a:t>
            </a:r>
          </a:p>
          <a:p>
            <a:pPr lvl="2"/>
            <a:r>
              <a:rPr lang="en-IN" sz="1600" dirty="0"/>
              <a:t>Service → business logic</a:t>
            </a:r>
          </a:p>
          <a:p>
            <a:pPr lvl="2"/>
            <a:r>
              <a:rPr lang="en-IN" sz="1600" dirty="0"/>
              <a:t>Repository → database access</a:t>
            </a:r>
          </a:p>
          <a:p>
            <a:pPr lvl="2"/>
            <a:r>
              <a:rPr lang="en-IN" sz="1600" dirty="0"/>
              <a:t>Entity → database object</a:t>
            </a:r>
          </a:p>
          <a:p>
            <a:pPr marL="0" indent="0">
              <a:buNone/>
            </a:pPr>
            <a:endParaRPr lang="en-US" sz="1600" dirty="0"/>
          </a:p>
          <a:p>
            <a:endParaRPr lang="en-IN" sz="1600" dirty="0"/>
          </a:p>
        </p:txBody>
      </p:sp>
      <p:pic>
        <p:nvPicPr>
          <p:cNvPr id="4" name="Picture 12" descr="microservices-spring-boot-spring-cloud-3">
            <a:extLst>
              <a:ext uri="{FF2B5EF4-FFF2-40B4-BE49-F238E27FC236}">
                <a16:creationId xmlns:a16="http://schemas.microsoft.com/office/drawing/2014/main" id="{248994D3-C8E5-73ED-50FC-CADB95BA33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3059" y="2815744"/>
            <a:ext cx="5047692" cy="3626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4486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8C480-01F2-D9F7-F9B6-9CEE59F645EC}"/>
              </a:ext>
            </a:extLst>
          </p:cNvPr>
          <p:cNvSpPr>
            <a:spLocks noGrp="1"/>
          </p:cNvSpPr>
          <p:nvPr>
            <p:ph type="title"/>
          </p:nvPr>
        </p:nvSpPr>
        <p:spPr/>
        <p:txBody>
          <a:bodyPr>
            <a:normAutofit fontScale="90000"/>
          </a:bodyPr>
          <a:lstStyle/>
          <a:p>
            <a:r>
              <a:rPr lang="en-IN" dirty="0" err="1"/>
              <a:t>MicroServices</a:t>
            </a:r>
            <a:r>
              <a:rPr lang="en-IN" dirty="0"/>
              <a:t> with Spring Cloud Example</a:t>
            </a:r>
          </a:p>
        </p:txBody>
      </p:sp>
      <p:sp>
        <p:nvSpPr>
          <p:cNvPr id="3" name="Content Placeholder 2">
            <a:extLst>
              <a:ext uri="{FF2B5EF4-FFF2-40B4-BE49-F238E27FC236}">
                <a16:creationId xmlns:a16="http://schemas.microsoft.com/office/drawing/2014/main" id="{E876086B-46C5-12D9-F034-5ECFA1138B23}"/>
              </a:ext>
            </a:extLst>
          </p:cNvPr>
          <p:cNvSpPr>
            <a:spLocks noGrp="1"/>
          </p:cNvSpPr>
          <p:nvPr>
            <p:ph idx="1"/>
          </p:nvPr>
        </p:nvSpPr>
        <p:spPr/>
        <p:txBody>
          <a:bodyPr>
            <a:normAutofit fontScale="55000" lnSpcReduction="20000"/>
          </a:bodyPr>
          <a:lstStyle/>
          <a:p>
            <a:pPr marL="0" indent="0">
              <a:buNone/>
            </a:pPr>
            <a:r>
              <a:rPr lang="en-US" dirty="0"/>
              <a:t>Architecture of microservices-based system consists of the following modules:</a:t>
            </a:r>
          </a:p>
          <a:p>
            <a:endParaRPr lang="en-US" dirty="0"/>
          </a:p>
          <a:p>
            <a:r>
              <a:rPr lang="en-US" b="1" dirty="0"/>
              <a:t>gateway-service</a:t>
            </a:r>
            <a:r>
              <a:rPr lang="en-US" dirty="0"/>
              <a:t> - a module that Spring Cloud Netflix </a:t>
            </a:r>
            <a:r>
              <a:rPr lang="en-US" dirty="0" err="1"/>
              <a:t>Zuul</a:t>
            </a:r>
            <a:r>
              <a:rPr lang="en-US" dirty="0"/>
              <a:t> for running Spring Boot application that acts as a proxy/gateway in our architecture.</a:t>
            </a:r>
          </a:p>
          <a:p>
            <a:r>
              <a:rPr lang="en-US" b="1" dirty="0"/>
              <a:t>config-service</a:t>
            </a:r>
            <a:r>
              <a:rPr lang="en-US" dirty="0"/>
              <a:t> - a module that uses Spring Cloud Config Server for running configuration server in the native mode. The configuration files are placed on the </a:t>
            </a:r>
            <a:r>
              <a:rPr lang="en-US" dirty="0" err="1"/>
              <a:t>classpath</a:t>
            </a:r>
            <a:r>
              <a:rPr lang="en-US" dirty="0"/>
              <a:t>.</a:t>
            </a:r>
          </a:p>
          <a:p>
            <a:r>
              <a:rPr lang="en-US" b="1" dirty="0"/>
              <a:t>discovery-service</a:t>
            </a:r>
            <a:r>
              <a:rPr lang="en-US" dirty="0"/>
              <a:t> - a module that depending on the example it uses Spring Cloud Netflix Eureka or Spring Cloud Netflix Alibaba </a:t>
            </a:r>
            <a:r>
              <a:rPr lang="en-US" dirty="0" err="1"/>
              <a:t>Nacos</a:t>
            </a:r>
            <a:r>
              <a:rPr lang="en-US" dirty="0"/>
              <a:t> as an embedded discovery server.</a:t>
            </a:r>
          </a:p>
          <a:p>
            <a:r>
              <a:rPr lang="en-US" b="1" dirty="0"/>
              <a:t>employee-service</a:t>
            </a:r>
            <a:r>
              <a:rPr lang="en-US" dirty="0"/>
              <a:t> - a module containing the first of our sample microservices that allows to perform CRUD operation on in-memory repository of employees</a:t>
            </a:r>
          </a:p>
          <a:p>
            <a:r>
              <a:rPr lang="en-US" b="1" dirty="0"/>
              <a:t>department-service</a:t>
            </a:r>
            <a:r>
              <a:rPr lang="en-US" dirty="0"/>
              <a:t> - a module containing the second of our sample microservices that allows to perform CRUD operation on in-memory repository of departments. It communicates with employee-service.</a:t>
            </a:r>
          </a:p>
          <a:p>
            <a:r>
              <a:rPr lang="en-US" b="1" dirty="0"/>
              <a:t>organization-service</a:t>
            </a:r>
            <a:r>
              <a:rPr lang="en-US" dirty="0"/>
              <a:t> - a module containing the third of our sample microservices that allows to perform CRUD operation on in-memory repository of organizations. It communicates with both employee-service and organization-service.</a:t>
            </a:r>
            <a:endParaRPr lang="en-IN" dirty="0"/>
          </a:p>
        </p:txBody>
      </p:sp>
    </p:spTree>
    <p:extLst>
      <p:ext uri="{BB962C8B-B14F-4D97-AF65-F5344CB8AC3E}">
        <p14:creationId xmlns:p14="http://schemas.microsoft.com/office/powerpoint/2010/main" val="498630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63484-3D34-069D-7446-CA6E21CC20B8}"/>
              </a:ext>
            </a:extLst>
          </p:cNvPr>
          <p:cNvSpPr>
            <a:spLocks noGrp="1"/>
          </p:cNvSpPr>
          <p:nvPr>
            <p:ph type="title"/>
          </p:nvPr>
        </p:nvSpPr>
        <p:spPr/>
        <p:txBody>
          <a:bodyPr/>
          <a:lstStyle/>
          <a:p>
            <a:r>
              <a:rPr lang="en-IN" dirty="0"/>
              <a:t>Hands On </a:t>
            </a:r>
          </a:p>
        </p:txBody>
      </p:sp>
      <p:sp>
        <p:nvSpPr>
          <p:cNvPr id="3" name="Content Placeholder 2">
            <a:extLst>
              <a:ext uri="{FF2B5EF4-FFF2-40B4-BE49-F238E27FC236}">
                <a16:creationId xmlns:a16="http://schemas.microsoft.com/office/drawing/2014/main" id="{1C31CE5F-66EF-7653-D6FE-CEF6A70919EE}"/>
              </a:ext>
            </a:extLst>
          </p:cNvPr>
          <p:cNvSpPr>
            <a:spLocks noGrp="1"/>
          </p:cNvSpPr>
          <p:nvPr>
            <p:ph idx="1"/>
          </p:nvPr>
        </p:nvSpPr>
        <p:spPr/>
        <p:txBody>
          <a:bodyPr>
            <a:noAutofit/>
          </a:bodyPr>
          <a:lstStyle/>
          <a:p>
            <a:pPr marL="0" indent="0">
              <a:buNone/>
            </a:pPr>
            <a:r>
              <a:rPr lang="en-US" sz="1400" b="1" dirty="0"/>
              <a:t>Step 1 – Create Project</a:t>
            </a:r>
          </a:p>
          <a:p>
            <a:pPr marL="0" indent="0">
              <a:buNone/>
            </a:pPr>
            <a:r>
              <a:rPr lang="en-US" sz="1400" dirty="0"/>
              <a:t>Go to Spring </a:t>
            </a:r>
            <a:r>
              <a:rPr lang="en-US" sz="1400" dirty="0" err="1"/>
              <a:t>Initializr</a:t>
            </a:r>
            <a:endParaRPr lang="en-US" sz="1400" dirty="0"/>
          </a:p>
          <a:p>
            <a:pPr marL="0" indent="0">
              <a:buNone/>
            </a:pPr>
            <a:r>
              <a:rPr lang="en-US" sz="1400" dirty="0"/>
              <a:t>Dependencies:</a:t>
            </a:r>
          </a:p>
          <a:p>
            <a:r>
              <a:rPr lang="en-US" sz="1400" dirty="0"/>
              <a:t>Spring Web</a:t>
            </a:r>
          </a:p>
          <a:p>
            <a:r>
              <a:rPr lang="en-US" sz="1400" dirty="0"/>
              <a:t>Spring Data JPA</a:t>
            </a:r>
          </a:p>
          <a:p>
            <a:r>
              <a:rPr lang="en-US" sz="1400" dirty="0"/>
              <a:t>PostgreSQL</a:t>
            </a:r>
          </a:p>
          <a:p>
            <a:r>
              <a:rPr lang="en-US" sz="1400" dirty="0"/>
              <a:t>Lombok</a:t>
            </a:r>
          </a:p>
          <a:p>
            <a:pPr marL="0" indent="0">
              <a:buNone/>
            </a:pPr>
            <a:r>
              <a:rPr lang="en-IN" sz="1400" b="1" dirty="0"/>
              <a:t>Step 2 – Create Entity</a:t>
            </a:r>
            <a:endParaRPr lang="en-US" sz="1400" b="1" dirty="0"/>
          </a:p>
          <a:p>
            <a:pPr marL="400050" lvl="1" indent="0">
              <a:buNone/>
            </a:pPr>
            <a:r>
              <a:rPr lang="en-US" sz="1400" dirty="0"/>
              <a:t>@Entity</a:t>
            </a:r>
          </a:p>
          <a:p>
            <a:pPr marL="400050" lvl="1" indent="0">
              <a:buNone/>
            </a:pPr>
            <a:r>
              <a:rPr lang="en-US" sz="1400" dirty="0"/>
              <a:t>public class Customer {</a:t>
            </a:r>
          </a:p>
          <a:p>
            <a:pPr marL="400050" lvl="1" indent="0">
              <a:buNone/>
            </a:pPr>
            <a:endParaRPr lang="en-US" sz="1400" dirty="0"/>
          </a:p>
          <a:p>
            <a:pPr marL="400050" lvl="1" indent="0">
              <a:buNone/>
            </a:pPr>
            <a:r>
              <a:rPr lang="en-US" sz="1400" dirty="0"/>
              <a:t> @Id</a:t>
            </a:r>
          </a:p>
          <a:p>
            <a:pPr marL="400050" lvl="1" indent="0">
              <a:buNone/>
            </a:pPr>
            <a:r>
              <a:rPr lang="en-US" sz="1400" dirty="0"/>
              <a:t> private Long id;</a:t>
            </a:r>
          </a:p>
          <a:p>
            <a:pPr marL="400050" lvl="1" indent="0">
              <a:buNone/>
            </a:pPr>
            <a:endParaRPr lang="en-US" sz="1400" dirty="0"/>
          </a:p>
          <a:p>
            <a:pPr marL="400050" lvl="1" indent="0">
              <a:buNone/>
            </a:pPr>
            <a:r>
              <a:rPr lang="en-US" sz="1400" dirty="0"/>
              <a:t> private String name;</a:t>
            </a:r>
          </a:p>
          <a:p>
            <a:pPr marL="400050" lvl="1" indent="0">
              <a:buNone/>
            </a:pPr>
            <a:endParaRPr lang="en-US" sz="1400" dirty="0"/>
          </a:p>
          <a:p>
            <a:pPr marL="400050" lvl="1" indent="0">
              <a:buNone/>
            </a:pPr>
            <a:r>
              <a:rPr lang="en-US" sz="1400" dirty="0"/>
              <a:t> private String email;</a:t>
            </a:r>
          </a:p>
          <a:p>
            <a:pPr marL="400050" lvl="1" indent="0">
              <a:buNone/>
            </a:pPr>
            <a:r>
              <a:rPr lang="en-US" sz="1400" dirty="0"/>
              <a:t>}</a:t>
            </a:r>
          </a:p>
          <a:p>
            <a:pPr marL="0" indent="0">
              <a:buNone/>
            </a:pPr>
            <a:r>
              <a:rPr lang="en-US" sz="1400" dirty="0"/>
              <a:t>Explain:</a:t>
            </a:r>
          </a:p>
          <a:p>
            <a:pPr marL="0" indent="0">
              <a:buNone/>
            </a:pPr>
            <a:r>
              <a:rPr lang="en-US" sz="1400" dirty="0"/>
              <a:t>@Entity → maps to database table</a:t>
            </a:r>
          </a:p>
          <a:p>
            <a:pPr marL="400050" lvl="1" indent="0">
              <a:buNone/>
            </a:pPr>
            <a:endParaRPr lang="en-US" sz="1400" dirty="0"/>
          </a:p>
          <a:p>
            <a:pPr marL="0" indent="0">
              <a:buNone/>
            </a:pPr>
            <a:endParaRPr lang="en-IN" sz="1400" dirty="0"/>
          </a:p>
        </p:txBody>
      </p:sp>
    </p:spTree>
    <p:extLst>
      <p:ext uri="{BB962C8B-B14F-4D97-AF65-F5344CB8AC3E}">
        <p14:creationId xmlns:p14="http://schemas.microsoft.com/office/powerpoint/2010/main" val="14445463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9B0D6-69A8-694B-8732-2A798513069D}"/>
              </a:ext>
            </a:extLst>
          </p:cNvPr>
          <p:cNvSpPr>
            <a:spLocks noGrp="1"/>
          </p:cNvSpPr>
          <p:nvPr>
            <p:ph type="title"/>
          </p:nvPr>
        </p:nvSpPr>
        <p:spPr/>
        <p:txBody>
          <a:bodyPr/>
          <a:lstStyle/>
          <a:p>
            <a:r>
              <a:rPr lang="en-IN" dirty="0"/>
              <a:t>Hands On </a:t>
            </a:r>
          </a:p>
        </p:txBody>
      </p:sp>
      <p:sp>
        <p:nvSpPr>
          <p:cNvPr id="3" name="Content Placeholder 2">
            <a:extLst>
              <a:ext uri="{FF2B5EF4-FFF2-40B4-BE49-F238E27FC236}">
                <a16:creationId xmlns:a16="http://schemas.microsoft.com/office/drawing/2014/main" id="{781D66A9-E064-72A1-83BD-352C8A87C38E}"/>
              </a:ext>
            </a:extLst>
          </p:cNvPr>
          <p:cNvSpPr>
            <a:spLocks noGrp="1"/>
          </p:cNvSpPr>
          <p:nvPr>
            <p:ph idx="1"/>
          </p:nvPr>
        </p:nvSpPr>
        <p:spPr/>
        <p:txBody>
          <a:bodyPr>
            <a:normAutofit fontScale="62500" lnSpcReduction="20000"/>
          </a:bodyPr>
          <a:lstStyle/>
          <a:p>
            <a:pPr marL="0" indent="0">
              <a:buNone/>
            </a:pPr>
            <a:r>
              <a:rPr lang="en-IN" dirty="0"/>
              <a:t>Step 3 – Repository</a:t>
            </a:r>
          </a:p>
          <a:p>
            <a:pPr marL="400050" lvl="1" indent="0">
              <a:buNone/>
            </a:pPr>
            <a:r>
              <a:rPr lang="en-US" dirty="0"/>
              <a:t>public interface </a:t>
            </a:r>
            <a:r>
              <a:rPr lang="en-US" dirty="0" err="1"/>
              <a:t>CustomerRepository</a:t>
            </a:r>
            <a:r>
              <a:rPr lang="en-US" dirty="0"/>
              <a:t> extends </a:t>
            </a:r>
            <a:r>
              <a:rPr lang="en-US" dirty="0" err="1"/>
              <a:t>JpaRepository</a:t>
            </a:r>
            <a:r>
              <a:rPr lang="en-US" dirty="0"/>
              <a:t>&lt;Customer, Long&gt; {</a:t>
            </a:r>
          </a:p>
          <a:p>
            <a:pPr marL="400050" lvl="1" indent="0">
              <a:buNone/>
            </a:pPr>
            <a:r>
              <a:rPr lang="en-US" dirty="0"/>
              <a:t>}</a:t>
            </a:r>
          </a:p>
          <a:p>
            <a:pPr marL="0" indent="0">
              <a:buNone/>
            </a:pPr>
            <a:r>
              <a:rPr lang="en-IN" dirty="0"/>
              <a:t>Step 4 – Service</a:t>
            </a:r>
          </a:p>
          <a:p>
            <a:pPr marL="400050" lvl="1" indent="0">
              <a:buNone/>
            </a:pPr>
            <a:r>
              <a:rPr lang="en-US" dirty="0"/>
              <a:t>@Service</a:t>
            </a:r>
          </a:p>
          <a:p>
            <a:pPr marL="400050" lvl="1" indent="0">
              <a:buNone/>
            </a:pPr>
            <a:r>
              <a:rPr lang="en-US" dirty="0"/>
              <a:t>public class </a:t>
            </a:r>
            <a:r>
              <a:rPr lang="en-US" dirty="0" err="1"/>
              <a:t>CustomerService</a:t>
            </a:r>
            <a:r>
              <a:rPr lang="en-US" dirty="0"/>
              <a:t> {</a:t>
            </a:r>
          </a:p>
          <a:p>
            <a:pPr marL="400050" lvl="1" indent="0">
              <a:buNone/>
            </a:pPr>
            <a:endParaRPr lang="en-US" dirty="0"/>
          </a:p>
          <a:p>
            <a:pPr marL="400050" lvl="1" indent="0">
              <a:buNone/>
            </a:pPr>
            <a:r>
              <a:rPr lang="en-US" dirty="0"/>
              <a:t> @Autowired</a:t>
            </a:r>
          </a:p>
          <a:p>
            <a:pPr marL="400050" lvl="1" indent="0">
              <a:buNone/>
            </a:pPr>
            <a:r>
              <a:rPr lang="en-US" dirty="0"/>
              <a:t> </a:t>
            </a:r>
            <a:r>
              <a:rPr lang="en-US" dirty="0" err="1"/>
              <a:t>CustomerRepository</a:t>
            </a:r>
            <a:r>
              <a:rPr lang="en-US" dirty="0"/>
              <a:t> repository;</a:t>
            </a:r>
          </a:p>
          <a:p>
            <a:pPr marL="400050" lvl="1" indent="0">
              <a:buNone/>
            </a:pPr>
            <a:endParaRPr lang="en-US" dirty="0"/>
          </a:p>
          <a:p>
            <a:pPr marL="400050" lvl="1" indent="0">
              <a:buNone/>
            </a:pPr>
            <a:r>
              <a:rPr lang="en-US" dirty="0"/>
              <a:t> public List&lt;Customer&gt; </a:t>
            </a:r>
            <a:r>
              <a:rPr lang="en-US" dirty="0" err="1"/>
              <a:t>getAllCustomers</a:t>
            </a:r>
            <a:r>
              <a:rPr lang="en-US" dirty="0"/>
              <a:t>() {</a:t>
            </a:r>
          </a:p>
          <a:p>
            <a:pPr marL="400050" lvl="1" indent="0">
              <a:buNone/>
            </a:pPr>
            <a:r>
              <a:rPr lang="en-US" dirty="0"/>
              <a:t>   return </a:t>
            </a:r>
            <a:r>
              <a:rPr lang="en-US" dirty="0" err="1"/>
              <a:t>repository.findAll</a:t>
            </a:r>
            <a:r>
              <a:rPr lang="en-US" dirty="0"/>
              <a:t>();</a:t>
            </a:r>
          </a:p>
          <a:p>
            <a:pPr marL="400050" lvl="1" indent="0">
              <a:buNone/>
            </a:pPr>
            <a:r>
              <a:rPr lang="en-US" dirty="0"/>
              <a:t> }</a:t>
            </a:r>
          </a:p>
          <a:p>
            <a:pPr marL="400050" lvl="1" indent="0">
              <a:buNone/>
            </a:pPr>
            <a:r>
              <a:rPr lang="en-US" dirty="0"/>
              <a:t>}</a:t>
            </a:r>
          </a:p>
          <a:p>
            <a:pPr marL="0" indent="0">
              <a:buNone/>
            </a:pPr>
            <a:endParaRPr lang="en-IN" dirty="0"/>
          </a:p>
        </p:txBody>
      </p:sp>
    </p:spTree>
    <p:extLst>
      <p:ext uri="{BB962C8B-B14F-4D97-AF65-F5344CB8AC3E}">
        <p14:creationId xmlns:p14="http://schemas.microsoft.com/office/powerpoint/2010/main" val="33479518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DE717-60F5-7CEB-2649-CA04058025D7}"/>
              </a:ext>
            </a:extLst>
          </p:cNvPr>
          <p:cNvSpPr>
            <a:spLocks noGrp="1"/>
          </p:cNvSpPr>
          <p:nvPr>
            <p:ph type="title"/>
          </p:nvPr>
        </p:nvSpPr>
        <p:spPr/>
        <p:txBody>
          <a:bodyPr/>
          <a:lstStyle/>
          <a:p>
            <a:r>
              <a:rPr lang="en-IN" dirty="0"/>
              <a:t>Hands On</a:t>
            </a:r>
          </a:p>
        </p:txBody>
      </p:sp>
      <p:sp>
        <p:nvSpPr>
          <p:cNvPr id="3" name="Content Placeholder 2">
            <a:extLst>
              <a:ext uri="{FF2B5EF4-FFF2-40B4-BE49-F238E27FC236}">
                <a16:creationId xmlns:a16="http://schemas.microsoft.com/office/drawing/2014/main" id="{A7DD562E-F62A-88EB-7369-A34CECDC2592}"/>
              </a:ext>
            </a:extLst>
          </p:cNvPr>
          <p:cNvSpPr>
            <a:spLocks noGrp="1"/>
          </p:cNvSpPr>
          <p:nvPr>
            <p:ph idx="1"/>
          </p:nvPr>
        </p:nvSpPr>
        <p:spPr/>
        <p:txBody>
          <a:bodyPr>
            <a:normAutofit fontScale="55000" lnSpcReduction="20000"/>
          </a:bodyPr>
          <a:lstStyle/>
          <a:p>
            <a:pPr marL="0" indent="0">
              <a:buNone/>
            </a:pPr>
            <a:r>
              <a:rPr lang="en-IN" dirty="0"/>
              <a:t>Step 5 – Controller</a:t>
            </a:r>
            <a:endParaRPr lang="en-US" dirty="0"/>
          </a:p>
          <a:p>
            <a:pPr marL="0" indent="0">
              <a:buNone/>
            </a:pPr>
            <a:r>
              <a:rPr lang="en-US" dirty="0"/>
              <a:t>@RestController</a:t>
            </a:r>
          </a:p>
          <a:p>
            <a:pPr marL="0" indent="0">
              <a:buNone/>
            </a:pPr>
            <a:r>
              <a:rPr lang="en-US" dirty="0"/>
              <a:t>@RequestMapping("/customers")</a:t>
            </a:r>
          </a:p>
          <a:p>
            <a:pPr marL="0" indent="0">
              <a:buNone/>
            </a:pPr>
            <a:r>
              <a:rPr lang="en-US" dirty="0"/>
              <a:t>public class </a:t>
            </a:r>
            <a:r>
              <a:rPr lang="en-US" dirty="0" err="1"/>
              <a:t>CustomerController</a:t>
            </a:r>
            <a:r>
              <a:rPr lang="en-US" dirty="0"/>
              <a:t> {</a:t>
            </a:r>
          </a:p>
          <a:p>
            <a:pPr marL="0" indent="0">
              <a:buNone/>
            </a:pPr>
            <a:endParaRPr lang="en-US" dirty="0"/>
          </a:p>
          <a:p>
            <a:pPr marL="0" indent="0">
              <a:buNone/>
            </a:pPr>
            <a:r>
              <a:rPr lang="en-US" dirty="0"/>
              <a:t> @Autowired</a:t>
            </a:r>
          </a:p>
          <a:p>
            <a:pPr marL="0" indent="0">
              <a:buNone/>
            </a:pPr>
            <a:r>
              <a:rPr lang="en-US" dirty="0"/>
              <a:t> </a:t>
            </a:r>
            <a:r>
              <a:rPr lang="en-US" dirty="0" err="1"/>
              <a:t>CustomerService</a:t>
            </a:r>
            <a:r>
              <a:rPr lang="en-US" dirty="0"/>
              <a:t> service;</a:t>
            </a:r>
          </a:p>
          <a:p>
            <a:pPr marL="0" indent="0">
              <a:buNone/>
            </a:pPr>
            <a:endParaRPr lang="en-US" dirty="0"/>
          </a:p>
          <a:p>
            <a:pPr marL="0" indent="0">
              <a:buNone/>
            </a:pPr>
            <a:r>
              <a:rPr lang="en-US" dirty="0"/>
              <a:t> @GetMapping</a:t>
            </a:r>
          </a:p>
          <a:p>
            <a:pPr marL="0" indent="0">
              <a:buNone/>
            </a:pPr>
            <a:r>
              <a:rPr lang="en-US" dirty="0"/>
              <a:t> public List&lt;Customer&gt; </a:t>
            </a:r>
            <a:r>
              <a:rPr lang="en-US" dirty="0" err="1"/>
              <a:t>getAll</a:t>
            </a:r>
            <a:r>
              <a:rPr lang="en-US" dirty="0"/>
              <a:t>() {</a:t>
            </a:r>
          </a:p>
          <a:p>
            <a:pPr marL="0" indent="0">
              <a:buNone/>
            </a:pPr>
            <a:r>
              <a:rPr lang="en-US" dirty="0"/>
              <a:t>   return </a:t>
            </a:r>
            <a:r>
              <a:rPr lang="en-US" dirty="0" err="1"/>
              <a:t>service.getAllCustomers</a:t>
            </a:r>
            <a:r>
              <a:rPr lang="en-US" dirty="0"/>
              <a:t>();</a:t>
            </a:r>
          </a:p>
          <a:p>
            <a:pPr marL="0" indent="0">
              <a:buNone/>
            </a:pPr>
            <a:r>
              <a:rPr lang="en-US" dirty="0"/>
              <a:t> }</a:t>
            </a:r>
          </a:p>
          <a:p>
            <a:pPr marL="0" indent="0">
              <a:buNone/>
            </a:pPr>
            <a:r>
              <a:rPr lang="en-US" dirty="0"/>
              <a:t>}</a:t>
            </a:r>
          </a:p>
          <a:p>
            <a:r>
              <a:rPr lang="en-US" dirty="0"/>
              <a:t>Run application.</a:t>
            </a:r>
          </a:p>
          <a:p>
            <a:r>
              <a:rPr lang="en-US" dirty="0"/>
              <a:t>Test in browser:</a:t>
            </a:r>
          </a:p>
          <a:p>
            <a:pPr marL="0" indent="0">
              <a:buNone/>
            </a:pPr>
            <a:r>
              <a:rPr lang="en-IN" dirty="0"/>
              <a:t>http://localhost:8081/customers</a:t>
            </a:r>
          </a:p>
          <a:p>
            <a:pPr marL="0" indent="0">
              <a:buNone/>
            </a:pPr>
            <a:endParaRPr lang="en-IN" dirty="0"/>
          </a:p>
        </p:txBody>
      </p:sp>
    </p:spTree>
    <p:extLst>
      <p:ext uri="{BB962C8B-B14F-4D97-AF65-F5344CB8AC3E}">
        <p14:creationId xmlns:p14="http://schemas.microsoft.com/office/powerpoint/2010/main" val="30901583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340B4-6B8A-987E-0980-A82F0E4DC06A}"/>
              </a:ext>
            </a:extLst>
          </p:cNvPr>
          <p:cNvSpPr>
            <a:spLocks noGrp="1"/>
          </p:cNvSpPr>
          <p:nvPr>
            <p:ph type="title"/>
          </p:nvPr>
        </p:nvSpPr>
        <p:spPr/>
        <p:txBody>
          <a:bodyPr/>
          <a:lstStyle/>
          <a:p>
            <a:r>
              <a:rPr lang="en-IN" dirty="0"/>
              <a:t>Hands On</a:t>
            </a:r>
          </a:p>
        </p:txBody>
      </p:sp>
      <p:sp>
        <p:nvSpPr>
          <p:cNvPr id="3" name="Content Placeholder 2">
            <a:extLst>
              <a:ext uri="{FF2B5EF4-FFF2-40B4-BE49-F238E27FC236}">
                <a16:creationId xmlns:a16="http://schemas.microsoft.com/office/drawing/2014/main" id="{6F304897-B92B-B1F7-EB50-903593C21A2F}"/>
              </a:ext>
            </a:extLst>
          </p:cNvPr>
          <p:cNvSpPr>
            <a:spLocks noGrp="1"/>
          </p:cNvSpPr>
          <p:nvPr>
            <p:ph idx="1"/>
          </p:nvPr>
        </p:nvSpPr>
        <p:spPr/>
        <p:txBody>
          <a:bodyPr/>
          <a:lstStyle/>
          <a:p>
            <a:pPr marL="0" indent="0">
              <a:buNone/>
            </a:pPr>
            <a:r>
              <a:rPr lang="en-IN" dirty="0"/>
              <a:t>Database per Service Pattern</a:t>
            </a:r>
          </a:p>
          <a:p>
            <a:pPr marL="0" indent="0">
              <a:buNone/>
            </a:pPr>
            <a:r>
              <a:rPr lang="en-US" dirty="0"/>
              <a:t>Each microservice must have its own database.</a:t>
            </a:r>
          </a:p>
          <a:p>
            <a:pPr marL="0" indent="0">
              <a:buNone/>
            </a:pPr>
            <a:r>
              <a:rPr lang="en-US" dirty="0"/>
              <a:t>Bad Practice:</a:t>
            </a:r>
          </a:p>
          <a:p>
            <a:pPr lvl="2"/>
            <a:r>
              <a:rPr lang="en-US" dirty="0"/>
              <a:t>Multiple services using same database.</a:t>
            </a:r>
          </a:p>
          <a:p>
            <a:pPr marL="0" indent="0">
              <a:buNone/>
            </a:pPr>
            <a:r>
              <a:rPr lang="en-US" dirty="0"/>
              <a:t>Good Practice:</a:t>
            </a:r>
          </a:p>
          <a:p>
            <a:pPr lvl="2"/>
            <a:r>
              <a:rPr lang="en-US" dirty="0"/>
              <a:t>Separate databases.</a:t>
            </a:r>
          </a:p>
          <a:p>
            <a:pPr marL="0" indent="0">
              <a:buNone/>
            </a:pPr>
            <a:r>
              <a:rPr lang="en-IN" dirty="0"/>
              <a:t>Create database:</a:t>
            </a:r>
          </a:p>
          <a:p>
            <a:pPr lvl="2"/>
            <a:r>
              <a:rPr lang="en-IN" dirty="0"/>
              <a:t>For example </a:t>
            </a:r>
            <a:r>
              <a:rPr lang="en-IN" dirty="0" err="1"/>
              <a:t>customer_db</a:t>
            </a:r>
            <a:endParaRPr lang="en-IN" dirty="0"/>
          </a:p>
          <a:p>
            <a:pPr marL="914400" lvl="2" indent="0">
              <a:buNone/>
            </a:pPr>
            <a:endParaRPr lang="en-US" dirty="0"/>
          </a:p>
          <a:p>
            <a:endParaRPr lang="en-IN" dirty="0"/>
          </a:p>
        </p:txBody>
      </p:sp>
    </p:spTree>
    <p:extLst>
      <p:ext uri="{BB962C8B-B14F-4D97-AF65-F5344CB8AC3E}">
        <p14:creationId xmlns:p14="http://schemas.microsoft.com/office/powerpoint/2010/main" val="1037106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1AD6D-8D65-29F2-D300-027018D3D529}"/>
              </a:ext>
            </a:extLst>
          </p:cNvPr>
          <p:cNvSpPr>
            <a:spLocks noGrp="1"/>
          </p:cNvSpPr>
          <p:nvPr>
            <p:ph type="title"/>
          </p:nvPr>
        </p:nvSpPr>
        <p:spPr/>
        <p:txBody>
          <a:bodyPr/>
          <a:lstStyle/>
          <a:p>
            <a:r>
              <a:rPr lang="en-IN" dirty="0"/>
              <a:t>Hands On</a:t>
            </a:r>
          </a:p>
        </p:txBody>
      </p:sp>
      <p:sp>
        <p:nvSpPr>
          <p:cNvPr id="3" name="Content Placeholder 2">
            <a:extLst>
              <a:ext uri="{FF2B5EF4-FFF2-40B4-BE49-F238E27FC236}">
                <a16:creationId xmlns:a16="http://schemas.microsoft.com/office/drawing/2014/main" id="{324CE138-5DF6-A74F-3584-A3CB2E3E3978}"/>
              </a:ext>
            </a:extLst>
          </p:cNvPr>
          <p:cNvSpPr>
            <a:spLocks noGrp="1"/>
          </p:cNvSpPr>
          <p:nvPr>
            <p:ph idx="1"/>
          </p:nvPr>
        </p:nvSpPr>
        <p:spPr/>
        <p:txBody>
          <a:bodyPr/>
          <a:lstStyle/>
          <a:p>
            <a:r>
              <a:rPr lang="en-IN" dirty="0"/>
              <a:t>Interservice Communication REST</a:t>
            </a:r>
          </a:p>
          <a:p>
            <a:pPr marL="0" indent="0">
              <a:buNone/>
            </a:pPr>
            <a:r>
              <a:rPr lang="en-US" dirty="0"/>
              <a:t>Microservices must communicate.</a:t>
            </a:r>
          </a:p>
          <a:p>
            <a:pPr marL="0" indent="0">
              <a:buNone/>
            </a:pPr>
            <a:r>
              <a:rPr lang="en-US" dirty="0"/>
              <a:t>Two types:</a:t>
            </a:r>
          </a:p>
          <a:p>
            <a:pPr marL="914400" lvl="2" indent="0">
              <a:buNone/>
            </a:pPr>
            <a:r>
              <a:rPr lang="en-US" dirty="0"/>
              <a:t>Sync → REST</a:t>
            </a:r>
            <a:br>
              <a:rPr lang="en-US" dirty="0"/>
            </a:br>
            <a:r>
              <a:rPr lang="en-US" dirty="0"/>
              <a:t>Async → Kafka</a:t>
            </a:r>
          </a:p>
          <a:p>
            <a:pPr marL="0" indent="0">
              <a:buNone/>
            </a:pPr>
            <a:endParaRPr lang="en-US" dirty="0"/>
          </a:p>
          <a:p>
            <a:pPr marL="0" indent="0">
              <a:buNone/>
            </a:pPr>
            <a:r>
              <a:rPr lang="en-US" dirty="0"/>
              <a:t>Today we use REST.</a:t>
            </a:r>
          </a:p>
          <a:p>
            <a:endParaRPr lang="en-IN" dirty="0"/>
          </a:p>
        </p:txBody>
      </p:sp>
    </p:spTree>
    <p:extLst>
      <p:ext uri="{BB962C8B-B14F-4D97-AF65-F5344CB8AC3E}">
        <p14:creationId xmlns:p14="http://schemas.microsoft.com/office/powerpoint/2010/main" val="32640951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78907-5E2F-EF73-D806-34D284C260AD}"/>
              </a:ext>
            </a:extLst>
          </p:cNvPr>
          <p:cNvSpPr>
            <a:spLocks noGrp="1"/>
          </p:cNvSpPr>
          <p:nvPr>
            <p:ph type="title"/>
          </p:nvPr>
        </p:nvSpPr>
        <p:spPr/>
        <p:txBody>
          <a:bodyPr/>
          <a:lstStyle/>
          <a:p>
            <a:r>
              <a:rPr lang="en-IN" dirty="0"/>
              <a:t>Hands On</a:t>
            </a:r>
          </a:p>
        </p:txBody>
      </p:sp>
      <p:sp>
        <p:nvSpPr>
          <p:cNvPr id="3" name="Content Placeholder 2">
            <a:extLst>
              <a:ext uri="{FF2B5EF4-FFF2-40B4-BE49-F238E27FC236}">
                <a16:creationId xmlns:a16="http://schemas.microsoft.com/office/drawing/2014/main" id="{25E165E8-C511-FE3A-AA8C-1015FFCB096D}"/>
              </a:ext>
            </a:extLst>
          </p:cNvPr>
          <p:cNvSpPr>
            <a:spLocks noGrp="1"/>
          </p:cNvSpPr>
          <p:nvPr>
            <p:ph idx="1"/>
          </p:nvPr>
        </p:nvSpPr>
        <p:spPr/>
        <p:txBody>
          <a:bodyPr>
            <a:normAutofit fontScale="92500"/>
          </a:bodyPr>
          <a:lstStyle/>
          <a:p>
            <a:r>
              <a:rPr lang="en-US" dirty="0"/>
              <a:t>Account Service calling Customer Service:</a:t>
            </a:r>
          </a:p>
          <a:p>
            <a:pPr marL="0" indent="0">
              <a:buNone/>
            </a:pPr>
            <a:r>
              <a:rPr lang="en-US" dirty="0" err="1"/>
              <a:t>RestTemplate</a:t>
            </a:r>
            <a:r>
              <a:rPr lang="en-US" dirty="0"/>
              <a:t> </a:t>
            </a:r>
            <a:r>
              <a:rPr lang="en-US" dirty="0" err="1"/>
              <a:t>restTemplate</a:t>
            </a:r>
            <a:r>
              <a:rPr lang="en-US" dirty="0"/>
              <a:t> = new </a:t>
            </a:r>
            <a:r>
              <a:rPr lang="en-US" dirty="0" err="1"/>
              <a:t>RestTemplate</a:t>
            </a:r>
            <a:r>
              <a:rPr lang="en-US" dirty="0"/>
              <a:t>();</a:t>
            </a:r>
          </a:p>
          <a:p>
            <a:pPr marL="0" indent="0">
              <a:buNone/>
            </a:pPr>
            <a:endParaRPr lang="en-US" dirty="0"/>
          </a:p>
          <a:p>
            <a:pPr marL="0" indent="0">
              <a:buNone/>
            </a:pPr>
            <a:r>
              <a:rPr lang="en-US" dirty="0"/>
              <a:t>Customer </a:t>
            </a:r>
            <a:r>
              <a:rPr lang="en-US" dirty="0" err="1"/>
              <a:t>customer</a:t>
            </a:r>
            <a:r>
              <a:rPr lang="en-US" dirty="0"/>
              <a:t> =</a:t>
            </a:r>
          </a:p>
          <a:p>
            <a:pPr marL="0" indent="0">
              <a:buNone/>
            </a:pPr>
            <a:r>
              <a:rPr lang="en-US" dirty="0"/>
              <a:t> </a:t>
            </a:r>
            <a:r>
              <a:rPr lang="en-US" dirty="0" err="1"/>
              <a:t>restTemplate.getForObject</a:t>
            </a:r>
            <a:r>
              <a:rPr lang="en-US" dirty="0"/>
              <a:t>(</a:t>
            </a:r>
          </a:p>
          <a:p>
            <a:pPr marL="0" indent="0">
              <a:buNone/>
            </a:pPr>
            <a:r>
              <a:rPr lang="en-US" dirty="0"/>
              <a:t>  "http://localhost:8081/customers/1",</a:t>
            </a:r>
          </a:p>
          <a:p>
            <a:pPr marL="0" indent="0">
              <a:buNone/>
            </a:pPr>
            <a:r>
              <a:rPr lang="en-US" dirty="0"/>
              <a:t>  </a:t>
            </a:r>
            <a:r>
              <a:rPr lang="en-US" dirty="0" err="1"/>
              <a:t>Customer.class</a:t>
            </a:r>
            <a:endParaRPr lang="en-US" dirty="0"/>
          </a:p>
          <a:p>
            <a:pPr marL="0" indent="0">
              <a:buNone/>
            </a:pPr>
            <a:r>
              <a:rPr lang="en-US" dirty="0"/>
              <a:t> );</a:t>
            </a:r>
          </a:p>
          <a:p>
            <a:pPr marL="0" indent="0">
              <a:buNone/>
            </a:pPr>
            <a:endParaRPr lang="en-IN" dirty="0"/>
          </a:p>
        </p:txBody>
      </p:sp>
    </p:spTree>
    <p:extLst>
      <p:ext uri="{BB962C8B-B14F-4D97-AF65-F5344CB8AC3E}">
        <p14:creationId xmlns:p14="http://schemas.microsoft.com/office/powerpoint/2010/main" val="6692020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F9E1D-F19A-8736-45F7-79E0F51062BB}"/>
              </a:ext>
            </a:extLst>
          </p:cNvPr>
          <p:cNvSpPr>
            <a:spLocks noGrp="1"/>
          </p:cNvSpPr>
          <p:nvPr>
            <p:ph type="title"/>
          </p:nvPr>
        </p:nvSpPr>
        <p:spPr/>
        <p:txBody>
          <a:bodyPr/>
          <a:lstStyle/>
          <a:p>
            <a:r>
              <a:rPr lang="en-IN" dirty="0"/>
              <a:t>Hands On	</a:t>
            </a:r>
          </a:p>
        </p:txBody>
      </p:sp>
      <p:sp>
        <p:nvSpPr>
          <p:cNvPr id="3" name="Content Placeholder 2">
            <a:extLst>
              <a:ext uri="{FF2B5EF4-FFF2-40B4-BE49-F238E27FC236}">
                <a16:creationId xmlns:a16="http://schemas.microsoft.com/office/drawing/2014/main" id="{7FCF32C5-8749-8CF3-64CA-B3517DA8AB92}"/>
              </a:ext>
            </a:extLst>
          </p:cNvPr>
          <p:cNvSpPr>
            <a:spLocks noGrp="1"/>
          </p:cNvSpPr>
          <p:nvPr>
            <p:ph idx="1"/>
          </p:nvPr>
        </p:nvSpPr>
        <p:spPr/>
        <p:txBody>
          <a:bodyPr>
            <a:normAutofit fontScale="70000" lnSpcReduction="20000"/>
          </a:bodyPr>
          <a:lstStyle/>
          <a:p>
            <a:pPr marL="0" indent="0">
              <a:buNone/>
            </a:pPr>
            <a:r>
              <a:rPr lang="en-IN" dirty="0" err="1"/>
              <a:t>OpenFeign</a:t>
            </a:r>
            <a:r>
              <a:rPr lang="en-IN" dirty="0"/>
              <a:t> Client</a:t>
            </a:r>
          </a:p>
          <a:p>
            <a:pPr marL="0" indent="0">
              <a:buNone/>
            </a:pPr>
            <a:r>
              <a:rPr lang="en-US" dirty="0" err="1"/>
              <a:t>RestTemplate</a:t>
            </a:r>
            <a:r>
              <a:rPr lang="en-US" dirty="0"/>
              <a:t> requires lots of code.</a:t>
            </a:r>
          </a:p>
          <a:p>
            <a:pPr marL="0" indent="0">
              <a:buNone/>
            </a:pPr>
            <a:endParaRPr lang="en-US" dirty="0"/>
          </a:p>
          <a:p>
            <a:pPr marL="0" indent="0">
              <a:buNone/>
            </a:pPr>
            <a:r>
              <a:rPr lang="en-US" dirty="0"/>
              <a:t>Feign simplifies it.</a:t>
            </a:r>
          </a:p>
          <a:p>
            <a:pPr marL="400050" lvl="1" indent="0">
              <a:buNone/>
            </a:pPr>
            <a:r>
              <a:rPr lang="en-US" dirty="0"/>
              <a:t>@FeignClient(name="customer-service")</a:t>
            </a:r>
          </a:p>
          <a:p>
            <a:pPr marL="400050" lvl="1" indent="0">
              <a:buNone/>
            </a:pPr>
            <a:r>
              <a:rPr lang="en-US" dirty="0"/>
              <a:t>public interface </a:t>
            </a:r>
            <a:r>
              <a:rPr lang="en-US" dirty="0" err="1"/>
              <a:t>CustomerClient</a:t>
            </a:r>
            <a:r>
              <a:rPr lang="en-US" dirty="0"/>
              <a:t> {</a:t>
            </a:r>
          </a:p>
          <a:p>
            <a:pPr marL="400050" lvl="1" indent="0">
              <a:buNone/>
            </a:pPr>
            <a:endParaRPr lang="en-US" dirty="0"/>
          </a:p>
          <a:p>
            <a:pPr marL="400050" lvl="1" indent="0">
              <a:buNone/>
            </a:pPr>
            <a:r>
              <a:rPr lang="en-US" dirty="0"/>
              <a:t> @GetMapping("/customers/{id}")</a:t>
            </a:r>
          </a:p>
          <a:p>
            <a:pPr marL="400050" lvl="1" indent="0">
              <a:buNone/>
            </a:pPr>
            <a:r>
              <a:rPr lang="en-US" dirty="0"/>
              <a:t> Customer </a:t>
            </a:r>
            <a:r>
              <a:rPr lang="en-US" dirty="0" err="1"/>
              <a:t>getCustomer</a:t>
            </a:r>
            <a:r>
              <a:rPr lang="en-US" dirty="0"/>
              <a:t>(@PathVariable Long id);</a:t>
            </a:r>
          </a:p>
          <a:p>
            <a:pPr marL="400050" lvl="1" indent="0">
              <a:buNone/>
            </a:pPr>
            <a:r>
              <a:rPr lang="en-US" dirty="0"/>
              <a:t>}</a:t>
            </a:r>
          </a:p>
          <a:p>
            <a:pPr marL="400050" lvl="1" indent="0">
              <a:buNone/>
            </a:pPr>
            <a:endParaRPr lang="en-US" dirty="0"/>
          </a:p>
          <a:p>
            <a:pPr marL="400050" lvl="1" indent="0">
              <a:buNone/>
            </a:pPr>
            <a:endParaRPr lang="en-US" dirty="0"/>
          </a:p>
          <a:p>
            <a:pPr marL="400050" lvl="1" indent="0">
              <a:buNone/>
            </a:pPr>
            <a:r>
              <a:rPr lang="en-IN" dirty="0"/>
              <a:t>Feign automatically calls service.</a:t>
            </a:r>
            <a:endParaRPr lang="en-US" dirty="0"/>
          </a:p>
          <a:p>
            <a:pPr marL="0" indent="0">
              <a:buNone/>
            </a:pPr>
            <a:endParaRPr lang="en-IN" dirty="0"/>
          </a:p>
        </p:txBody>
      </p:sp>
    </p:spTree>
    <p:extLst>
      <p:ext uri="{BB962C8B-B14F-4D97-AF65-F5344CB8AC3E}">
        <p14:creationId xmlns:p14="http://schemas.microsoft.com/office/powerpoint/2010/main" val="40806964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00FDE-C192-E84D-161F-F84DA114B2F8}"/>
              </a:ext>
            </a:extLst>
          </p:cNvPr>
          <p:cNvSpPr>
            <a:spLocks noGrp="1"/>
          </p:cNvSpPr>
          <p:nvPr>
            <p:ph type="title"/>
          </p:nvPr>
        </p:nvSpPr>
        <p:spPr/>
        <p:txBody>
          <a:bodyPr/>
          <a:lstStyle/>
          <a:p>
            <a:r>
              <a:rPr lang="en-IN" dirty="0"/>
              <a:t>Hands On</a:t>
            </a:r>
          </a:p>
        </p:txBody>
      </p:sp>
      <p:sp>
        <p:nvSpPr>
          <p:cNvPr id="3" name="Content Placeholder 2">
            <a:extLst>
              <a:ext uri="{FF2B5EF4-FFF2-40B4-BE49-F238E27FC236}">
                <a16:creationId xmlns:a16="http://schemas.microsoft.com/office/drawing/2014/main" id="{DC09624F-07DA-310A-6046-F0424B7F1DE0}"/>
              </a:ext>
            </a:extLst>
          </p:cNvPr>
          <p:cNvSpPr>
            <a:spLocks noGrp="1"/>
          </p:cNvSpPr>
          <p:nvPr>
            <p:ph idx="1"/>
          </p:nvPr>
        </p:nvSpPr>
        <p:spPr/>
        <p:txBody>
          <a:bodyPr>
            <a:normAutofit fontScale="92500" lnSpcReduction="20000"/>
          </a:bodyPr>
          <a:lstStyle/>
          <a:p>
            <a:r>
              <a:rPr lang="en-IN" dirty="0"/>
              <a:t>DTO Pattern</a:t>
            </a:r>
          </a:p>
          <a:p>
            <a:pPr marL="0" indent="0">
              <a:buNone/>
            </a:pPr>
            <a:r>
              <a:rPr lang="en-US" dirty="0"/>
              <a:t>Never expose entity directly.</a:t>
            </a:r>
          </a:p>
          <a:p>
            <a:r>
              <a:rPr lang="en-US" dirty="0"/>
              <a:t>Use DTO.</a:t>
            </a:r>
          </a:p>
          <a:p>
            <a:pPr marL="0" indent="0">
              <a:buNone/>
            </a:pPr>
            <a:r>
              <a:rPr lang="en-US" dirty="0"/>
              <a:t>Why?</a:t>
            </a:r>
          </a:p>
          <a:p>
            <a:pPr marL="914400" lvl="2" indent="0">
              <a:buNone/>
            </a:pPr>
            <a:r>
              <a:rPr lang="en-US" dirty="0"/>
              <a:t>Security</a:t>
            </a:r>
            <a:br>
              <a:rPr lang="en-US" dirty="0"/>
            </a:br>
            <a:r>
              <a:rPr lang="en-US" dirty="0"/>
              <a:t>Flexibility</a:t>
            </a:r>
          </a:p>
          <a:p>
            <a:pPr marL="800100" lvl="2" indent="0">
              <a:buNone/>
            </a:pPr>
            <a:r>
              <a:rPr lang="en-US" dirty="0"/>
              <a:t>public class </a:t>
            </a:r>
            <a:r>
              <a:rPr lang="en-US" dirty="0" err="1"/>
              <a:t>CustomerDTO</a:t>
            </a:r>
            <a:r>
              <a:rPr lang="en-US" dirty="0"/>
              <a:t> {</a:t>
            </a:r>
          </a:p>
          <a:p>
            <a:pPr marL="800100" lvl="2" indent="0">
              <a:buNone/>
            </a:pPr>
            <a:endParaRPr lang="en-US" dirty="0"/>
          </a:p>
          <a:p>
            <a:pPr marL="800100" lvl="2" indent="0">
              <a:buNone/>
            </a:pPr>
            <a:r>
              <a:rPr lang="en-US" dirty="0"/>
              <a:t> private Long id;</a:t>
            </a:r>
          </a:p>
          <a:p>
            <a:pPr marL="800100" lvl="2" indent="0">
              <a:buNone/>
            </a:pPr>
            <a:endParaRPr lang="en-US" dirty="0"/>
          </a:p>
          <a:p>
            <a:pPr marL="800100" lvl="2" indent="0">
              <a:buNone/>
            </a:pPr>
            <a:r>
              <a:rPr lang="en-US" dirty="0"/>
              <a:t> private String name;</a:t>
            </a:r>
          </a:p>
          <a:p>
            <a:pPr marL="800100" lvl="2" indent="0">
              <a:buNone/>
            </a:pPr>
            <a:r>
              <a:rPr lang="en-US" dirty="0"/>
              <a:t>}</a:t>
            </a:r>
          </a:p>
          <a:p>
            <a:pPr marL="0" indent="0">
              <a:buNone/>
            </a:pPr>
            <a:endParaRPr lang="en-IN" dirty="0"/>
          </a:p>
        </p:txBody>
      </p:sp>
    </p:spTree>
    <p:extLst>
      <p:ext uri="{BB962C8B-B14F-4D97-AF65-F5344CB8AC3E}">
        <p14:creationId xmlns:p14="http://schemas.microsoft.com/office/powerpoint/2010/main" val="1200604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D2350-0BC5-3D1F-928A-8299268533C9}"/>
              </a:ext>
            </a:extLst>
          </p:cNvPr>
          <p:cNvSpPr>
            <a:spLocks noGrp="1"/>
          </p:cNvSpPr>
          <p:nvPr>
            <p:ph type="title"/>
          </p:nvPr>
        </p:nvSpPr>
        <p:spPr/>
        <p:txBody>
          <a:bodyPr>
            <a:normAutofit fontScale="90000"/>
          </a:bodyPr>
          <a:lstStyle/>
          <a:p>
            <a:r>
              <a:rPr lang="en-IN" b="1" dirty="0"/>
              <a:t>Interservice Communication (REST)</a:t>
            </a:r>
            <a:br>
              <a:rPr lang="en-IN" dirty="0"/>
            </a:br>
            <a:endParaRPr lang="en-IN" dirty="0"/>
          </a:p>
        </p:txBody>
      </p:sp>
      <p:sp>
        <p:nvSpPr>
          <p:cNvPr id="3" name="Content Placeholder 2">
            <a:extLst>
              <a:ext uri="{FF2B5EF4-FFF2-40B4-BE49-F238E27FC236}">
                <a16:creationId xmlns:a16="http://schemas.microsoft.com/office/drawing/2014/main" id="{F3EDFF29-5743-8E26-94D6-56ED00B83C89}"/>
              </a:ext>
            </a:extLst>
          </p:cNvPr>
          <p:cNvSpPr>
            <a:spLocks noGrp="1"/>
          </p:cNvSpPr>
          <p:nvPr>
            <p:ph idx="1"/>
          </p:nvPr>
        </p:nvSpPr>
        <p:spPr/>
        <p:txBody>
          <a:bodyPr>
            <a:normAutofit fontScale="92500" lnSpcReduction="20000"/>
          </a:bodyPr>
          <a:lstStyle/>
          <a:p>
            <a:pPr marL="0" indent="0">
              <a:buNone/>
            </a:pPr>
            <a:r>
              <a:rPr lang="en-IN" dirty="0"/>
              <a:t>What is Interservice Communication?</a:t>
            </a:r>
          </a:p>
          <a:p>
            <a:pPr marL="0" indent="0">
              <a:buNone/>
            </a:pPr>
            <a:r>
              <a:rPr lang="en-US" dirty="0"/>
              <a:t> Interservice communication is the process by which microservices communicate with each other to fulfill a business request.</a:t>
            </a:r>
          </a:p>
          <a:p>
            <a:pPr marL="0" indent="0">
              <a:buNone/>
            </a:pPr>
            <a:endParaRPr lang="en-US" dirty="0"/>
          </a:p>
          <a:p>
            <a:pPr marL="0" indent="0">
              <a:buNone/>
            </a:pPr>
            <a:r>
              <a:rPr lang="en-US" dirty="0"/>
              <a:t>Example: Banking System</a:t>
            </a:r>
          </a:p>
          <a:p>
            <a:pPr marL="0" indent="0">
              <a:buNone/>
            </a:pPr>
            <a:r>
              <a:rPr lang="en-US" dirty="0"/>
              <a:t>When transferring money:</a:t>
            </a:r>
          </a:p>
          <a:p>
            <a:pPr lvl="2"/>
            <a:r>
              <a:rPr lang="en-US" dirty="0"/>
              <a:t>Transaction Service communicates with Account Service</a:t>
            </a:r>
          </a:p>
          <a:p>
            <a:pPr lvl="2"/>
            <a:r>
              <a:rPr lang="en-US" dirty="0"/>
              <a:t>Account Service communicates with Notification Service</a:t>
            </a:r>
          </a:p>
          <a:p>
            <a:pPr lvl="2"/>
            <a:r>
              <a:rPr lang="en-US" dirty="0"/>
              <a:t>Because each service is independent, communication is required.</a:t>
            </a:r>
          </a:p>
          <a:p>
            <a:pPr marL="0" indent="0">
              <a:buNone/>
            </a:pPr>
            <a:endParaRPr lang="en-IN" dirty="0"/>
          </a:p>
        </p:txBody>
      </p:sp>
    </p:spTree>
    <p:extLst>
      <p:ext uri="{BB962C8B-B14F-4D97-AF65-F5344CB8AC3E}">
        <p14:creationId xmlns:p14="http://schemas.microsoft.com/office/powerpoint/2010/main" val="38035876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7F038-1861-EBB5-C95C-4D0596BDC1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576740-3B8F-6192-17C0-5805F3FFDE36}"/>
              </a:ext>
            </a:extLst>
          </p:cNvPr>
          <p:cNvSpPr>
            <a:spLocks noGrp="1"/>
          </p:cNvSpPr>
          <p:nvPr>
            <p:ph type="title"/>
          </p:nvPr>
        </p:nvSpPr>
        <p:spPr/>
        <p:txBody>
          <a:bodyPr>
            <a:normAutofit fontScale="90000"/>
          </a:bodyPr>
          <a:lstStyle/>
          <a:p>
            <a:r>
              <a:rPr lang="en-IN" dirty="0"/>
              <a:t>Types of Interservice Communication</a:t>
            </a:r>
            <a:br>
              <a:rPr lang="en-IN" dirty="0"/>
            </a:br>
            <a:endParaRPr lang="en-IN" dirty="0"/>
          </a:p>
        </p:txBody>
      </p:sp>
      <p:sp>
        <p:nvSpPr>
          <p:cNvPr id="3" name="Content Placeholder 2">
            <a:extLst>
              <a:ext uri="{FF2B5EF4-FFF2-40B4-BE49-F238E27FC236}">
                <a16:creationId xmlns:a16="http://schemas.microsoft.com/office/drawing/2014/main" id="{F4299651-CEB1-92A2-EECF-25C8517B27BC}"/>
              </a:ext>
            </a:extLst>
          </p:cNvPr>
          <p:cNvSpPr>
            <a:spLocks noGrp="1"/>
          </p:cNvSpPr>
          <p:nvPr>
            <p:ph idx="1"/>
          </p:nvPr>
        </p:nvSpPr>
        <p:spPr/>
        <p:txBody>
          <a:bodyPr>
            <a:normAutofit/>
          </a:bodyPr>
          <a:lstStyle/>
          <a:p>
            <a:pPr marL="0" indent="0">
              <a:buNone/>
            </a:pPr>
            <a:r>
              <a:rPr lang="en-US" dirty="0"/>
              <a:t>There are two types:</a:t>
            </a:r>
          </a:p>
          <a:p>
            <a:r>
              <a:rPr lang="en-US" dirty="0"/>
              <a:t>Synchronous Communication (REST)</a:t>
            </a:r>
          </a:p>
          <a:p>
            <a:r>
              <a:rPr lang="en-US" dirty="0"/>
              <a:t>Asynchronous Communication (Kafka / Message Broker)</a:t>
            </a:r>
          </a:p>
          <a:p>
            <a:pPr marL="0" indent="0">
              <a:buNone/>
            </a:pPr>
            <a:endParaRPr lang="en-IN" dirty="0"/>
          </a:p>
        </p:txBody>
      </p:sp>
    </p:spTree>
    <p:extLst>
      <p:ext uri="{BB962C8B-B14F-4D97-AF65-F5344CB8AC3E}">
        <p14:creationId xmlns:p14="http://schemas.microsoft.com/office/powerpoint/2010/main" val="2393445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628-DC64-AD60-99E6-4B49C843C7F9}"/>
              </a:ext>
            </a:extLst>
          </p:cNvPr>
          <p:cNvSpPr>
            <a:spLocks noGrp="1"/>
          </p:cNvSpPr>
          <p:nvPr>
            <p:ph type="title"/>
          </p:nvPr>
        </p:nvSpPr>
        <p:spPr/>
        <p:txBody>
          <a:bodyPr>
            <a:normAutofit fontScale="90000"/>
          </a:bodyPr>
          <a:lstStyle/>
          <a:p>
            <a:r>
              <a:rPr lang="fr-FR" dirty="0"/>
              <a:t>Type 1: </a:t>
            </a:r>
            <a:r>
              <a:rPr lang="fr-FR" dirty="0" err="1"/>
              <a:t>Synchronous</a:t>
            </a:r>
            <a:r>
              <a:rPr lang="fr-FR" dirty="0"/>
              <a:t> Communication (REST)</a:t>
            </a:r>
            <a:endParaRPr lang="en-IN" dirty="0"/>
          </a:p>
        </p:txBody>
      </p:sp>
      <p:sp>
        <p:nvSpPr>
          <p:cNvPr id="3" name="Content Placeholder 2">
            <a:extLst>
              <a:ext uri="{FF2B5EF4-FFF2-40B4-BE49-F238E27FC236}">
                <a16:creationId xmlns:a16="http://schemas.microsoft.com/office/drawing/2014/main" id="{46CA2C05-EA87-EE3D-A026-AF349D8051C5}"/>
              </a:ext>
            </a:extLst>
          </p:cNvPr>
          <p:cNvSpPr>
            <a:spLocks noGrp="1"/>
          </p:cNvSpPr>
          <p:nvPr>
            <p:ph idx="1"/>
          </p:nvPr>
        </p:nvSpPr>
        <p:spPr/>
        <p:txBody>
          <a:bodyPr>
            <a:normAutofit fontScale="92500"/>
          </a:bodyPr>
          <a:lstStyle/>
          <a:p>
            <a:pPr marL="0" indent="0">
              <a:buNone/>
            </a:pPr>
            <a:r>
              <a:rPr lang="en-US" b="1" dirty="0"/>
              <a:t>Definition</a:t>
            </a:r>
          </a:p>
          <a:p>
            <a:pPr lvl="1"/>
            <a:r>
              <a:rPr lang="en-US" dirty="0"/>
              <a:t>In synchronous communication, one service calls another service using HTTP and waits for response.</a:t>
            </a:r>
          </a:p>
          <a:p>
            <a:pPr marL="0" indent="0">
              <a:buNone/>
            </a:pPr>
            <a:r>
              <a:rPr lang="en-US" dirty="0"/>
              <a:t>Example:</a:t>
            </a:r>
          </a:p>
          <a:p>
            <a:pPr lvl="1"/>
            <a:r>
              <a:rPr lang="en-US" dirty="0"/>
              <a:t>Transaction Service → calls → Account Service → waits for response</a:t>
            </a:r>
          </a:p>
          <a:p>
            <a:pPr marL="0" indent="0">
              <a:buNone/>
            </a:pPr>
            <a:r>
              <a:rPr lang="en-US" dirty="0"/>
              <a:t>Architecture:</a:t>
            </a:r>
          </a:p>
          <a:p>
            <a:pPr marL="0" indent="0">
              <a:buNone/>
            </a:pPr>
            <a:r>
              <a:rPr lang="en-US" dirty="0"/>
              <a:t>Transaction Service → Account Service → Response → Transaction Service</a:t>
            </a:r>
          </a:p>
          <a:p>
            <a:pPr marL="0" indent="0">
              <a:buNone/>
            </a:pPr>
            <a:endParaRPr lang="en-US" dirty="0"/>
          </a:p>
          <a:p>
            <a:endParaRPr lang="en-IN" dirty="0"/>
          </a:p>
        </p:txBody>
      </p:sp>
    </p:spTree>
    <p:extLst>
      <p:ext uri="{BB962C8B-B14F-4D97-AF65-F5344CB8AC3E}">
        <p14:creationId xmlns:p14="http://schemas.microsoft.com/office/powerpoint/2010/main" val="11815155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9047-944E-5CF3-D39E-9BA1B58B46F0}"/>
              </a:ext>
            </a:extLst>
          </p:cNvPr>
          <p:cNvSpPr>
            <a:spLocks noGrp="1"/>
          </p:cNvSpPr>
          <p:nvPr>
            <p:ph type="title"/>
          </p:nvPr>
        </p:nvSpPr>
        <p:spPr/>
        <p:txBody>
          <a:bodyPr/>
          <a:lstStyle/>
          <a:p>
            <a:r>
              <a:rPr lang="en-IN" dirty="0"/>
              <a:t>Real Banking Example</a:t>
            </a:r>
          </a:p>
        </p:txBody>
      </p:sp>
      <p:sp>
        <p:nvSpPr>
          <p:cNvPr id="3" name="Content Placeholder 2">
            <a:extLst>
              <a:ext uri="{FF2B5EF4-FFF2-40B4-BE49-F238E27FC236}">
                <a16:creationId xmlns:a16="http://schemas.microsoft.com/office/drawing/2014/main" id="{C7616330-586D-2B77-71FF-F0471CFC7EA9}"/>
              </a:ext>
            </a:extLst>
          </p:cNvPr>
          <p:cNvSpPr>
            <a:spLocks noGrp="1"/>
          </p:cNvSpPr>
          <p:nvPr>
            <p:ph idx="1"/>
          </p:nvPr>
        </p:nvSpPr>
        <p:spPr/>
        <p:txBody>
          <a:bodyPr>
            <a:normAutofit/>
          </a:bodyPr>
          <a:lstStyle/>
          <a:p>
            <a:pPr marL="0" indent="0">
              <a:buNone/>
            </a:pPr>
            <a:r>
              <a:rPr lang="en-IN" dirty="0"/>
              <a:t>Transfer Money Flow:</a:t>
            </a:r>
          </a:p>
          <a:p>
            <a:pPr marL="400050" lvl="1" indent="0">
              <a:buNone/>
            </a:pPr>
            <a:r>
              <a:rPr lang="fr-FR" dirty="0"/>
              <a:t>Transaction Service</a:t>
            </a:r>
          </a:p>
          <a:p>
            <a:pPr marL="400050" lvl="1" indent="0">
              <a:buNone/>
            </a:pPr>
            <a:r>
              <a:rPr lang="fr-FR" dirty="0"/>
              <a:t>      ↓</a:t>
            </a:r>
          </a:p>
          <a:p>
            <a:pPr marL="400050" lvl="1" indent="0">
              <a:buNone/>
            </a:pPr>
            <a:r>
              <a:rPr lang="fr-FR" dirty="0" err="1"/>
              <a:t>Account</a:t>
            </a:r>
            <a:r>
              <a:rPr lang="fr-FR" dirty="0"/>
              <a:t> Service (</a:t>
            </a:r>
            <a:r>
              <a:rPr lang="fr-FR" dirty="0" err="1"/>
              <a:t>debit</a:t>
            </a:r>
            <a:r>
              <a:rPr lang="fr-FR" dirty="0"/>
              <a:t>)</a:t>
            </a:r>
          </a:p>
          <a:p>
            <a:pPr marL="400050" lvl="1" indent="0">
              <a:buNone/>
            </a:pPr>
            <a:r>
              <a:rPr lang="fr-FR" dirty="0"/>
              <a:t>      ↓</a:t>
            </a:r>
          </a:p>
          <a:p>
            <a:pPr marL="400050" lvl="1" indent="0">
              <a:buNone/>
            </a:pPr>
            <a:r>
              <a:rPr lang="fr-FR" dirty="0" err="1"/>
              <a:t>Response</a:t>
            </a:r>
            <a:endParaRPr lang="fr-FR" dirty="0"/>
          </a:p>
          <a:p>
            <a:pPr marL="400050" lvl="1" indent="0">
              <a:buNone/>
            </a:pPr>
            <a:r>
              <a:rPr lang="fr-FR" dirty="0"/>
              <a:t>     ↓</a:t>
            </a:r>
          </a:p>
          <a:p>
            <a:pPr marL="400050" lvl="1" indent="0">
              <a:buNone/>
            </a:pPr>
            <a:r>
              <a:rPr lang="fr-FR" dirty="0"/>
              <a:t>Transaction Service continues</a:t>
            </a:r>
          </a:p>
          <a:p>
            <a:endParaRPr lang="en-IN" dirty="0"/>
          </a:p>
        </p:txBody>
      </p:sp>
    </p:spTree>
    <p:extLst>
      <p:ext uri="{BB962C8B-B14F-4D97-AF65-F5344CB8AC3E}">
        <p14:creationId xmlns:p14="http://schemas.microsoft.com/office/powerpoint/2010/main" val="29693398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ADFE5-F4C5-AC07-D3F3-159469DAFC09}"/>
              </a:ext>
            </a:extLst>
          </p:cNvPr>
          <p:cNvSpPr>
            <a:spLocks noGrp="1"/>
          </p:cNvSpPr>
          <p:nvPr>
            <p:ph type="title"/>
          </p:nvPr>
        </p:nvSpPr>
        <p:spPr/>
        <p:txBody>
          <a:bodyPr/>
          <a:lstStyle/>
          <a:p>
            <a:r>
              <a:rPr lang="en-IN" dirty="0"/>
              <a:t>Advantages and Disadvantages</a:t>
            </a:r>
          </a:p>
        </p:txBody>
      </p:sp>
      <p:sp>
        <p:nvSpPr>
          <p:cNvPr id="3" name="Content Placeholder 2">
            <a:extLst>
              <a:ext uri="{FF2B5EF4-FFF2-40B4-BE49-F238E27FC236}">
                <a16:creationId xmlns:a16="http://schemas.microsoft.com/office/drawing/2014/main" id="{71B6E7F9-672B-D574-0F8A-91D24FE944D6}"/>
              </a:ext>
            </a:extLst>
          </p:cNvPr>
          <p:cNvSpPr>
            <a:spLocks noGrp="1"/>
          </p:cNvSpPr>
          <p:nvPr>
            <p:ph idx="1"/>
          </p:nvPr>
        </p:nvSpPr>
        <p:spPr/>
        <p:txBody>
          <a:bodyPr>
            <a:normAutofit lnSpcReduction="10000"/>
          </a:bodyPr>
          <a:lstStyle/>
          <a:p>
            <a:pPr marL="0" indent="0">
              <a:buNone/>
            </a:pPr>
            <a:r>
              <a:rPr lang="en-US" b="1" dirty="0"/>
              <a:t>Advantages</a:t>
            </a:r>
          </a:p>
          <a:p>
            <a:pPr marL="400050" lvl="1" indent="0">
              <a:buNone/>
            </a:pPr>
            <a:r>
              <a:rPr lang="en-US" dirty="0"/>
              <a:t>Simple</a:t>
            </a:r>
            <a:br>
              <a:rPr lang="en-US" dirty="0"/>
            </a:br>
            <a:r>
              <a:rPr lang="en-US" dirty="0"/>
              <a:t>Easy to implement</a:t>
            </a:r>
            <a:br>
              <a:rPr lang="en-US" dirty="0"/>
            </a:br>
            <a:r>
              <a:rPr lang="en-US" dirty="0"/>
              <a:t>Immediate response</a:t>
            </a:r>
            <a:br>
              <a:rPr lang="en-US" dirty="0"/>
            </a:br>
            <a:r>
              <a:rPr lang="en-US" dirty="0"/>
              <a:t>Easy debugging</a:t>
            </a:r>
          </a:p>
          <a:p>
            <a:pPr marL="0" indent="0">
              <a:buNone/>
            </a:pPr>
            <a:r>
              <a:rPr lang="en-US" b="1" dirty="0"/>
              <a:t>Disadvantages</a:t>
            </a:r>
          </a:p>
          <a:p>
            <a:pPr marL="400050" lvl="1" indent="0">
              <a:buNone/>
            </a:pPr>
            <a:r>
              <a:rPr lang="en-US" dirty="0"/>
              <a:t>Tight coupling</a:t>
            </a:r>
            <a:br>
              <a:rPr lang="en-US" dirty="0"/>
            </a:br>
            <a:r>
              <a:rPr lang="en-US" dirty="0"/>
              <a:t>High latency</a:t>
            </a:r>
            <a:br>
              <a:rPr lang="en-US" dirty="0"/>
            </a:br>
            <a:r>
              <a:rPr lang="en-US" dirty="0"/>
              <a:t>Service dependency</a:t>
            </a:r>
            <a:br>
              <a:rPr lang="en-US" dirty="0"/>
            </a:br>
            <a:r>
              <a:rPr lang="en-US" dirty="0"/>
              <a:t>Cascade failure risk</a:t>
            </a:r>
          </a:p>
          <a:p>
            <a:endParaRPr lang="en-US" dirty="0"/>
          </a:p>
          <a:p>
            <a:endParaRPr lang="en-IN" dirty="0"/>
          </a:p>
        </p:txBody>
      </p:sp>
    </p:spTree>
    <p:extLst>
      <p:ext uri="{BB962C8B-B14F-4D97-AF65-F5344CB8AC3E}">
        <p14:creationId xmlns:p14="http://schemas.microsoft.com/office/powerpoint/2010/main" val="29827251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9F1C2-9EF9-BEEA-496D-EADC062717F7}"/>
              </a:ext>
            </a:extLst>
          </p:cNvPr>
          <p:cNvSpPr>
            <a:spLocks noGrp="1"/>
          </p:cNvSpPr>
          <p:nvPr>
            <p:ph type="title"/>
          </p:nvPr>
        </p:nvSpPr>
        <p:spPr/>
        <p:txBody>
          <a:bodyPr>
            <a:normAutofit fontScale="90000"/>
          </a:bodyPr>
          <a:lstStyle/>
          <a:p>
            <a:r>
              <a:rPr lang="fr-FR" dirty="0"/>
              <a:t>Type 2: </a:t>
            </a:r>
            <a:r>
              <a:rPr lang="fr-FR" dirty="0" err="1"/>
              <a:t>Asynchronous</a:t>
            </a:r>
            <a:r>
              <a:rPr lang="fr-FR" dirty="0"/>
              <a:t> Communication (Kafka)</a:t>
            </a:r>
            <a:endParaRPr lang="en-IN" dirty="0"/>
          </a:p>
        </p:txBody>
      </p:sp>
      <p:sp>
        <p:nvSpPr>
          <p:cNvPr id="3" name="Content Placeholder 2">
            <a:extLst>
              <a:ext uri="{FF2B5EF4-FFF2-40B4-BE49-F238E27FC236}">
                <a16:creationId xmlns:a16="http://schemas.microsoft.com/office/drawing/2014/main" id="{3821D2F4-C8A6-7BBC-4915-5144BE1BC90A}"/>
              </a:ext>
            </a:extLst>
          </p:cNvPr>
          <p:cNvSpPr>
            <a:spLocks noGrp="1"/>
          </p:cNvSpPr>
          <p:nvPr>
            <p:ph idx="1"/>
          </p:nvPr>
        </p:nvSpPr>
        <p:spPr/>
        <p:txBody>
          <a:bodyPr>
            <a:normAutofit lnSpcReduction="10000"/>
          </a:bodyPr>
          <a:lstStyle/>
          <a:p>
            <a:pPr marL="0" indent="0">
              <a:buNone/>
            </a:pPr>
            <a:r>
              <a:rPr lang="en-US" b="1" dirty="0"/>
              <a:t>Definition</a:t>
            </a:r>
          </a:p>
          <a:p>
            <a:pPr lvl="2"/>
            <a:r>
              <a:rPr lang="en-US" dirty="0"/>
              <a:t>In asynchronous communication, services communicate using events.</a:t>
            </a:r>
          </a:p>
          <a:p>
            <a:pPr lvl="2"/>
            <a:r>
              <a:rPr lang="en-US" dirty="0"/>
              <a:t>The sender does not wait for response.</a:t>
            </a:r>
          </a:p>
          <a:p>
            <a:pPr marL="0" indent="0">
              <a:buNone/>
            </a:pPr>
            <a:r>
              <a:rPr lang="en-US" dirty="0"/>
              <a:t>Architecture:</a:t>
            </a:r>
          </a:p>
          <a:p>
            <a:pPr marL="0" indent="0">
              <a:buNone/>
            </a:pPr>
            <a:r>
              <a:rPr lang="fr-FR" dirty="0"/>
              <a:t>Transaction Service → Kafka → Notification Service</a:t>
            </a:r>
          </a:p>
          <a:p>
            <a:r>
              <a:rPr lang="en-IN" dirty="0"/>
              <a:t>Transaction Service publishes event.</a:t>
            </a:r>
          </a:p>
          <a:p>
            <a:r>
              <a:rPr lang="en-IN" dirty="0"/>
              <a:t>Notification Service consumes event.</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9988899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B26C8-6E67-1AEB-8F77-1EA711665698}"/>
              </a:ext>
            </a:extLst>
          </p:cNvPr>
          <p:cNvSpPr>
            <a:spLocks noGrp="1"/>
          </p:cNvSpPr>
          <p:nvPr>
            <p:ph type="title"/>
          </p:nvPr>
        </p:nvSpPr>
        <p:spPr/>
        <p:txBody>
          <a:bodyPr/>
          <a:lstStyle/>
          <a:p>
            <a:r>
              <a:rPr lang="en-IN" dirty="0"/>
              <a:t>Real Banking Example</a:t>
            </a:r>
          </a:p>
        </p:txBody>
      </p:sp>
      <p:sp>
        <p:nvSpPr>
          <p:cNvPr id="3" name="Content Placeholder 2">
            <a:extLst>
              <a:ext uri="{FF2B5EF4-FFF2-40B4-BE49-F238E27FC236}">
                <a16:creationId xmlns:a16="http://schemas.microsoft.com/office/drawing/2014/main" id="{75CD7DFD-4A4D-691F-C3D2-A003D7C0A393}"/>
              </a:ext>
            </a:extLst>
          </p:cNvPr>
          <p:cNvSpPr>
            <a:spLocks noGrp="1"/>
          </p:cNvSpPr>
          <p:nvPr>
            <p:ph idx="1"/>
          </p:nvPr>
        </p:nvSpPr>
        <p:spPr/>
        <p:txBody>
          <a:bodyPr/>
          <a:lstStyle/>
          <a:p>
            <a:pPr marL="0" indent="0">
              <a:buNone/>
            </a:pPr>
            <a:r>
              <a:rPr lang="en-US" dirty="0"/>
              <a:t>Money transfer completed:</a:t>
            </a:r>
          </a:p>
          <a:p>
            <a:pPr marL="0" indent="0">
              <a:buNone/>
            </a:pPr>
            <a:r>
              <a:rPr lang="en-US" dirty="0"/>
              <a:t>Transaction Service publishes event:</a:t>
            </a:r>
          </a:p>
          <a:p>
            <a:pPr lvl="2"/>
            <a:r>
              <a:rPr lang="en-IN" dirty="0"/>
              <a:t>Transaction Completed</a:t>
            </a:r>
          </a:p>
          <a:p>
            <a:pPr marL="0" indent="0">
              <a:buNone/>
            </a:pPr>
            <a:r>
              <a:rPr lang="en-IN" dirty="0"/>
              <a:t>Notification Service consumes event:</a:t>
            </a:r>
          </a:p>
          <a:p>
            <a:pPr lvl="2">
              <a:buFont typeface="Arial" panose="020B0604020202020204" pitchFamily="34" charset="0"/>
              <a:buChar char="•"/>
            </a:pPr>
            <a:r>
              <a:rPr lang="en-IN" dirty="0"/>
              <a:t>Send Email / SMS</a:t>
            </a:r>
          </a:p>
          <a:p>
            <a:pPr marL="0" indent="0">
              <a:buNone/>
            </a:pPr>
            <a:endParaRPr lang="en-IN" dirty="0"/>
          </a:p>
        </p:txBody>
      </p:sp>
    </p:spTree>
    <p:extLst>
      <p:ext uri="{BB962C8B-B14F-4D97-AF65-F5344CB8AC3E}">
        <p14:creationId xmlns:p14="http://schemas.microsoft.com/office/powerpoint/2010/main" val="26826227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518A4-9290-C262-DBF9-FD7F89E1E9E2}"/>
              </a:ext>
            </a:extLst>
          </p:cNvPr>
          <p:cNvSpPr>
            <a:spLocks noGrp="1"/>
          </p:cNvSpPr>
          <p:nvPr>
            <p:ph type="title"/>
          </p:nvPr>
        </p:nvSpPr>
        <p:spPr/>
        <p:txBody>
          <a:bodyPr/>
          <a:lstStyle/>
          <a:p>
            <a:r>
              <a:rPr lang="en-IN" dirty="0"/>
              <a:t>Advantages and </a:t>
            </a:r>
            <a:r>
              <a:rPr lang="en-IN" dirty="0" err="1"/>
              <a:t>DisAdvantages</a:t>
            </a:r>
            <a:endParaRPr lang="en-IN" dirty="0"/>
          </a:p>
        </p:txBody>
      </p:sp>
      <p:sp>
        <p:nvSpPr>
          <p:cNvPr id="3" name="Content Placeholder 2">
            <a:extLst>
              <a:ext uri="{FF2B5EF4-FFF2-40B4-BE49-F238E27FC236}">
                <a16:creationId xmlns:a16="http://schemas.microsoft.com/office/drawing/2014/main" id="{BE064ECD-5E2D-D425-9E6D-CB3E5C05B0A5}"/>
              </a:ext>
            </a:extLst>
          </p:cNvPr>
          <p:cNvSpPr>
            <a:spLocks noGrp="1"/>
          </p:cNvSpPr>
          <p:nvPr>
            <p:ph idx="1"/>
          </p:nvPr>
        </p:nvSpPr>
        <p:spPr/>
        <p:txBody>
          <a:bodyPr>
            <a:normAutofit/>
          </a:bodyPr>
          <a:lstStyle/>
          <a:p>
            <a:pPr marL="0" indent="0">
              <a:buNone/>
            </a:pPr>
            <a:r>
              <a:rPr lang="en-US" b="1" dirty="0"/>
              <a:t>Advantages</a:t>
            </a:r>
          </a:p>
          <a:p>
            <a:pPr marL="400050" lvl="1" indent="0">
              <a:buNone/>
            </a:pPr>
            <a:r>
              <a:rPr lang="en-US" dirty="0"/>
              <a:t>Loose coupling</a:t>
            </a:r>
            <a:br>
              <a:rPr lang="en-US" dirty="0"/>
            </a:br>
            <a:r>
              <a:rPr lang="en-US" dirty="0"/>
              <a:t>Highly scalable</a:t>
            </a:r>
            <a:br>
              <a:rPr lang="en-US" dirty="0"/>
            </a:br>
            <a:r>
              <a:rPr lang="en-US" dirty="0"/>
              <a:t>Fault tolerant</a:t>
            </a:r>
            <a:br>
              <a:rPr lang="en-US" dirty="0"/>
            </a:br>
            <a:r>
              <a:rPr lang="en-US" dirty="0"/>
              <a:t>Fast response</a:t>
            </a:r>
          </a:p>
          <a:p>
            <a:pPr marL="0" indent="0">
              <a:buNone/>
            </a:pPr>
            <a:r>
              <a:rPr lang="en-US" b="1" dirty="0"/>
              <a:t>Disadvantages</a:t>
            </a:r>
          </a:p>
          <a:p>
            <a:pPr marL="400050" lvl="1" indent="0">
              <a:buNone/>
            </a:pPr>
            <a:r>
              <a:rPr lang="en-US" dirty="0"/>
              <a:t>Complex implementation</a:t>
            </a:r>
            <a:br>
              <a:rPr lang="en-US" dirty="0"/>
            </a:br>
            <a:r>
              <a:rPr lang="en-US" dirty="0"/>
              <a:t>Eventual consistency</a:t>
            </a:r>
            <a:br>
              <a:rPr lang="en-US" dirty="0"/>
            </a:br>
            <a:r>
              <a:rPr lang="en-US" dirty="0"/>
              <a:t>Debugging harder</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9730125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BD339-5316-87D7-2AA0-E455D1239DEC}"/>
              </a:ext>
            </a:extLst>
          </p:cNvPr>
          <p:cNvSpPr>
            <a:spLocks noGrp="1"/>
          </p:cNvSpPr>
          <p:nvPr>
            <p:ph type="title"/>
          </p:nvPr>
        </p:nvSpPr>
        <p:spPr/>
        <p:txBody>
          <a:bodyPr>
            <a:normAutofit fontScale="90000"/>
          </a:bodyPr>
          <a:lstStyle/>
          <a:p>
            <a:r>
              <a:rPr lang="en-IN" dirty="0"/>
              <a:t>Problems in Interservice Communication</a:t>
            </a:r>
          </a:p>
        </p:txBody>
      </p:sp>
      <p:sp>
        <p:nvSpPr>
          <p:cNvPr id="3" name="Content Placeholder 2">
            <a:extLst>
              <a:ext uri="{FF2B5EF4-FFF2-40B4-BE49-F238E27FC236}">
                <a16:creationId xmlns:a16="http://schemas.microsoft.com/office/drawing/2014/main" id="{61F16304-3A13-677A-1463-2CD8BCC9D573}"/>
              </a:ext>
            </a:extLst>
          </p:cNvPr>
          <p:cNvSpPr>
            <a:spLocks noGrp="1"/>
          </p:cNvSpPr>
          <p:nvPr>
            <p:ph idx="1"/>
          </p:nvPr>
        </p:nvSpPr>
        <p:spPr/>
        <p:txBody>
          <a:bodyPr/>
          <a:lstStyle/>
          <a:p>
            <a:pPr marL="0" indent="0">
              <a:buNone/>
            </a:pPr>
            <a:r>
              <a:rPr lang="en-IN" dirty="0"/>
              <a:t>Problem 1: Tight Coupling</a:t>
            </a:r>
          </a:p>
          <a:p>
            <a:pPr marL="0" indent="0">
              <a:buNone/>
            </a:pPr>
            <a:r>
              <a:rPr lang="en-US" dirty="0"/>
              <a:t>Definition:</a:t>
            </a:r>
          </a:p>
          <a:p>
            <a:pPr lvl="2"/>
            <a:r>
              <a:rPr lang="en-US" dirty="0"/>
              <a:t>Service depends heavily on another service.</a:t>
            </a:r>
          </a:p>
          <a:p>
            <a:pPr marL="0" indent="0">
              <a:buNone/>
            </a:pPr>
            <a:r>
              <a:rPr lang="en-US" dirty="0"/>
              <a:t>Example:</a:t>
            </a:r>
          </a:p>
          <a:p>
            <a:pPr lvl="2"/>
            <a:r>
              <a:rPr lang="en-US" dirty="0"/>
              <a:t>Transaction Service directly calls Account Service.</a:t>
            </a:r>
          </a:p>
          <a:p>
            <a:pPr lvl="2"/>
            <a:r>
              <a:rPr lang="en-US" dirty="0"/>
              <a:t>If Account Service is down → Transaction Service fails.</a:t>
            </a:r>
          </a:p>
          <a:p>
            <a:pPr marL="0" indent="0">
              <a:buNone/>
            </a:pPr>
            <a:endParaRPr lang="en-IN" dirty="0"/>
          </a:p>
        </p:txBody>
      </p:sp>
    </p:spTree>
    <p:extLst>
      <p:ext uri="{BB962C8B-B14F-4D97-AF65-F5344CB8AC3E}">
        <p14:creationId xmlns:p14="http://schemas.microsoft.com/office/powerpoint/2010/main" val="8509284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DF29E-7346-4C8B-91C0-CACA117519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3BE9F0-8F16-50CA-D2AE-9A71AB68832B}"/>
              </a:ext>
            </a:extLst>
          </p:cNvPr>
          <p:cNvSpPr>
            <a:spLocks noGrp="1"/>
          </p:cNvSpPr>
          <p:nvPr>
            <p:ph type="title"/>
          </p:nvPr>
        </p:nvSpPr>
        <p:spPr/>
        <p:txBody>
          <a:bodyPr>
            <a:normAutofit fontScale="90000"/>
          </a:bodyPr>
          <a:lstStyle/>
          <a:p>
            <a:r>
              <a:rPr lang="en-IN" dirty="0"/>
              <a:t>Problems in Interservice Communication</a:t>
            </a:r>
          </a:p>
        </p:txBody>
      </p:sp>
      <p:sp>
        <p:nvSpPr>
          <p:cNvPr id="3" name="Content Placeholder 2">
            <a:extLst>
              <a:ext uri="{FF2B5EF4-FFF2-40B4-BE49-F238E27FC236}">
                <a16:creationId xmlns:a16="http://schemas.microsoft.com/office/drawing/2014/main" id="{C94985F8-42A0-88D0-EBD3-05C09D252CF8}"/>
              </a:ext>
            </a:extLst>
          </p:cNvPr>
          <p:cNvSpPr>
            <a:spLocks noGrp="1"/>
          </p:cNvSpPr>
          <p:nvPr>
            <p:ph idx="1"/>
          </p:nvPr>
        </p:nvSpPr>
        <p:spPr/>
        <p:txBody>
          <a:bodyPr/>
          <a:lstStyle/>
          <a:p>
            <a:pPr marL="0" indent="0">
              <a:buNone/>
            </a:pPr>
            <a:r>
              <a:rPr lang="en-US" b="1" dirty="0"/>
              <a:t>Problem 2: Latency</a:t>
            </a:r>
          </a:p>
          <a:p>
            <a:pPr marL="0" indent="0">
              <a:buNone/>
            </a:pPr>
            <a:r>
              <a:rPr lang="en-US" dirty="0"/>
              <a:t>Definition:</a:t>
            </a:r>
          </a:p>
          <a:p>
            <a:pPr lvl="2"/>
            <a:r>
              <a:rPr lang="en-US" dirty="0"/>
              <a:t>Delay caused due to network communication.</a:t>
            </a:r>
          </a:p>
          <a:p>
            <a:pPr marL="0" indent="0">
              <a:buNone/>
            </a:pPr>
            <a:r>
              <a:rPr lang="en-US" dirty="0"/>
              <a:t>Example:</a:t>
            </a:r>
          </a:p>
          <a:p>
            <a:pPr lvl="2"/>
            <a:r>
              <a:rPr lang="en-US" dirty="0"/>
              <a:t>Transaction Service → Account Service → Customer Service → Response</a:t>
            </a:r>
          </a:p>
          <a:p>
            <a:pPr lvl="2"/>
            <a:r>
              <a:rPr lang="en-US" dirty="0"/>
              <a:t>Multiple network calls increase delay.</a:t>
            </a:r>
          </a:p>
          <a:p>
            <a:pPr marL="0" indent="0">
              <a:buNone/>
            </a:pPr>
            <a:endParaRPr lang="en-IN" dirty="0"/>
          </a:p>
        </p:txBody>
      </p:sp>
    </p:spTree>
    <p:extLst>
      <p:ext uri="{BB962C8B-B14F-4D97-AF65-F5344CB8AC3E}">
        <p14:creationId xmlns:p14="http://schemas.microsoft.com/office/powerpoint/2010/main" val="38518020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86047-5C81-E8EB-1BBB-64C0484321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22083-FA92-56FC-AF64-3A0463B6CFC5}"/>
              </a:ext>
            </a:extLst>
          </p:cNvPr>
          <p:cNvSpPr>
            <a:spLocks noGrp="1"/>
          </p:cNvSpPr>
          <p:nvPr>
            <p:ph type="title"/>
          </p:nvPr>
        </p:nvSpPr>
        <p:spPr/>
        <p:txBody>
          <a:bodyPr>
            <a:normAutofit fontScale="90000"/>
          </a:bodyPr>
          <a:lstStyle/>
          <a:p>
            <a:r>
              <a:rPr lang="en-IN" dirty="0"/>
              <a:t>Problems in Interservice Communication</a:t>
            </a:r>
          </a:p>
        </p:txBody>
      </p:sp>
      <p:sp>
        <p:nvSpPr>
          <p:cNvPr id="3" name="Content Placeholder 2">
            <a:extLst>
              <a:ext uri="{FF2B5EF4-FFF2-40B4-BE49-F238E27FC236}">
                <a16:creationId xmlns:a16="http://schemas.microsoft.com/office/drawing/2014/main" id="{875B19ED-C6B8-4A2A-699F-388F67371DEF}"/>
              </a:ext>
            </a:extLst>
          </p:cNvPr>
          <p:cNvSpPr>
            <a:spLocks noGrp="1"/>
          </p:cNvSpPr>
          <p:nvPr>
            <p:ph idx="1"/>
          </p:nvPr>
        </p:nvSpPr>
        <p:spPr/>
        <p:txBody>
          <a:bodyPr/>
          <a:lstStyle/>
          <a:p>
            <a:pPr marL="0" indent="0">
              <a:buNone/>
            </a:pPr>
            <a:r>
              <a:rPr lang="en-US" b="1" dirty="0"/>
              <a:t>Problem 3: Cascade Failure</a:t>
            </a:r>
          </a:p>
          <a:p>
            <a:pPr marL="0" indent="0">
              <a:buNone/>
            </a:pPr>
            <a:r>
              <a:rPr lang="en-US" dirty="0"/>
              <a:t>Example:</a:t>
            </a:r>
          </a:p>
          <a:p>
            <a:pPr lvl="2"/>
            <a:r>
              <a:rPr lang="en-US" dirty="0"/>
              <a:t>Service A → calls Service B → calls Service C</a:t>
            </a:r>
          </a:p>
          <a:p>
            <a:pPr lvl="2"/>
            <a:r>
              <a:rPr lang="en-US" dirty="0"/>
              <a:t>If C fails → B fails → A fails</a:t>
            </a:r>
          </a:p>
          <a:p>
            <a:r>
              <a:rPr lang="en-US" dirty="0"/>
              <a:t>Entire system fails.</a:t>
            </a:r>
          </a:p>
          <a:p>
            <a:pPr marL="0" indent="0">
              <a:buNone/>
            </a:pPr>
            <a:endParaRPr lang="en-IN" dirty="0"/>
          </a:p>
        </p:txBody>
      </p:sp>
    </p:spTree>
    <p:extLst>
      <p:ext uri="{BB962C8B-B14F-4D97-AF65-F5344CB8AC3E}">
        <p14:creationId xmlns:p14="http://schemas.microsoft.com/office/powerpoint/2010/main" val="33757306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612F0-53DB-3D47-ACC2-D2D4BD4D9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D2DD6B-43AB-5746-3992-7E5FCAEFFAEC}"/>
              </a:ext>
            </a:extLst>
          </p:cNvPr>
          <p:cNvSpPr>
            <a:spLocks noGrp="1"/>
          </p:cNvSpPr>
          <p:nvPr>
            <p:ph type="title"/>
          </p:nvPr>
        </p:nvSpPr>
        <p:spPr/>
        <p:txBody>
          <a:bodyPr>
            <a:normAutofit fontScale="90000"/>
          </a:bodyPr>
          <a:lstStyle/>
          <a:p>
            <a:r>
              <a:rPr lang="en-IN" dirty="0"/>
              <a:t>Problems in Interservice Communication</a:t>
            </a:r>
          </a:p>
        </p:txBody>
      </p:sp>
      <p:sp>
        <p:nvSpPr>
          <p:cNvPr id="3" name="Content Placeholder 2">
            <a:extLst>
              <a:ext uri="{FF2B5EF4-FFF2-40B4-BE49-F238E27FC236}">
                <a16:creationId xmlns:a16="http://schemas.microsoft.com/office/drawing/2014/main" id="{2A18BEBF-1575-FBC5-5773-91B9972E70E7}"/>
              </a:ext>
            </a:extLst>
          </p:cNvPr>
          <p:cNvSpPr>
            <a:spLocks noGrp="1"/>
          </p:cNvSpPr>
          <p:nvPr>
            <p:ph idx="1"/>
          </p:nvPr>
        </p:nvSpPr>
        <p:spPr/>
        <p:txBody>
          <a:bodyPr/>
          <a:lstStyle/>
          <a:p>
            <a:pPr marL="0" indent="0">
              <a:buNone/>
            </a:pPr>
            <a:r>
              <a:rPr lang="en-US" b="1" dirty="0"/>
              <a:t>Solution</a:t>
            </a:r>
          </a:p>
          <a:p>
            <a:pPr marL="0" indent="0">
              <a:buNone/>
            </a:pPr>
            <a:r>
              <a:rPr lang="en-US" dirty="0"/>
              <a:t>Use:</a:t>
            </a:r>
          </a:p>
          <a:p>
            <a:pPr marL="400050" lvl="1" indent="0">
              <a:buNone/>
            </a:pPr>
            <a:r>
              <a:rPr lang="en-US" dirty="0"/>
              <a:t>REST → for immediate response</a:t>
            </a:r>
            <a:br>
              <a:rPr lang="en-US" dirty="0"/>
            </a:br>
            <a:r>
              <a:rPr lang="en-US" dirty="0"/>
              <a:t>Kafka → for async operations</a:t>
            </a:r>
            <a:br>
              <a:rPr lang="en-US" dirty="0"/>
            </a:br>
            <a:r>
              <a:rPr lang="en-US" dirty="0"/>
              <a:t>Circuit breaker → for fault tolerance</a:t>
            </a:r>
          </a:p>
          <a:p>
            <a:pPr marL="0" indent="0">
              <a:buNone/>
            </a:pPr>
            <a:endParaRPr lang="en-IN" dirty="0"/>
          </a:p>
        </p:txBody>
      </p:sp>
    </p:spTree>
    <p:extLst>
      <p:ext uri="{BB962C8B-B14F-4D97-AF65-F5344CB8AC3E}">
        <p14:creationId xmlns:p14="http://schemas.microsoft.com/office/powerpoint/2010/main" val="240957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A625E-C7C3-EF0F-CF7E-389621AC1ECC}"/>
              </a:ext>
            </a:extLst>
          </p:cNvPr>
          <p:cNvSpPr>
            <a:spLocks noGrp="1"/>
          </p:cNvSpPr>
          <p:nvPr>
            <p:ph type="title"/>
          </p:nvPr>
        </p:nvSpPr>
        <p:spPr/>
        <p:txBody>
          <a:bodyPr/>
          <a:lstStyle/>
          <a:p>
            <a:r>
              <a:rPr lang="en-IN" dirty="0"/>
              <a:t>DEMO- Java &amp; </a:t>
            </a:r>
            <a:r>
              <a:rPr lang="en-IN" dirty="0" err="1"/>
              <a:t>SpringBoot</a:t>
            </a:r>
            <a:endParaRPr lang="en-IN" dirty="0"/>
          </a:p>
        </p:txBody>
      </p:sp>
      <p:sp>
        <p:nvSpPr>
          <p:cNvPr id="3" name="Content Placeholder 2">
            <a:extLst>
              <a:ext uri="{FF2B5EF4-FFF2-40B4-BE49-F238E27FC236}">
                <a16:creationId xmlns:a16="http://schemas.microsoft.com/office/drawing/2014/main" id="{306F4CCC-3CB1-D59F-0E0F-A56660FAA460}"/>
              </a:ext>
            </a:extLst>
          </p:cNvPr>
          <p:cNvSpPr>
            <a:spLocks noGrp="1"/>
          </p:cNvSpPr>
          <p:nvPr>
            <p:ph idx="1"/>
          </p:nvPr>
        </p:nvSpPr>
        <p:spPr/>
        <p:txBody>
          <a:bodyPr>
            <a:normAutofit fontScale="92500"/>
          </a:bodyPr>
          <a:lstStyle/>
          <a:p>
            <a:r>
              <a:rPr lang="en-IN" dirty="0"/>
              <a:t>I</a:t>
            </a:r>
            <a:r>
              <a:rPr lang="en-US" dirty="0"/>
              <a:t>n Java Based Microservices Environment, HTTP communication between different services is typically facilitated using the </a:t>
            </a:r>
            <a:r>
              <a:rPr lang="en-US" dirty="0" err="1"/>
              <a:t>RestTemplate</a:t>
            </a:r>
            <a:r>
              <a:rPr lang="en-US" dirty="0"/>
              <a:t> or </a:t>
            </a:r>
            <a:r>
              <a:rPr lang="en-US" dirty="0" err="1"/>
              <a:t>WebClient</a:t>
            </a:r>
            <a:r>
              <a:rPr lang="en-US" dirty="0"/>
              <a:t> libraries. In Spring Cloud Environment, this can be achieved using Open Feign.</a:t>
            </a:r>
          </a:p>
          <a:p>
            <a:r>
              <a:rPr lang="en-US" b="1" dirty="0" err="1"/>
              <a:t>RestTemplate</a:t>
            </a:r>
            <a:r>
              <a:rPr lang="en-US" dirty="0"/>
              <a:t>: </a:t>
            </a:r>
            <a:r>
              <a:rPr lang="en-US" dirty="0" err="1"/>
              <a:t>RestTemplate</a:t>
            </a:r>
            <a:r>
              <a:rPr lang="en-US" dirty="0"/>
              <a:t> is a synchronous, blocking HTTP client provided by the Spring framework. It offers a straightforward API for making HTTP requests and handling responses.</a:t>
            </a:r>
          </a:p>
          <a:p>
            <a:endParaRPr lang="en-IN" dirty="0"/>
          </a:p>
        </p:txBody>
      </p:sp>
    </p:spTree>
    <p:extLst>
      <p:ext uri="{BB962C8B-B14F-4D97-AF65-F5344CB8AC3E}">
        <p14:creationId xmlns:p14="http://schemas.microsoft.com/office/powerpoint/2010/main" val="25057136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4113E-11AB-8708-257E-0F4B4BFE50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AAE1F-DA09-2E4F-5AE6-20CF59B1EE1E}"/>
              </a:ext>
            </a:extLst>
          </p:cNvPr>
          <p:cNvSpPr>
            <a:spLocks noGrp="1"/>
          </p:cNvSpPr>
          <p:nvPr>
            <p:ph type="title"/>
          </p:nvPr>
        </p:nvSpPr>
        <p:spPr/>
        <p:txBody>
          <a:bodyPr/>
          <a:lstStyle/>
          <a:p>
            <a:r>
              <a:rPr lang="en-IN" dirty="0"/>
              <a:t>DEMO- Java &amp; </a:t>
            </a:r>
            <a:r>
              <a:rPr lang="en-IN" dirty="0" err="1"/>
              <a:t>SpringBoot</a:t>
            </a:r>
            <a:endParaRPr lang="en-IN" dirty="0"/>
          </a:p>
        </p:txBody>
      </p:sp>
      <p:sp>
        <p:nvSpPr>
          <p:cNvPr id="3" name="Content Placeholder 2">
            <a:extLst>
              <a:ext uri="{FF2B5EF4-FFF2-40B4-BE49-F238E27FC236}">
                <a16:creationId xmlns:a16="http://schemas.microsoft.com/office/drawing/2014/main" id="{DA69D9F9-8B30-2A12-EAF6-451CEEAB7878}"/>
              </a:ext>
            </a:extLst>
          </p:cNvPr>
          <p:cNvSpPr>
            <a:spLocks noGrp="1"/>
          </p:cNvSpPr>
          <p:nvPr>
            <p:ph idx="1"/>
          </p:nvPr>
        </p:nvSpPr>
        <p:spPr/>
        <p:txBody>
          <a:bodyPr>
            <a:normAutofit fontScale="85000" lnSpcReduction="10000"/>
          </a:bodyPr>
          <a:lstStyle/>
          <a:p>
            <a:r>
              <a:rPr lang="en-US" dirty="0"/>
              <a:t>As of Spring 5, </a:t>
            </a:r>
            <a:r>
              <a:rPr lang="en-US" dirty="0" err="1"/>
              <a:t>RestTemplate</a:t>
            </a:r>
            <a:r>
              <a:rPr lang="en-US" dirty="0"/>
              <a:t> has been deprecated in favor of </a:t>
            </a:r>
            <a:r>
              <a:rPr lang="en-US" dirty="0" err="1"/>
              <a:t>WebClient</a:t>
            </a:r>
            <a:r>
              <a:rPr lang="en-US" dirty="0"/>
              <a:t>, which is part of the Spring </a:t>
            </a:r>
            <a:r>
              <a:rPr lang="en-US" dirty="0" err="1"/>
              <a:t>WebFlux</a:t>
            </a:r>
            <a:r>
              <a:rPr lang="en-US" dirty="0"/>
              <a:t> module and provides a non-blocking, reactive approach to HTTP communication.</a:t>
            </a:r>
          </a:p>
          <a:p>
            <a:r>
              <a:rPr lang="en-US" b="1" dirty="0" err="1"/>
              <a:t>WebClient</a:t>
            </a:r>
            <a:r>
              <a:rPr lang="en-US" dirty="0"/>
              <a:t> (Preferred for Reactive Programming): </a:t>
            </a:r>
            <a:r>
              <a:rPr lang="en-US" dirty="0" err="1"/>
              <a:t>WebClient</a:t>
            </a:r>
            <a:r>
              <a:rPr lang="en-US" dirty="0"/>
              <a:t> is a non-blocking, reactive HTTP client introduced in Spring </a:t>
            </a:r>
            <a:r>
              <a:rPr lang="en-US" dirty="0" err="1"/>
              <a:t>WebFlux</a:t>
            </a:r>
            <a:r>
              <a:rPr lang="en-US" dirty="0"/>
              <a:t>. It is part of the Spring 5 and Spring Boot 2.x release. It is the preferred choice for making HTTP requests in reactive applications and supports both synchronous and asynchronous programming models.</a:t>
            </a:r>
            <a:endParaRPr lang="en-IN" dirty="0"/>
          </a:p>
        </p:txBody>
      </p:sp>
    </p:spTree>
    <p:extLst>
      <p:ext uri="{BB962C8B-B14F-4D97-AF65-F5344CB8AC3E}">
        <p14:creationId xmlns:p14="http://schemas.microsoft.com/office/powerpoint/2010/main" val="4568120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5C3EE-29C0-ED29-398A-FE2EF6C128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82DAE4-5068-015F-2E9F-66C30527C39B}"/>
              </a:ext>
            </a:extLst>
          </p:cNvPr>
          <p:cNvSpPr>
            <a:spLocks noGrp="1"/>
          </p:cNvSpPr>
          <p:nvPr>
            <p:ph type="title"/>
          </p:nvPr>
        </p:nvSpPr>
        <p:spPr/>
        <p:txBody>
          <a:bodyPr/>
          <a:lstStyle/>
          <a:p>
            <a:r>
              <a:rPr lang="en-IN" dirty="0"/>
              <a:t>DEMO- Java &amp; </a:t>
            </a:r>
            <a:r>
              <a:rPr lang="en-IN" dirty="0" err="1"/>
              <a:t>SpringBoot</a:t>
            </a:r>
            <a:endParaRPr lang="en-IN" dirty="0"/>
          </a:p>
        </p:txBody>
      </p:sp>
      <p:sp>
        <p:nvSpPr>
          <p:cNvPr id="3" name="Content Placeholder 2">
            <a:extLst>
              <a:ext uri="{FF2B5EF4-FFF2-40B4-BE49-F238E27FC236}">
                <a16:creationId xmlns:a16="http://schemas.microsoft.com/office/drawing/2014/main" id="{9CDE256C-9B71-01FD-FFBB-EB1447BE6FBF}"/>
              </a:ext>
            </a:extLst>
          </p:cNvPr>
          <p:cNvSpPr>
            <a:spLocks noGrp="1"/>
          </p:cNvSpPr>
          <p:nvPr>
            <p:ph idx="1"/>
          </p:nvPr>
        </p:nvSpPr>
        <p:spPr/>
        <p:txBody>
          <a:bodyPr>
            <a:normAutofit/>
          </a:bodyPr>
          <a:lstStyle/>
          <a:p>
            <a:r>
              <a:rPr lang="en-US" b="1" dirty="0"/>
              <a:t>Open Feign:</a:t>
            </a:r>
            <a:r>
              <a:rPr lang="en-US" dirty="0"/>
              <a:t> Feign is Web service Client developed by Netflix and integrated into </a:t>
            </a:r>
            <a:r>
              <a:rPr lang="en-US" b="1" dirty="0"/>
              <a:t>Spring Cloud Ecosystem</a:t>
            </a:r>
            <a:r>
              <a:rPr lang="en-US" dirty="0"/>
              <a:t>. Feign may be a preferred option when working with Spring-Cloud based Environments, Feign integrates Seamlessly with other Spring Cloud components like Service Registry (Eureka or Consul) and load balancing (Ribbon)</a:t>
            </a:r>
            <a:endParaRPr lang="en-IN" dirty="0"/>
          </a:p>
        </p:txBody>
      </p:sp>
    </p:spTree>
    <p:extLst>
      <p:ext uri="{BB962C8B-B14F-4D97-AF65-F5344CB8AC3E}">
        <p14:creationId xmlns:p14="http://schemas.microsoft.com/office/powerpoint/2010/main" val="1574164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0C957-B3EA-370D-970C-2C3EB349B5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859082-F2A2-5F96-843A-24A9887DC20A}"/>
              </a:ext>
            </a:extLst>
          </p:cNvPr>
          <p:cNvSpPr>
            <a:spLocks noGrp="1"/>
          </p:cNvSpPr>
          <p:nvPr>
            <p:ph type="title"/>
          </p:nvPr>
        </p:nvSpPr>
        <p:spPr/>
        <p:txBody>
          <a:bodyPr/>
          <a:lstStyle/>
          <a:p>
            <a:r>
              <a:rPr lang="en-IN" dirty="0"/>
              <a:t>DEMO- Java &amp; </a:t>
            </a:r>
            <a:r>
              <a:rPr lang="en-IN" dirty="0" err="1"/>
              <a:t>SpringBoot</a:t>
            </a:r>
            <a:endParaRPr lang="en-IN" dirty="0"/>
          </a:p>
        </p:txBody>
      </p:sp>
      <p:sp>
        <p:nvSpPr>
          <p:cNvPr id="3" name="Content Placeholder 2">
            <a:extLst>
              <a:ext uri="{FF2B5EF4-FFF2-40B4-BE49-F238E27FC236}">
                <a16:creationId xmlns:a16="http://schemas.microsoft.com/office/drawing/2014/main" id="{09ED9A15-12C0-BC2C-4EF1-B71F3520D136}"/>
              </a:ext>
            </a:extLst>
          </p:cNvPr>
          <p:cNvSpPr>
            <a:spLocks noGrp="1"/>
          </p:cNvSpPr>
          <p:nvPr>
            <p:ph idx="1"/>
          </p:nvPr>
        </p:nvSpPr>
        <p:spPr>
          <a:xfrm>
            <a:off x="706582" y="1417638"/>
            <a:ext cx="8229600" cy="4525963"/>
          </a:xfrm>
        </p:spPr>
        <p:txBody>
          <a:bodyPr>
            <a:normAutofit/>
          </a:bodyPr>
          <a:lstStyle/>
          <a:p>
            <a:pPr marL="0" indent="0">
              <a:buNone/>
            </a:pPr>
            <a:r>
              <a:rPr lang="en-US" b="1" dirty="0"/>
              <a:t>Open Feign:</a:t>
            </a:r>
            <a:r>
              <a:rPr lang="en-US" dirty="0"/>
              <a:t> </a:t>
            </a:r>
          </a:p>
          <a:p>
            <a:pPr marL="0" indent="0">
              <a:buNone/>
            </a:pPr>
            <a:r>
              <a:rPr lang="en-US" dirty="0"/>
              <a:t>Step 1- Add dependency</a:t>
            </a:r>
          </a:p>
          <a:p>
            <a:endParaRPr lang="en-IN" dirty="0"/>
          </a:p>
        </p:txBody>
      </p:sp>
      <p:pic>
        <p:nvPicPr>
          <p:cNvPr id="4098" name="Picture 2">
            <a:extLst>
              <a:ext uri="{FF2B5EF4-FFF2-40B4-BE49-F238E27FC236}">
                <a16:creationId xmlns:a16="http://schemas.microsoft.com/office/drawing/2014/main" id="{3E0BC44F-B751-4A10-2CAF-A6BA0AB62D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395" y="2738815"/>
            <a:ext cx="7419975" cy="2466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14727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40692-F1FF-26EE-D35A-54E896716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B9A16B-2619-A1D1-D8D5-18A6DA755780}"/>
              </a:ext>
            </a:extLst>
          </p:cNvPr>
          <p:cNvSpPr>
            <a:spLocks noGrp="1"/>
          </p:cNvSpPr>
          <p:nvPr>
            <p:ph type="title"/>
          </p:nvPr>
        </p:nvSpPr>
        <p:spPr/>
        <p:txBody>
          <a:bodyPr/>
          <a:lstStyle/>
          <a:p>
            <a:r>
              <a:rPr lang="en-IN" dirty="0"/>
              <a:t>DEMO- Java &amp; </a:t>
            </a:r>
            <a:r>
              <a:rPr lang="en-IN" dirty="0" err="1"/>
              <a:t>SpringBoot</a:t>
            </a:r>
            <a:endParaRPr lang="en-IN" dirty="0"/>
          </a:p>
        </p:txBody>
      </p:sp>
      <p:sp>
        <p:nvSpPr>
          <p:cNvPr id="3" name="Content Placeholder 2">
            <a:extLst>
              <a:ext uri="{FF2B5EF4-FFF2-40B4-BE49-F238E27FC236}">
                <a16:creationId xmlns:a16="http://schemas.microsoft.com/office/drawing/2014/main" id="{E3BCD356-5265-4D80-0CA2-C74289465963}"/>
              </a:ext>
            </a:extLst>
          </p:cNvPr>
          <p:cNvSpPr>
            <a:spLocks noGrp="1"/>
          </p:cNvSpPr>
          <p:nvPr>
            <p:ph idx="1"/>
          </p:nvPr>
        </p:nvSpPr>
        <p:spPr>
          <a:xfrm>
            <a:off x="706582" y="1417638"/>
            <a:ext cx="8229600" cy="4525963"/>
          </a:xfrm>
        </p:spPr>
        <p:txBody>
          <a:bodyPr>
            <a:normAutofit/>
          </a:bodyPr>
          <a:lstStyle/>
          <a:p>
            <a:pPr marL="0" indent="0">
              <a:buNone/>
            </a:pPr>
            <a:r>
              <a:rPr lang="en-US" b="1" dirty="0"/>
              <a:t>Open Feign:</a:t>
            </a:r>
            <a:r>
              <a:rPr lang="en-US" dirty="0"/>
              <a:t> </a:t>
            </a:r>
          </a:p>
          <a:p>
            <a:pPr marL="0" indent="0">
              <a:buNone/>
            </a:pPr>
            <a:r>
              <a:rPr lang="en-US" b="1" dirty="0"/>
              <a:t>Step 2:</a:t>
            </a:r>
            <a:r>
              <a:rPr lang="en-US" dirty="0"/>
              <a:t> Enable Feign Client In your Spring Boot application’s main class, annotate it with @EnableFeignClients to enable Feign client functionality. This annotation scans for interfaces annotated with @FeignClient and creates the client implementations automatically.</a:t>
            </a:r>
            <a:endParaRPr lang="en-IN" dirty="0"/>
          </a:p>
        </p:txBody>
      </p:sp>
      <p:pic>
        <p:nvPicPr>
          <p:cNvPr id="5122" name="Picture 2">
            <a:extLst>
              <a:ext uri="{FF2B5EF4-FFF2-40B4-BE49-F238E27FC236}">
                <a16:creationId xmlns:a16="http://schemas.microsoft.com/office/drawing/2014/main" id="{D57FC3F8-ED25-710F-F3AD-929DD5974B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3219" y="4933830"/>
            <a:ext cx="4138929" cy="1839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057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3F02B-84CD-5014-B62A-4C3B563EE3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8FC26-F9A7-C82C-87A4-EA208938DB82}"/>
              </a:ext>
            </a:extLst>
          </p:cNvPr>
          <p:cNvSpPr>
            <a:spLocks noGrp="1"/>
          </p:cNvSpPr>
          <p:nvPr>
            <p:ph type="title"/>
          </p:nvPr>
        </p:nvSpPr>
        <p:spPr/>
        <p:txBody>
          <a:bodyPr/>
          <a:lstStyle/>
          <a:p>
            <a:r>
              <a:rPr lang="en-IN" dirty="0"/>
              <a:t>DEMO- Java &amp; </a:t>
            </a:r>
            <a:r>
              <a:rPr lang="en-IN" dirty="0" err="1"/>
              <a:t>SpringBoot</a:t>
            </a:r>
            <a:endParaRPr lang="en-IN" dirty="0"/>
          </a:p>
        </p:txBody>
      </p:sp>
      <p:sp>
        <p:nvSpPr>
          <p:cNvPr id="3" name="Content Placeholder 2">
            <a:extLst>
              <a:ext uri="{FF2B5EF4-FFF2-40B4-BE49-F238E27FC236}">
                <a16:creationId xmlns:a16="http://schemas.microsoft.com/office/drawing/2014/main" id="{6A500A57-8ED4-8433-593B-EB46E0C56D59}"/>
              </a:ext>
            </a:extLst>
          </p:cNvPr>
          <p:cNvSpPr>
            <a:spLocks noGrp="1"/>
          </p:cNvSpPr>
          <p:nvPr>
            <p:ph idx="1"/>
          </p:nvPr>
        </p:nvSpPr>
        <p:spPr>
          <a:xfrm>
            <a:off x="706582" y="1417638"/>
            <a:ext cx="8229600" cy="4525963"/>
          </a:xfrm>
        </p:spPr>
        <p:txBody>
          <a:bodyPr>
            <a:normAutofit/>
          </a:bodyPr>
          <a:lstStyle/>
          <a:p>
            <a:pPr marL="0" indent="0">
              <a:buNone/>
            </a:pPr>
            <a:r>
              <a:rPr lang="en-US" b="1" dirty="0"/>
              <a:t>Open Feign:</a:t>
            </a:r>
            <a:r>
              <a:rPr lang="en-US" dirty="0"/>
              <a:t> </a:t>
            </a:r>
          </a:p>
          <a:p>
            <a:pPr marL="0" indent="0">
              <a:buNone/>
            </a:pPr>
            <a:r>
              <a:rPr lang="en-US" b="1" dirty="0"/>
              <a:t>Step 3:</a:t>
            </a:r>
            <a:r>
              <a:rPr lang="en-US" dirty="0"/>
              <a:t> Create a Feign client interface specifying the API contract</a:t>
            </a:r>
          </a:p>
          <a:p>
            <a:pPr marL="0" indent="0">
              <a:buNone/>
            </a:pPr>
            <a:endParaRPr lang="en-US" dirty="0"/>
          </a:p>
        </p:txBody>
      </p:sp>
      <p:pic>
        <p:nvPicPr>
          <p:cNvPr id="6146" name="Picture 2">
            <a:extLst>
              <a:ext uri="{FF2B5EF4-FFF2-40B4-BE49-F238E27FC236}">
                <a16:creationId xmlns:a16="http://schemas.microsoft.com/office/drawing/2014/main" id="{5463A42A-AB93-851C-0FA7-F98CC5C454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582" y="3330314"/>
            <a:ext cx="8115300" cy="2686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2272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3BFD9-9464-9205-B042-D91CBD2A06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9B4CB3-0079-DF17-1059-0DDA9C08C80E}"/>
              </a:ext>
            </a:extLst>
          </p:cNvPr>
          <p:cNvSpPr>
            <a:spLocks noGrp="1"/>
          </p:cNvSpPr>
          <p:nvPr>
            <p:ph type="title"/>
          </p:nvPr>
        </p:nvSpPr>
        <p:spPr/>
        <p:txBody>
          <a:bodyPr/>
          <a:lstStyle/>
          <a:p>
            <a:r>
              <a:rPr lang="en-IN" dirty="0"/>
              <a:t>DEMO- Java &amp; </a:t>
            </a:r>
            <a:r>
              <a:rPr lang="en-IN" dirty="0" err="1"/>
              <a:t>SpringBoot</a:t>
            </a:r>
            <a:endParaRPr lang="en-IN" dirty="0"/>
          </a:p>
        </p:txBody>
      </p:sp>
      <p:sp>
        <p:nvSpPr>
          <p:cNvPr id="3" name="Content Placeholder 2">
            <a:extLst>
              <a:ext uri="{FF2B5EF4-FFF2-40B4-BE49-F238E27FC236}">
                <a16:creationId xmlns:a16="http://schemas.microsoft.com/office/drawing/2014/main" id="{EE24090F-2F58-F343-F3B7-ECD79FAAB9F6}"/>
              </a:ext>
            </a:extLst>
          </p:cNvPr>
          <p:cNvSpPr>
            <a:spLocks noGrp="1"/>
          </p:cNvSpPr>
          <p:nvPr>
            <p:ph idx="1"/>
          </p:nvPr>
        </p:nvSpPr>
        <p:spPr>
          <a:xfrm>
            <a:off x="706582" y="1417638"/>
            <a:ext cx="8229600" cy="4525963"/>
          </a:xfrm>
        </p:spPr>
        <p:txBody>
          <a:bodyPr>
            <a:normAutofit/>
          </a:bodyPr>
          <a:lstStyle/>
          <a:p>
            <a:pPr marL="0" indent="0">
              <a:buNone/>
            </a:pPr>
            <a:r>
              <a:rPr lang="en-US" b="1" dirty="0"/>
              <a:t>Open Feign:</a:t>
            </a:r>
            <a:r>
              <a:rPr lang="en-US" dirty="0"/>
              <a:t> </a:t>
            </a:r>
          </a:p>
          <a:p>
            <a:pPr marL="0" indent="0">
              <a:buNone/>
            </a:pPr>
            <a:r>
              <a:rPr lang="en-US" b="1" dirty="0"/>
              <a:t>Step 3:</a:t>
            </a:r>
            <a:r>
              <a:rPr lang="en-US" dirty="0"/>
              <a:t> Create a Feign client interface specifying the API contract</a:t>
            </a:r>
          </a:p>
          <a:p>
            <a:pPr marL="0" indent="0">
              <a:buNone/>
            </a:pPr>
            <a:endParaRPr lang="en-US" dirty="0"/>
          </a:p>
        </p:txBody>
      </p:sp>
      <p:pic>
        <p:nvPicPr>
          <p:cNvPr id="6146" name="Picture 2">
            <a:extLst>
              <a:ext uri="{FF2B5EF4-FFF2-40B4-BE49-F238E27FC236}">
                <a16:creationId xmlns:a16="http://schemas.microsoft.com/office/drawing/2014/main" id="{79F8050B-E238-BBFE-22AB-74EED45084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582" y="3330314"/>
            <a:ext cx="8115300" cy="2686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26268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5194B-51D7-8DEA-D07D-5D5AC208D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855E8-E4B0-9E47-489F-17C0285FCD22}"/>
              </a:ext>
            </a:extLst>
          </p:cNvPr>
          <p:cNvSpPr>
            <a:spLocks noGrp="1"/>
          </p:cNvSpPr>
          <p:nvPr>
            <p:ph type="title"/>
          </p:nvPr>
        </p:nvSpPr>
        <p:spPr/>
        <p:txBody>
          <a:bodyPr/>
          <a:lstStyle/>
          <a:p>
            <a:r>
              <a:rPr lang="en-IN" dirty="0"/>
              <a:t>DEMO- Java &amp; </a:t>
            </a:r>
            <a:r>
              <a:rPr lang="en-IN" dirty="0" err="1"/>
              <a:t>SpringBoot</a:t>
            </a:r>
            <a:endParaRPr lang="en-IN" dirty="0"/>
          </a:p>
        </p:txBody>
      </p:sp>
      <p:sp>
        <p:nvSpPr>
          <p:cNvPr id="3" name="Content Placeholder 2">
            <a:extLst>
              <a:ext uri="{FF2B5EF4-FFF2-40B4-BE49-F238E27FC236}">
                <a16:creationId xmlns:a16="http://schemas.microsoft.com/office/drawing/2014/main" id="{DC90F581-102E-28C6-2C55-9F538DE4EEFF}"/>
              </a:ext>
            </a:extLst>
          </p:cNvPr>
          <p:cNvSpPr>
            <a:spLocks noGrp="1"/>
          </p:cNvSpPr>
          <p:nvPr>
            <p:ph idx="1"/>
          </p:nvPr>
        </p:nvSpPr>
        <p:spPr>
          <a:xfrm>
            <a:off x="706582" y="1417638"/>
            <a:ext cx="8229600" cy="4525963"/>
          </a:xfrm>
        </p:spPr>
        <p:txBody>
          <a:bodyPr>
            <a:normAutofit/>
          </a:bodyPr>
          <a:lstStyle/>
          <a:p>
            <a:pPr marL="0" indent="0">
              <a:buNone/>
            </a:pPr>
            <a:r>
              <a:rPr lang="en-US" sz="2400" b="1" dirty="0"/>
              <a:t>Open Feign:</a:t>
            </a:r>
            <a:r>
              <a:rPr lang="en-US" sz="2400" dirty="0"/>
              <a:t> </a:t>
            </a:r>
          </a:p>
          <a:p>
            <a:pPr marL="0" indent="0">
              <a:buNone/>
            </a:pPr>
            <a:r>
              <a:rPr lang="en-US" sz="2400" b="1" dirty="0"/>
              <a:t>Step 4:</a:t>
            </a:r>
            <a:r>
              <a:rPr lang="en-US" sz="2400" dirty="0"/>
              <a:t> Use the Feign Client</a:t>
            </a:r>
          </a:p>
          <a:p>
            <a:r>
              <a:rPr lang="en-US" sz="2400" dirty="0"/>
              <a:t>In the service or controller, inject the Feign client interface and use it to make requests to the target microservice.</a:t>
            </a:r>
          </a:p>
          <a:p>
            <a:r>
              <a:rPr lang="en-US" sz="2400" dirty="0"/>
              <a:t>Press enter or click to view image in full size</a:t>
            </a:r>
            <a:br>
              <a:rPr lang="en-US" sz="2400" dirty="0"/>
            </a:br>
            <a:endParaRPr lang="en-US" sz="2400" dirty="0"/>
          </a:p>
        </p:txBody>
      </p:sp>
      <p:pic>
        <p:nvPicPr>
          <p:cNvPr id="7170" name="Picture 2">
            <a:extLst>
              <a:ext uri="{FF2B5EF4-FFF2-40B4-BE49-F238E27FC236}">
                <a16:creationId xmlns:a16="http://schemas.microsoft.com/office/drawing/2014/main" id="{0FCCAF05-8A42-26DF-EDF0-0132064F2F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8338" y="3544105"/>
            <a:ext cx="4096290" cy="321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2902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API Gateway Pattern</a:t>
            </a:r>
          </a:p>
        </p:txBody>
      </p:sp>
      <p:sp>
        <p:nvSpPr>
          <p:cNvPr id="3" name="Content Placeholder 2"/>
          <p:cNvSpPr>
            <a:spLocks noGrp="1"/>
          </p:cNvSpPr>
          <p:nvPr>
            <p:ph idx="1"/>
          </p:nvPr>
        </p:nvSpPr>
        <p:spPr/>
        <p:txBody>
          <a:bodyPr/>
          <a:lstStyle/>
          <a:p>
            <a:r>
              <a:t>Single entry point</a:t>
            </a:r>
          </a:p>
          <a:p>
            <a:r>
              <a:t>Routes requests to services</a:t>
            </a:r>
          </a:p>
          <a:p>
            <a:r>
              <a:t>Handles authentication</a:t>
            </a:r>
          </a:p>
          <a:p>
            <a:r>
              <a:t>Handles rate limiting</a:t>
            </a:r>
          </a:p>
          <a:p>
            <a:r>
              <a:t>Improves security</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Service Discovery Pattern</a:t>
            </a:r>
          </a:p>
        </p:txBody>
      </p:sp>
      <p:sp>
        <p:nvSpPr>
          <p:cNvPr id="3" name="Content Placeholder 2"/>
          <p:cNvSpPr>
            <a:spLocks noGrp="1"/>
          </p:cNvSpPr>
          <p:nvPr>
            <p:ph idx="1"/>
          </p:nvPr>
        </p:nvSpPr>
        <p:spPr/>
        <p:txBody>
          <a:bodyPr/>
          <a:lstStyle/>
          <a:p>
            <a:r>
              <a:t>Automatically detects services</a:t>
            </a:r>
          </a:p>
          <a:p>
            <a:r>
              <a:t>Removes hardcoded URLs</a:t>
            </a:r>
          </a:p>
          <a:p>
            <a:r>
              <a:t>Uses service registry like Eureka</a:t>
            </a:r>
          </a:p>
          <a:p>
            <a:r>
              <a:t>Improves scalability</a:t>
            </a:r>
          </a:p>
          <a:p>
            <a:r>
              <a:t>Improves flexibility</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Database per Service Pattern</a:t>
            </a:r>
          </a:p>
        </p:txBody>
      </p:sp>
      <p:sp>
        <p:nvSpPr>
          <p:cNvPr id="3" name="Content Placeholder 2"/>
          <p:cNvSpPr>
            <a:spLocks noGrp="1"/>
          </p:cNvSpPr>
          <p:nvPr>
            <p:ph idx="1"/>
          </p:nvPr>
        </p:nvSpPr>
        <p:spPr/>
        <p:txBody>
          <a:bodyPr/>
          <a:lstStyle/>
          <a:p>
            <a:r>
              <a:t>Each service owns its database</a:t>
            </a:r>
          </a:p>
          <a:p>
            <a:r>
              <a:t>Avoid shared database</a:t>
            </a:r>
          </a:p>
          <a:p>
            <a:r>
              <a:t>Loose coupling</a:t>
            </a:r>
          </a:p>
          <a:p>
            <a:r>
              <a:t>Independent scaling</a:t>
            </a:r>
          </a:p>
          <a:p>
            <a:r>
              <a:t>Better fault isolation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Communication Types</a:t>
            </a:r>
          </a:p>
        </p:txBody>
      </p:sp>
      <p:sp>
        <p:nvSpPr>
          <p:cNvPr id="3" name="Content Placeholder 2"/>
          <p:cNvSpPr>
            <a:spLocks noGrp="1"/>
          </p:cNvSpPr>
          <p:nvPr>
            <p:ph idx="1"/>
          </p:nvPr>
        </p:nvSpPr>
        <p:spPr/>
        <p:txBody>
          <a:bodyPr/>
          <a:lstStyle/>
          <a:p>
            <a:r>
              <a:t>Synchronous Communication</a:t>
            </a:r>
          </a:p>
          <a:p>
            <a:pPr lvl="1"/>
            <a:r>
              <a:t>REST APIs</a:t>
            </a:r>
          </a:p>
          <a:p>
            <a:r>
              <a:t>Asynchronous Communication</a:t>
            </a:r>
          </a:p>
          <a:p>
            <a:pPr lvl="1"/>
            <a:r>
              <a:t>Kafka Events</a:t>
            </a:r>
          </a:p>
          <a:p>
            <a:r>
              <a:t>Improves scalability</a:t>
            </a:r>
          </a:p>
          <a:p>
            <a:r>
              <a:t>Improves decoupling</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843F7-23E0-6849-8FCF-8777A19CAA61}"/>
              </a:ext>
            </a:extLst>
          </p:cNvPr>
          <p:cNvSpPr>
            <a:spLocks noGrp="1"/>
          </p:cNvSpPr>
          <p:nvPr>
            <p:ph type="title"/>
          </p:nvPr>
        </p:nvSpPr>
        <p:spPr/>
        <p:txBody>
          <a:bodyPr>
            <a:normAutofit fontScale="90000"/>
          </a:bodyPr>
          <a:lstStyle/>
          <a:p>
            <a:r>
              <a:rPr lang="en-IN" dirty="0"/>
              <a:t>Resilience Patterns &amp; Fault Tolerance</a:t>
            </a:r>
          </a:p>
        </p:txBody>
      </p:sp>
      <p:sp>
        <p:nvSpPr>
          <p:cNvPr id="3" name="Content Placeholder 2">
            <a:extLst>
              <a:ext uri="{FF2B5EF4-FFF2-40B4-BE49-F238E27FC236}">
                <a16:creationId xmlns:a16="http://schemas.microsoft.com/office/drawing/2014/main" id="{8E366764-D6CA-D5CC-E551-8E68A1ABF5AC}"/>
              </a:ext>
            </a:extLst>
          </p:cNvPr>
          <p:cNvSpPr>
            <a:spLocks noGrp="1"/>
          </p:cNvSpPr>
          <p:nvPr>
            <p:ph idx="1"/>
          </p:nvPr>
        </p:nvSpPr>
        <p:spPr/>
        <p:txBody>
          <a:bodyPr/>
          <a:lstStyle/>
          <a:p>
            <a:r>
              <a:rPr lang="en-IN" dirty="0"/>
              <a:t>• Understand distributed system failures</a:t>
            </a:r>
            <a:br>
              <a:rPr lang="en-IN" dirty="0"/>
            </a:br>
            <a:r>
              <a:rPr lang="en-IN" dirty="0"/>
              <a:t>• Implement Circuit Breaker</a:t>
            </a:r>
            <a:br>
              <a:rPr lang="en-IN" dirty="0"/>
            </a:br>
            <a:r>
              <a:rPr lang="en-IN" dirty="0"/>
              <a:t>• Implement Retry pattern</a:t>
            </a:r>
            <a:br>
              <a:rPr lang="en-IN" dirty="0"/>
            </a:br>
            <a:r>
              <a:rPr lang="en-IN" dirty="0"/>
              <a:t>• Implement Timeout pattern</a:t>
            </a:r>
            <a:br>
              <a:rPr lang="en-IN" dirty="0"/>
            </a:br>
            <a:r>
              <a:rPr lang="en-IN" dirty="0"/>
              <a:t>• Implement Bulkhead pattern</a:t>
            </a:r>
            <a:br>
              <a:rPr lang="en-IN" dirty="0"/>
            </a:br>
            <a:r>
              <a:rPr lang="en-IN" dirty="0"/>
              <a:t>• Implement Fallback pattern</a:t>
            </a:r>
            <a:br>
              <a:rPr lang="en-IN" dirty="0"/>
            </a:br>
            <a:r>
              <a:rPr lang="en-IN" dirty="0"/>
              <a:t>• Simulate failures and observe resilience</a:t>
            </a:r>
            <a:br>
              <a:rPr lang="en-IN" dirty="0"/>
            </a:br>
            <a:r>
              <a:rPr lang="en-IN" dirty="0"/>
              <a:t>• Build production-ready fault tolerant microservices</a:t>
            </a:r>
          </a:p>
        </p:txBody>
      </p:sp>
    </p:spTree>
    <p:extLst>
      <p:ext uri="{BB962C8B-B14F-4D97-AF65-F5344CB8AC3E}">
        <p14:creationId xmlns:p14="http://schemas.microsoft.com/office/powerpoint/2010/main" val="41592132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54984-9691-714D-A919-F439A556B55D}"/>
              </a:ext>
            </a:extLst>
          </p:cNvPr>
          <p:cNvSpPr>
            <a:spLocks noGrp="1"/>
          </p:cNvSpPr>
          <p:nvPr>
            <p:ph type="title"/>
          </p:nvPr>
        </p:nvSpPr>
        <p:spPr/>
        <p:txBody>
          <a:bodyPr/>
          <a:lstStyle/>
          <a:p>
            <a:r>
              <a:rPr lang="en-IN" dirty="0"/>
              <a:t>What is Fault Tolerance?</a:t>
            </a:r>
          </a:p>
        </p:txBody>
      </p:sp>
      <p:sp>
        <p:nvSpPr>
          <p:cNvPr id="3" name="Content Placeholder 2">
            <a:extLst>
              <a:ext uri="{FF2B5EF4-FFF2-40B4-BE49-F238E27FC236}">
                <a16:creationId xmlns:a16="http://schemas.microsoft.com/office/drawing/2014/main" id="{64A1107D-D8F0-45BF-4337-8C43A78816C1}"/>
              </a:ext>
            </a:extLst>
          </p:cNvPr>
          <p:cNvSpPr>
            <a:spLocks noGrp="1"/>
          </p:cNvSpPr>
          <p:nvPr>
            <p:ph idx="1"/>
          </p:nvPr>
        </p:nvSpPr>
        <p:spPr/>
        <p:txBody>
          <a:bodyPr/>
          <a:lstStyle/>
          <a:p>
            <a:pPr marL="0" indent="0">
              <a:buNone/>
            </a:pPr>
            <a:r>
              <a:rPr lang="en-US" dirty="0"/>
              <a:t>Fault tolerance = ability of system to continue working even when failures occur.</a:t>
            </a:r>
            <a:endParaRPr lang="en-IN" dirty="0"/>
          </a:p>
        </p:txBody>
      </p:sp>
    </p:spTree>
    <p:extLst>
      <p:ext uri="{BB962C8B-B14F-4D97-AF65-F5344CB8AC3E}">
        <p14:creationId xmlns:p14="http://schemas.microsoft.com/office/powerpoint/2010/main" val="22450974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4615C-423D-FA90-FA26-5AAEDC3BE082}"/>
              </a:ext>
            </a:extLst>
          </p:cNvPr>
          <p:cNvSpPr>
            <a:spLocks noGrp="1"/>
          </p:cNvSpPr>
          <p:nvPr>
            <p:ph type="title"/>
          </p:nvPr>
        </p:nvSpPr>
        <p:spPr/>
        <p:txBody>
          <a:bodyPr>
            <a:normAutofit fontScale="90000"/>
          </a:bodyPr>
          <a:lstStyle/>
          <a:p>
            <a:r>
              <a:rPr lang="en-US" dirty="0"/>
              <a:t>Why failures happen in Microservices?</a:t>
            </a:r>
            <a:endParaRPr lang="en-IN" dirty="0"/>
          </a:p>
        </p:txBody>
      </p:sp>
      <p:sp>
        <p:nvSpPr>
          <p:cNvPr id="3" name="Content Placeholder 2">
            <a:extLst>
              <a:ext uri="{FF2B5EF4-FFF2-40B4-BE49-F238E27FC236}">
                <a16:creationId xmlns:a16="http://schemas.microsoft.com/office/drawing/2014/main" id="{FE1AAC13-827D-C908-DF28-57413F56B17A}"/>
              </a:ext>
            </a:extLst>
          </p:cNvPr>
          <p:cNvSpPr>
            <a:spLocks noGrp="1"/>
          </p:cNvSpPr>
          <p:nvPr>
            <p:ph idx="1"/>
          </p:nvPr>
        </p:nvSpPr>
        <p:spPr/>
        <p:txBody>
          <a:bodyPr/>
          <a:lstStyle/>
          <a:p>
            <a:r>
              <a:rPr lang="en-US" dirty="0"/>
              <a:t>Because services communicate over network.</a:t>
            </a:r>
          </a:p>
          <a:p>
            <a:r>
              <a:rPr lang="en-US" dirty="0"/>
              <a:t>Failures are inevitable.</a:t>
            </a:r>
          </a:p>
          <a:p>
            <a:endParaRPr lang="en-IN" dirty="0"/>
          </a:p>
        </p:txBody>
      </p:sp>
    </p:spTree>
    <p:extLst>
      <p:ext uri="{BB962C8B-B14F-4D97-AF65-F5344CB8AC3E}">
        <p14:creationId xmlns:p14="http://schemas.microsoft.com/office/powerpoint/2010/main" val="34088246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A99EE-8EA1-6345-587D-D25083093899}"/>
              </a:ext>
            </a:extLst>
          </p:cNvPr>
          <p:cNvSpPr>
            <a:spLocks noGrp="1"/>
          </p:cNvSpPr>
          <p:nvPr>
            <p:ph type="title"/>
          </p:nvPr>
        </p:nvSpPr>
        <p:spPr/>
        <p:txBody>
          <a:bodyPr/>
          <a:lstStyle/>
          <a:p>
            <a:r>
              <a:rPr lang="en-IN" dirty="0"/>
              <a:t>Types of Failures</a:t>
            </a:r>
          </a:p>
        </p:txBody>
      </p:sp>
      <p:sp>
        <p:nvSpPr>
          <p:cNvPr id="3" name="Content Placeholder 2">
            <a:extLst>
              <a:ext uri="{FF2B5EF4-FFF2-40B4-BE49-F238E27FC236}">
                <a16:creationId xmlns:a16="http://schemas.microsoft.com/office/drawing/2014/main" id="{3E838FF5-0BCD-1400-E452-9B34A7F42721}"/>
              </a:ext>
            </a:extLst>
          </p:cNvPr>
          <p:cNvSpPr>
            <a:spLocks noGrp="1"/>
          </p:cNvSpPr>
          <p:nvPr>
            <p:ph idx="1"/>
          </p:nvPr>
        </p:nvSpPr>
        <p:spPr/>
        <p:txBody>
          <a:bodyPr>
            <a:normAutofit fontScale="92500" lnSpcReduction="20000"/>
          </a:bodyPr>
          <a:lstStyle/>
          <a:p>
            <a:pPr marL="0" indent="0">
              <a:buNone/>
            </a:pPr>
            <a:r>
              <a:rPr lang="en-IN" dirty="0"/>
              <a:t>1. Service Failure</a:t>
            </a:r>
          </a:p>
          <a:p>
            <a:r>
              <a:rPr lang="en-IN" dirty="0"/>
              <a:t>Service crashes or stops.</a:t>
            </a:r>
          </a:p>
          <a:p>
            <a:pPr marL="0" indent="0">
              <a:buNone/>
            </a:pPr>
            <a:r>
              <a:rPr lang="en-US" dirty="0"/>
              <a:t>Example:</a:t>
            </a:r>
          </a:p>
          <a:p>
            <a:pPr marL="0" indent="0">
              <a:buNone/>
            </a:pPr>
            <a:r>
              <a:rPr lang="en-US" dirty="0"/>
              <a:t>Customer Service down.</a:t>
            </a:r>
          </a:p>
          <a:p>
            <a:pPr marL="0" indent="0">
              <a:buNone/>
            </a:pPr>
            <a:r>
              <a:rPr lang="en-US" dirty="0"/>
              <a:t>Order Service calling:</a:t>
            </a:r>
          </a:p>
          <a:p>
            <a:pPr lvl="2"/>
            <a:r>
              <a:rPr lang="en-US" dirty="0"/>
              <a:t>GET http://localhost:8081/customers/1</a:t>
            </a:r>
          </a:p>
          <a:p>
            <a:r>
              <a:rPr lang="en-IN" dirty="0"/>
              <a:t>Result:</a:t>
            </a:r>
          </a:p>
          <a:p>
            <a:pPr lvl="2"/>
            <a:r>
              <a:rPr lang="en-US" dirty="0"/>
              <a:t>Connection refused</a:t>
            </a:r>
          </a:p>
          <a:p>
            <a:pPr marL="0" indent="0">
              <a:buNone/>
            </a:pPr>
            <a:r>
              <a:rPr lang="en-US" dirty="0"/>
              <a:t>Real example:</a:t>
            </a:r>
          </a:p>
          <a:p>
            <a:pPr lvl="2"/>
            <a:r>
              <a:rPr lang="en-US" dirty="0"/>
              <a:t>Swiggy order placed → restaurant service down → order fails</a:t>
            </a:r>
          </a:p>
          <a:p>
            <a:pPr marL="914400" lvl="2" indent="0">
              <a:buNone/>
            </a:pPr>
            <a:endParaRPr lang="en-US" dirty="0"/>
          </a:p>
          <a:p>
            <a:endParaRPr lang="en-US" dirty="0"/>
          </a:p>
          <a:p>
            <a:endParaRPr lang="en-IN" dirty="0"/>
          </a:p>
        </p:txBody>
      </p:sp>
    </p:spTree>
    <p:extLst>
      <p:ext uri="{BB962C8B-B14F-4D97-AF65-F5344CB8AC3E}">
        <p14:creationId xmlns:p14="http://schemas.microsoft.com/office/powerpoint/2010/main" val="12618189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DDE97-C01D-0B47-89C0-575CADE767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D113F-26CA-27BC-A248-C3C5439DECD7}"/>
              </a:ext>
            </a:extLst>
          </p:cNvPr>
          <p:cNvSpPr>
            <a:spLocks noGrp="1"/>
          </p:cNvSpPr>
          <p:nvPr>
            <p:ph type="title"/>
          </p:nvPr>
        </p:nvSpPr>
        <p:spPr/>
        <p:txBody>
          <a:bodyPr/>
          <a:lstStyle/>
          <a:p>
            <a:r>
              <a:rPr lang="en-IN" dirty="0"/>
              <a:t>Types of Failures</a:t>
            </a:r>
          </a:p>
        </p:txBody>
      </p:sp>
      <p:sp>
        <p:nvSpPr>
          <p:cNvPr id="3" name="Content Placeholder 2">
            <a:extLst>
              <a:ext uri="{FF2B5EF4-FFF2-40B4-BE49-F238E27FC236}">
                <a16:creationId xmlns:a16="http://schemas.microsoft.com/office/drawing/2014/main" id="{805BC4F0-9F09-FDB0-0915-A2BA9D22AF77}"/>
              </a:ext>
            </a:extLst>
          </p:cNvPr>
          <p:cNvSpPr>
            <a:spLocks noGrp="1"/>
          </p:cNvSpPr>
          <p:nvPr>
            <p:ph idx="1"/>
          </p:nvPr>
        </p:nvSpPr>
        <p:spPr/>
        <p:txBody>
          <a:bodyPr>
            <a:normAutofit fontScale="55000" lnSpcReduction="20000"/>
          </a:bodyPr>
          <a:lstStyle/>
          <a:p>
            <a:pPr marL="0" indent="0">
              <a:buNone/>
            </a:pPr>
            <a:r>
              <a:rPr lang="en-US" b="1" dirty="0"/>
              <a:t>2. Network Failure</a:t>
            </a:r>
          </a:p>
          <a:p>
            <a:r>
              <a:rPr lang="en-US" dirty="0"/>
              <a:t>Network slow or timeout.</a:t>
            </a:r>
          </a:p>
          <a:p>
            <a:pPr marL="0" indent="0">
              <a:buNone/>
            </a:pPr>
            <a:r>
              <a:rPr lang="en-US" dirty="0"/>
              <a:t>Example:</a:t>
            </a:r>
          </a:p>
          <a:p>
            <a:r>
              <a:rPr lang="en-US" dirty="0"/>
              <a:t>Service responds after 20 seconds.</a:t>
            </a:r>
          </a:p>
          <a:p>
            <a:pPr lvl="2"/>
            <a:r>
              <a:rPr lang="en-US" dirty="0"/>
              <a:t>User waits → bad experience</a:t>
            </a:r>
          </a:p>
          <a:p>
            <a:pPr marL="0" indent="0">
              <a:buNone/>
            </a:pPr>
            <a:r>
              <a:rPr lang="en-US" b="1" dirty="0"/>
              <a:t>3. Cascading Failure (Most dangerous)</a:t>
            </a:r>
          </a:p>
          <a:p>
            <a:r>
              <a:rPr lang="en-US" dirty="0"/>
              <a:t>One failure spreads across system.</a:t>
            </a:r>
          </a:p>
          <a:p>
            <a:pPr marL="0" indent="0">
              <a:buNone/>
            </a:pPr>
            <a:r>
              <a:rPr lang="en-US" dirty="0"/>
              <a:t>Example:</a:t>
            </a:r>
          </a:p>
          <a:p>
            <a:pPr marL="0" indent="0">
              <a:buNone/>
            </a:pPr>
            <a:r>
              <a:rPr lang="en-US" dirty="0"/>
              <a:t>Service A calls B</a:t>
            </a:r>
          </a:p>
          <a:p>
            <a:pPr marL="0" indent="0">
              <a:buNone/>
            </a:pPr>
            <a:r>
              <a:rPr lang="en-US" dirty="0"/>
              <a:t>Service B calls C</a:t>
            </a:r>
          </a:p>
          <a:p>
            <a:pPr marL="0" indent="0">
              <a:buNone/>
            </a:pPr>
            <a:r>
              <a:rPr lang="en-US" dirty="0"/>
              <a:t>Service C fails</a:t>
            </a:r>
          </a:p>
          <a:p>
            <a:pPr marL="0" indent="0">
              <a:buNone/>
            </a:pPr>
            <a:endParaRPr lang="en-US" dirty="0"/>
          </a:p>
          <a:p>
            <a:pPr marL="0" indent="0">
              <a:buNone/>
            </a:pPr>
            <a:r>
              <a:rPr lang="en-US" dirty="0"/>
              <a:t>→ B fails</a:t>
            </a:r>
          </a:p>
          <a:p>
            <a:pPr marL="0" indent="0">
              <a:buNone/>
            </a:pPr>
            <a:r>
              <a:rPr lang="en-US" dirty="0"/>
              <a:t>→ A fails</a:t>
            </a:r>
          </a:p>
          <a:p>
            <a:pPr marL="0" indent="0">
              <a:buNone/>
            </a:pPr>
            <a:r>
              <a:rPr lang="en-US" dirty="0"/>
              <a:t>→ Entire system down</a:t>
            </a:r>
          </a:p>
          <a:p>
            <a:pPr marL="0" indent="0">
              <a:buNone/>
            </a:pPr>
            <a:endParaRPr lang="en-US" dirty="0"/>
          </a:p>
          <a:p>
            <a:pPr lvl="2"/>
            <a:endParaRPr lang="en-US" dirty="0"/>
          </a:p>
          <a:p>
            <a:pPr marL="914400" lvl="2" indent="0">
              <a:buNone/>
            </a:pPr>
            <a:endParaRPr lang="en-US" dirty="0"/>
          </a:p>
          <a:p>
            <a:endParaRPr lang="en-US" dirty="0"/>
          </a:p>
          <a:p>
            <a:endParaRPr lang="en-IN" dirty="0"/>
          </a:p>
        </p:txBody>
      </p:sp>
    </p:spTree>
    <p:extLst>
      <p:ext uri="{BB962C8B-B14F-4D97-AF65-F5344CB8AC3E}">
        <p14:creationId xmlns:p14="http://schemas.microsoft.com/office/powerpoint/2010/main" val="35747369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19761-FB70-0F62-508A-E12A41BFE99F}"/>
              </a:ext>
            </a:extLst>
          </p:cNvPr>
          <p:cNvSpPr>
            <a:spLocks noGrp="1"/>
          </p:cNvSpPr>
          <p:nvPr>
            <p:ph type="title"/>
          </p:nvPr>
        </p:nvSpPr>
        <p:spPr/>
        <p:txBody>
          <a:bodyPr/>
          <a:lstStyle/>
          <a:p>
            <a:r>
              <a:rPr lang="en-IN" dirty="0"/>
              <a:t>Without Fault Tolerance</a:t>
            </a:r>
          </a:p>
        </p:txBody>
      </p:sp>
      <p:sp>
        <p:nvSpPr>
          <p:cNvPr id="3" name="Content Placeholder 2">
            <a:extLst>
              <a:ext uri="{FF2B5EF4-FFF2-40B4-BE49-F238E27FC236}">
                <a16:creationId xmlns:a16="http://schemas.microsoft.com/office/drawing/2014/main" id="{675E7F09-C66E-4A08-1352-044D3B6B2C24}"/>
              </a:ext>
            </a:extLst>
          </p:cNvPr>
          <p:cNvSpPr>
            <a:spLocks noGrp="1"/>
          </p:cNvSpPr>
          <p:nvPr>
            <p:ph idx="1"/>
          </p:nvPr>
        </p:nvSpPr>
        <p:spPr/>
        <p:txBody>
          <a:bodyPr/>
          <a:lstStyle/>
          <a:p>
            <a:r>
              <a:rPr lang="en-US" dirty="0"/>
              <a:t>User → Order Service → Customer Service (DOWN)</a:t>
            </a:r>
          </a:p>
          <a:p>
            <a:r>
              <a:rPr lang="en-US" dirty="0"/>
              <a:t>Result → System crash</a:t>
            </a:r>
            <a:endParaRPr lang="en-IN" dirty="0"/>
          </a:p>
        </p:txBody>
      </p:sp>
    </p:spTree>
    <p:extLst>
      <p:ext uri="{BB962C8B-B14F-4D97-AF65-F5344CB8AC3E}">
        <p14:creationId xmlns:p14="http://schemas.microsoft.com/office/powerpoint/2010/main" val="42782474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C2754-57AB-C2FF-A53A-7498DC3AA3C2}"/>
              </a:ext>
            </a:extLst>
          </p:cNvPr>
          <p:cNvSpPr>
            <a:spLocks noGrp="1"/>
          </p:cNvSpPr>
          <p:nvPr>
            <p:ph type="title"/>
          </p:nvPr>
        </p:nvSpPr>
        <p:spPr/>
        <p:txBody>
          <a:bodyPr/>
          <a:lstStyle/>
          <a:p>
            <a:r>
              <a:rPr lang="en-IN" dirty="0"/>
              <a:t>With Fault Tolerance</a:t>
            </a:r>
          </a:p>
        </p:txBody>
      </p:sp>
      <p:sp>
        <p:nvSpPr>
          <p:cNvPr id="3" name="Content Placeholder 2">
            <a:extLst>
              <a:ext uri="{FF2B5EF4-FFF2-40B4-BE49-F238E27FC236}">
                <a16:creationId xmlns:a16="http://schemas.microsoft.com/office/drawing/2014/main" id="{3AD72B29-16E9-46D0-B50E-4E2457854EAD}"/>
              </a:ext>
            </a:extLst>
          </p:cNvPr>
          <p:cNvSpPr>
            <a:spLocks noGrp="1"/>
          </p:cNvSpPr>
          <p:nvPr>
            <p:ph idx="1"/>
          </p:nvPr>
        </p:nvSpPr>
        <p:spPr/>
        <p:txBody>
          <a:bodyPr/>
          <a:lstStyle/>
          <a:p>
            <a:r>
              <a:rPr lang="en-US" dirty="0"/>
              <a:t>User → Order Service → Customer Service (DOWN)</a:t>
            </a:r>
          </a:p>
          <a:p>
            <a:r>
              <a:rPr lang="en-US" dirty="0"/>
              <a:t>Result → fallback response</a:t>
            </a:r>
          </a:p>
          <a:p>
            <a:r>
              <a:rPr lang="en-US" dirty="0"/>
              <a:t>System continues working</a:t>
            </a:r>
          </a:p>
          <a:p>
            <a:endParaRPr lang="en-IN" dirty="0"/>
          </a:p>
        </p:txBody>
      </p:sp>
    </p:spTree>
    <p:extLst>
      <p:ext uri="{BB962C8B-B14F-4D97-AF65-F5344CB8AC3E}">
        <p14:creationId xmlns:p14="http://schemas.microsoft.com/office/powerpoint/2010/main" val="8354180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Circuit Breaker Pattern</a:t>
            </a:r>
          </a:p>
        </p:txBody>
      </p:sp>
      <p:sp>
        <p:nvSpPr>
          <p:cNvPr id="3" name="Content Placeholder 2"/>
          <p:cNvSpPr>
            <a:spLocks noGrp="1"/>
          </p:cNvSpPr>
          <p:nvPr>
            <p:ph idx="1"/>
          </p:nvPr>
        </p:nvSpPr>
        <p:spPr/>
        <p:txBody>
          <a:bodyPr/>
          <a:lstStyle/>
          <a:p>
            <a:r>
              <a:t>Prevents cascading failures</a:t>
            </a:r>
          </a:p>
          <a:p>
            <a:r>
              <a:t>Stops calls when service fails</a:t>
            </a:r>
          </a:p>
          <a:p>
            <a:r>
              <a:t>Improves fault tolerance</a:t>
            </a:r>
          </a:p>
          <a:p>
            <a:r>
              <a:t>Implemented using Resilience4j</a:t>
            </a:r>
          </a:p>
          <a:p>
            <a:r>
              <a:t>Provides fallback mechanism</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5BA72-2057-62D2-799C-303CA50031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8CBD94-A54D-3473-3EBA-1767A4E7CB05}"/>
              </a:ext>
            </a:extLst>
          </p:cNvPr>
          <p:cNvSpPr>
            <a:spLocks noGrp="1"/>
          </p:cNvSpPr>
          <p:nvPr>
            <p:ph type="title"/>
          </p:nvPr>
        </p:nvSpPr>
        <p:spPr/>
        <p:txBody>
          <a:bodyPr/>
          <a:lstStyle/>
          <a:p>
            <a:r>
              <a:t>Circuit Breaker Pattern</a:t>
            </a:r>
          </a:p>
        </p:txBody>
      </p:sp>
      <p:sp>
        <p:nvSpPr>
          <p:cNvPr id="3" name="Content Placeholder 2">
            <a:extLst>
              <a:ext uri="{FF2B5EF4-FFF2-40B4-BE49-F238E27FC236}">
                <a16:creationId xmlns:a16="http://schemas.microsoft.com/office/drawing/2014/main" id="{E134380A-FE06-44CF-9A2D-3CDDD766DD33}"/>
              </a:ext>
            </a:extLst>
          </p:cNvPr>
          <p:cNvSpPr>
            <a:spLocks noGrp="1"/>
          </p:cNvSpPr>
          <p:nvPr>
            <p:ph idx="1"/>
          </p:nvPr>
        </p:nvSpPr>
        <p:spPr/>
        <p:txBody>
          <a:bodyPr/>
          <a:lstStyle/>
          <a:p>
            <a:pPr marL="0" indent="0">
              <a:buNone/>
            </a:pPr>
            <a:r>
              <a:rPr lang="en-US" b="1" dirty="0"/>
              <a:t>Problem Without Circuit Breaker</a:t>
            </a:r>
          </a:p>
          <a:p>
            <a:pPr marL="0" indent="0">
              <a:buNone/>
            </a:pPr>
            <a:r>
              <a:rPr lang="en-US" dirty="0"/>
              <a:t>Every request tries failed service.</a:t>
            </a:r>
          </a:p>
          <a:p>
            <a:pPr marL="0" indent="0">
              <a:buNone/>
            </a:pPr>
            <a:r>
              <a:rPr lang="en-US" dirty="0"/>
              <a:t>Result:</a:t>
            </a:r>
          </a:p>
          <a:p>
            <a:pPr marL="0" indent="0">
              <a:buNone/>
            </a:pPr>
            <a:r>
              <a:rPr lang="en-US" dirty="0"/>
              <a:t>System slow</a:t>
            </a:r>
            <a:br>
              <a:rPr lang="en-US" dirty="0"/>
            </a:br>
            <a:r>
              <a:rPr lang="en-US" dirty="0"/>
              <a:t>Thread exhaustion</a:t>
            </a:r>
            <a:br>
              <a:rPr lang="en-US" dirty="0"/>
            </a:br>
            <a:r>
              <a:rPr lang="en-US" dirty="0"/>
              <a:t>Crash</a:t>
            </a:r>
          </a:p>
          <a:p>
            <a:endParaRPr dirty="0"/>
          </a:p>
        </p:txBody>
      </p:sp>
    </p:spTree>
    <p:extLst>
      <p:ext uri="{BB962C8B-B14F-4D97-AF65-F5344CB8AC3E}">
        <p14:creationId xmlns:p14="http://schemas.microsoft.com/office/powerpoint/2010/main" val="17209374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A85F7-7D29-0027-65A1-E2915C87A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4305E1-CABC-6169-FFAD-53F9C44EF517}"/>
              </a:ext>
            </a:extLst>
          </p:cNvPr>
          <p:cNvSpPr>
            <a:spLocks noGrp="1"/>
          </p:cNvSpPr>
          <p:nvPr>
            <p:ph type="title"/>
          </p:nvPr>
        </p:nvSpPr>
        <p:spPr/>
        <p:txBody>
          <a:bodyPr/>
          <a:lstStyle/>
          <a:p>
            <a:r>
              <a:rPr dirty="0"/>
              <a:t>Circuit Breaker Pattern</a:t>
            </a:r>
          </a:p>
        </p:txBody>
      </p:sp>
      <p:sp>
        <p:nvSpPr>
          <p:cNvPr id="3" name="Content Placeholder 2">
            <a:extLst>
              <a:ext uri="{FF2B5EF4-FFF2-40B4-BE49-F238E27FC236}">
                <a16:creationId xmlns:a16="http://schemas.microsoft.com/office/drawing/2014/main" id="{7B97A57B-6B1C-74D8-DFC0-386FEACCD1C2}"/>
              </a:ext>
            </a:extLst>
          </p:cNvPr>
          <p:cNvSpPr>
            <a:spLocks noGrp="1"/>
          </p:cNvSpPr>
          <p:nvPr>
            <p:ph idx="1"/>
          </p:nvPr>
        </p:nvSpPr>
        <p:spPr>
          <a:xfrm>
            <a:off x="547141" y="1417638"/>
            <a:ext cx="8229600" cy="4525963"/>
          </a:xfrm>
        </p:spPr>
        <p:txBody>
          <a:bodyPr/>
          <a:lstStyle/>
          <a:p>
            <a:pPr marL="0" indent="0">
              <a:buNone/>
            </a:pPr>
            <a:r>
              <a:rPr lang="en-IN" dirty="0"/>
              <a:t>Circuit Breaker Solution</a:t>
            </a:r>
          </a:p>
          <a:p>
            <a:pPr marL="0" indent="0">
              <a:buNone/>
            </a:pPr>
            <a:r>
              <a:rPr lang="en-US" dirty="0"/>
              <a:t>	Stops calling failed service temporarily.</a:t>
            </a:r>
            <a:endParaRPr dirty="0"/>
          </a:p>
        </p:txBody>
      </p:sp>
      <p:pic>
        <p:nvPicPr>
          <p:cNvPr id="9218" name="Picture 2">
            <a:extLst>
              <a:ext uri="{FF2B5EF4-FFF2-40B4-BE49-F238E27FC236}">
                <a16:creationId xmlns:a16="http://schemas.microsoft.com/office/drawing/2014/main" id="{2FFA663A-E6A5-F9D9-068C-8FEBD56763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2778" y="2560638"/>
            <a:ext cx="5165980" cy="301945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9E8BC35-AE35-9D64-06C9-ECE3CD5A1B0A}"/>
              </a:ext>
            </a:extLst>
          </p:cNvPr>
          <p:cNvSpPr txBox="1"/>
          <p:nvPr/>
        </p:nvSpPr>
        <p:spPr>
          <a:xfrm>
            <a:off x="506778" y="5571359"/>
            <a:ext cx="4572000" cy="369332"/>
          </a:xfrm>
          <a:prstGeom prst="rect">
            <a:avLst/>
          </a:prstGeom>
          <a:noFill/>
        </p:spPr>
        <p:txBody>
          <a:bodyPr wrap="square">
            <a:spAutoFit/>
          </a:bodyPr>
          <a:lstStyle/>
          <a:p>
            <a:r>
              <a:rPr lang="en-IN" dirty="0"/>
              <a:t>Closed State (Normal)</a:t>
            </a:r>
          </a:p>
        </p:txBody>
      </p:sp>
      <p:sp>
        <p:nvSpPr>
          <p:cNvPr id="7" name="TextBox 6">
            <a:extLst>
              <a:ext uri="{FF2B5EF4-FFF2-40B4-BE49-F238E27FC236}">
                <a16:creationId xmlns:a16="http://schemas.microsoft.com/office/drawing/2014/main" id="{9E120A6D-9108-B500-94C1-6D7CFDDB803F}"/>
              </a:ext>
            </a:extLst>
          </p:cNvPr>
          <p:cNvSpPr txBox="1"/>
          <p:nvPr/>
        </p:nvSpPr>
        <p:spPr>
          <a:xfrm>
            <a:off x="547141" y="5956937"/>
            <a:ext cx="4572000" cy="369332"/>
          </a:xfrm>
          <a:prstGeom prst="rect">
            <a:avLst/>
          </a:prstGeom>
          <a:noFill/>
        </p:spPr>
        <p:txBody>
          <a:bodyPr wrap="square">
            <a:spAutoFit/>
          </a:bodyPr>
          <a:lstStyle/>
          <a:p>
            <a:r>
              <a:rPr lang="en-IN" dirty="0"/>
              <a:t>Requests allowed</a:t>
            </a:r>
          </a:p>
        </p:txBody>
      </p:sp>
      <p:sp>
        <p:nvSpPr>
          <p:cNvPr id="9" name="TextBox 8">
            <a:extLst>
              <a:ext uri="{FF2B5EF4-FFF2-40B4-BE49-F238E27FC236}">
                <a16:creationId xmlns:a16="http://schemas.microsoft.com/office/drawing/2014/main" id="{97FE6F8A-FF88-6993-92D7-6323DDC802A6}"/>
              </a:ext>
            </a:extLst>
          </p:cNvPr>
          <p:cNvSpPr txBox="1"/>
          <p:nvPr/>
        </p:nvSpPr>
        <p:spPr>
          <a:xfrm>
            <a:off x="1101777" y="6326269"/>
            <a:ext cx="4572000" cy="369332"/>
          </a:xfrm>
          <a:prstGeom prst="rect">
            <a:avLst/>
          </a:prstGeom>
          <a:noFill/>
        </p:spPr>
        <p:txBody>
          <a:bodyPr wrap="square">
            <a:spAutoFit/>
          </a:bodyPr>
          <a:lstStyle/>
          <a:p>
            <a:r>
              <a:rPr lang="en-IN" dirty="0"/>
              <a:t>Working normally</a:t>
            </a:r>
          </a:p>
        </p:txBody>
      </p:sp>
    </p:spTree>
    <p:extLst>
      <p:ext uri="{BB962C8B-B14F-4D97-AF65-F5344CB8AC3E}">
        <p14:creationId xmlns:p14="http://schemas.microsoft.com/office/powerpoint/2010/main" val="30440009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30C58-9783-9A16-3F0F-1C1EF16C0221}"/>
              </a:ext>
            </a:extLst>
          </p:cNvPr>
          <p:cNvSpPr>
            <a:spLocks noGrp="1"/>
          </p:cNvSpPr>
          <p:nvPr>
            <p:ph type="title"/>
          </p:nvPr>
        </p:nvSpPr>
        <p:spPr/>
        <p:txBody>
          <a:bodyPr/>
          <a:lstStyle/>
          <a:p>
            <a:r>
              <a:rPr lang="en-IN" dirty="0"/>
              <a:t>Circuit Breaker Pattern</a:t>
            </a:r>
          </a:p>
        </p:txBody>
      </p:sp>
      <p:sp>
        <p:nvSpPr>
          <p:cNvPr id="3" name="Content Placeholder 2">
            <a:extLst>
              <a:ext uri="{FF2B5EF4-FFF2-40B4-BE49-F238E27FC236}">
                <a16:creationId xmlns:a16="http://schemas.microsoft.com/office/drawing/2014/main" id="{F7D3DAB9-D588-DAF8-46E3-ACB3D3DDAC69}"/>
              </a:ext>
            </a:extLst>
          </p:cNvPr>
          <p:cNvSpPr>
            <a:spLocks noGrp="1"/>
          </p:cNvSpPr>
          <p:nvPr>
            <p:ph idx="1"/>
          </p:nvPr>
        </p:nvSpPr>
        <p:spPr/>
        <p:txBody>
          <a:bodyPr/>
          <a:lstStyle/>
          <a:p>
            <a:pPr marL="0" indent="0">
              <a:buNone/>
            </a:pPr>
            <a:r>
              <a:rPr lang="en-US" b="1" dirty="0"/>
              <a:t>Open State (Failure detected)</a:t>
            </a:r>
          </a:p>
          <a:p>
            <a:r>
              <a:rPr lang="en-US" dirty="0"/>
              <a:t>Requests blocked</a:t>
            </a:r>
          </a:p>
          <a:p>
            <a:r>
              <a:rPr lang="en-IN" dirty="0"/>
              <a:t>Immediately return fallback</a:t>
            </a:r>
          </a:p>
          <a:p>
            <a:pPr marL="0" indent="0">
              <a:buNone/>
            </a:pPr>
            <a:r>
              <a:rPr lang="en-US" b="1" dirty="0"/>
              <a:t>Half Open State (Testing)</a:t>
            </a:r>
          </a:p>
          <a:p>
            <a:r>
              <a:rPr lang="en-US" dirty="0"/>
              <a:t>Allows few requests</a:t>
            </a:r>
          </a:p>
          <a:p>
            <a:r>
              <a:rPr lang="en-US" dirty="0"/>
              <a:t>If success → closed</a:t>
            </a:r>
            <a:br>
              <a:rPr lang="en-US" dirty="0"/>
            </a:br>
            <a:r>
              <a:rPr lang="en-US" dirty="0"/>
              <a:t>If failure → open</a:t>
            </a:r>
          </a:p>
          <a:p>
            <a:endParaRPr lang="en-IN" dirty="0"/>
          </a:p>
        </p:txBody>
      </p:sp>
    </p:spTree>
    <p:extLst>
      <p:ext uri="{BB962C8B-B14F-4D97-AF65-F5344CB8AC3E}">
        <p14:creationId xmlns:p14="http://schemas.microsoft.com/office/powerpoint/2010/main" val="21806760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ED04F-F713-37C8-D507-699314F65CB4}"/>
              </a:ext>
            </a:extLst>
          </p:cNvPr>
          <p:cNvSpPr>
            <a:spLocks noGrp="1"/>
          </p:cNvSpPr>
          <p:nvPr>
            <p:ph type="title"/>
          </p:nvPr>
        </p:nvSpPr>
        <p:spPr/>
        <p:txBody>
          <a:bodyPr/>
          <a:lstStyle/>
          <a:p>
            <a:r>
              <a:rPr lang="en-IN" dirty="0"/>
              <a:t>Demo</a:t>
            </a:r>
          </a:p>
        </p:txBody>
      </p:sp>
      <p:sp>
        <p:nvSpPr>
          <p:cNvPr id="3" name="Content Placeholder 2">
            <a:extLst>
              <a:ext uri="{FF2B5EF4-FFF2-40B4-BE49-F238E27FC236}">
                <a16:creationId xmlns:a16="http://schemas.microsoft.com/office/drawing/2014/main" id="{776E58C4-9C8A-C9E1-042B-5E5D1059B5AA}"/>
              </a:ext>
            </a:extLst>
          </p:cNvPr>
          <p:cNvSpPr>
            <a:spLocks noGrp="1"/>
          </p:cNvSpPr>
          <p:nvPr>
            <p:ph idx="1"/>
          </p:nvPr>
        </p:nvSpPr>
        <p:spPr>
          <a:xfrm>
            <a:off x="457200" y="1600200"/>
            <a:ext cx="8461948" cy="5257800"/>
          </a:xfrm>
        </p:spPr>
        <p:txBody>
          <a:bodyPr>
            <a:normAutofit fontScale="40000" lnSpcReduction="20000"/>
          </a:bodyPr>
          <a:lstStyle/>
          <a:p>
            <a:pPr marL="0" indent="0">
              <a:buNone/>
            </a:pPr>
            <a:r>
              <a:rPr lang="en-US" dirty="0"/>
              <a:t>Step 1: Enable in Controller</a:t>
            </a:r>
            <a:endParaRPr lang="en-IN" dirty="0"/>
          </a:p>
          <a:p>
            <a:pPr marL="0" indent="0">
              <a:buNone/>
            </a:pPr>
            <a:r>
              <a:rPr lang="en-IN" dirty="0"/>
              <a:t>@RestController</a:t>
            </a:r>
          </a:p>
          <a:p>
            <a:pPr marL="0" indent="0">
              <a:buNone/>
            </a:pPr>
            <a:r>
              <a:rPr lang="en-IN" dirty="0"/>
              <a:t>@RequestMapping("/orders")</a:t>
            </a:r>
          </a:p>
          <a:p>
            <a:pPr marL="0" indent="0">
              <a:buNone/>
            </a:pPr>
            <a:r>
              <a:rPr lang="en-IN" dirty="0"/>
              <a:t>public class </a:t>
            </a:r>
            <a:r>
              <a:rPr lang="en-IN" dirty="0" err="1"/>
              <a:t>OrderController</a:t>
            </a:r>
            <a:r>
              <a:rPr lang="en-IN" dirty="0"/>
              <a:t> {</a:t>
            </a:r>
          </a:p>
          <a:p>
            <a:pPr marL="0" indent="0">
              <a:buNone/>
            </a:pPr>
            <a:endParaRPr lang="en-IN" dirty="0"/>
          </a:p>
          <a:p>
            <a:pPr marL="0" indent="0">
              <a:buNone/>
            </a:pPr>
            <a:r>
              <a:rPr lang="en-IN" dirty="0"/>
              <a:t>    @Autowired</a:t>
            </a:r>
          </a:p>
          <a:p>
            <a:pPr marL="0" indent="0">
              <a:buNone/>
            </a:pPr>
            <a:r>
              <a:rPr lang="en-IN" dirty="0"/>
              <a:t>    </a:t>
            </a:r>
            <a:r>
              <a:rPr lang="en-IN" dirty="0" err="1"/>
              <a:t>CustomerServiceClient</a:t>
            </a:r>
            <a:r>
              <a:rPr lang="en-IN" dirty="0"/>
              <a:t> </a:t>
            </a:r>
            <a:r>
              <a:rPr lang="en-IN" dirty="0" err="1"/>
              <a:t>customerServiceClient</a:t>
            </a:r>
            <a:r>
              <a:rPr lang="en-IN" dirty="0"/>
              <a:t>;</a:t>
            </a:r>
          </a:p>
          <a:p>
            <a:pPr marL="0" indent="0">
              <a:buNone/>
            </a:pPr>
            <a:endParaRPr lang="en-IN" dirty="0"/>
          </a:p>
          <a:p>
            <a:pPr marL="0" indent="0">
              <a:buNone/>
            </a:pPr>
            <a:r>
              <a:rPr lang="en-IN" dirty="0"/>
              <a:t>    @GetMapping("/{id}")</a:t>
            </a:r>
          </a:p>
          <a:p>
            <a:pPr marL="0" indent="0">
              <a:buNone/>
            </a:pPr>
            <a:r>
              <a:rPr lang="en-IN" dirty="0"/>
              <a:t>    @CircuitBreaker(</a:t>
            </a:r>
          </a:p>
          <a:p>
            <a:pPr marL="0" indent="0">
              <a:buNone/>
            </a:pPr>
            <a:r>
              <a:rPr lang="en-IN" dirty="0"/>
              <a:t>        name = "</a:t>
            </a:r>
            <a:r>
              <a:rPr lang="en-IN" dirty="0" err="1"/>
              <a:t>customerService</a:t>
            </a:r>
            <a:r>
              <a:rPr lang="en-IN" dirty="0"/>
              <a:t>",</a:t>
            </a:r>
          </a:p>
          <a:p>
            <a:pPr marL="0" indent="0">
              <a:buNone/>
            </a:pPr>
            <a:r>
              <a:rPr lang="en-IN" dirty="0"/>
              <a:t>        </a:t>
            </a:r>
            <a:r>
              <a:rPr lang="en-IN" dirty="0" err="1"/>
              <a:t>fallbackMethod</a:t>
            </a:r>
            <a:r>
              <a:rPr lang="en-IN" dirty="0"/>
              <a:t> = "</a:t>
            </a:r>
            <a:r>
              <a:rPr lang="en-IN" dirty="0" err="1"/>
              <a:t>fallbackCustomer</a:t>
            </a:r>
            <a:r>
              <a:rPr lang="en-IN" dirty="0"/>
              <a:t>"</a:t>
            </a:r>
          </a:p>
          <a:p>
            <a:pPr marL="0" indent="0">
              <a:buNone/>
            </a:pPr>
            <a:r>
              <a:rPr lang="en-IN" dirty="0"/>
              <a:t>    )</a:t>
            </a:r>
          </a:p>
          <a:p>
            <a:pPr marL="0" indent="0">
              <a:buNone/>
            </a:pPr>
            <a:r>
              <a:rPr lang="en-IN" dirty="0"/>
              <a:t>    public String </a:t>
            </a:r>
            <a:r>
              <a:rPr lang="en-IN" dirty="0" err="1"/>
              <a:t>getOrder</a:t>
            </a:r>
            <a:r>
              <a:rPr lang="en-IN" dirty="0"/>
              <a:t>(@PathVariable int id) {</a:t>
            </a:r>
          </a:p>
          <a:p>
            <a:pPr marL="0" indent="0">
              <a:buNone/>
            </a:pPr>
            <a:endParaRPr lang="en-IN" dirty="0"/>
          </a:p>
          <a:p>
            <a:pPr marL="0" indent="0">
              <a:buNone/>
            </a:pPr>
            <a:r>
              <a:rPr lang="en-IN" dirty="0"/>
              <a:t>        return </a:t>
            </a:r>
            <a:r>
              <a:rPr lang="en-IN" dirty="0" err="1"/>
              <a:t>customerServiceClient.getCustomer</a:t>
            </a:r>
            <a:r>
              <a:rPr lang="en-IN" dirty="0"/>
              <a:t>(id);</a:t>
            </a:r>
          </a:p>
          <a:p>
            <a:pPr marL="0" indent="0">
              <a:buNone/>
            </a:pPr>
            <a:r>
              <a:rPr lang="en-IN" dirty="0"/>
              <a:t>    }</a:t>
            </a:r>
          </a:p>
          <a:p>
            <a:pPr marL="0" indent="0">
              <a:buNone/>
            </a:pPr>
            <a:endParaRPr lang="en-IN" dirty="0"/>
          </a:p>
          <a:p>
            <a:pPr marL="0" indent="0">
              <a:buNone/>
            </a:pPr>
            <a:r>
              <a:rPr lang="en-IN" dirty="0"/>
              <a:t>    public String </a:t>
            </a:r>
            <a:r>
              <a:rPr lang="en-IN" dirty="0" err="1"/>
              <a:t>fallbackCustomer</a:t>
            </a:r>
            <a:r>
              <a:rPr lang="en-IN" dirty="0"/>
              <a:t>(int id, Exception ex) {</a:t>
            </a:r>
          </a:p>
          <a:p>
            <a:pPr marL="0" indent="0">
              <a:buNone/>
            </a:pPr>
            <a:endParaRPr lang="en-IN" dirty="0"/>
          </a:p>
          <a:p>
            <a:pPr marL="0" indent="0">
              <a:buNone/>
            </a:pPr>
            <a:r>
              <a:rPr lang="en-IN" dirty="0"/>
              <a:t>        return "Fallback: Customer service unavailable";</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496546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3D22-EB42-B0FF-E82D-5E9C568987F6}"/>
              </a:ext>
            </a:extLst>
          </p:cNvPr>
          <p:cNvSpPr>
            <a:spLocks noGrp="1"/>
          </p:cNvSpPr>
          <p:nvPr>
            <p:ph type="title"/>
          </p:nvPr>
        </p:nvSpPr>
        <p:spPr/>
        <p:txBody>
          <a:bodyPr/>
          <a:lstStyle/>
          <a:p>
            <a:r>
              <a:rPr lang="en-IN" dirty="0"/>
              <a:t>Demo</a:t>
            </a:r>
          </a:p>
        </p:txBody>
      </p:sp>
      <p:sp>
        <p:nvSpPr>
          <p:cNvPr id="3" name="Content Placeholder 2">
            <a:extLst>
              <a:ext uri="{FF2B5EF4-FFF2-40B4-BE49-F238E27FC236}">
                <a16:creationId xmlns:a16="http://schemas.microsoft.com/office/drawing/2014/main" id="{CF079C15-480B-83DE-E7F1-D1349F0E9060}"/>
              </a:ext>
            </a:extLst>
          </p:cNvPr>
          <p:cNvSpPr>
            <a:spLocks noGrp="1"/>
          </p:cNvSpPr>
          <p:nvPr>
            <p:ph idx="1"/>
          </p:nvPr>
        </p:nvSpPr>
        <p:spPr/>
        <p:txBody>
          <a:bodyPr>
            <a:normAutofit fontScale="55000" lnSpcReduction="20000"/>
          </a:bodyPr>
          <a:lstStyle/>
          <a:p>
            <a:r>
              <a:rPr lang="en-IN" dirty="0"/>
              <a:t>Step 2: </a:t>
            </a:r>
            <a:r>
              <a:rPr lang="en-IN" dirty="0" err="1"/>
              <a:t>application.yml</a:t>
            </a:r>
            <a:endParaRPr lang="en-IN" dirty="0"/>
          </a:p>
          <a:p>
            <a:pPr marL="0" indent="0">
              <a:buNone/>
            </a:pPr>
            <a:r>
              <a:rPr lang="en-IN" dirty="0"/>
              <a:t>resilience4j:</a:t>
            </a:r>
          </a:p>
          <a:p>
            <a:pPr marL="0" indent="0">
              <a:buNone/>
            </a:pPr>
            <a:r>
              <a:rPr lang="en-IN" dirty="0"/>
              <a:t> </a:t>
            </a:r>
            <a:r>
              <a:rPr lang="en-IN" dirty="0" err="1"/>
              <a:t>circuitbreaker</a:t>
            </a:r>
            <a:r>
              <a:rPr lang="en-IN" dirty="0"/>
              <a:t>:</a:t>
            </a:r>
          </a:p>
          <a:p>
            <a:pPr marL="0" indent="0">
              <a:buNone/>
            </a:pPr>
            <a:r>
              <a:rPr lang="en-IN" dirty="0"/>
              <a:t>  instances:</a:t>
            </a:r>
          </a:p>
          <a:p>
            <a:pPr marL="0" indent="0">
              <a:buNone/>
            </a:pPr>
            <a:r>
              <a:rPr lang="en-IN" dirty="0"/>
              <a:t>   </a:t>
            </a:r>
            <a:r>
              <a:rPr lang="en-IN" dirty="0" err="1"/>
              <a:t>customerService</a:t>
            </a:r>
            <a:r>
              <a:rPr lang="en-IN" dirty="0"/>
              <a:t>:</a:t>
            </a:r>
          </a:p>
          <a:p>
            <a:pPr marL="0" indent="0">
              <a:buNone/>
            </a:pPr>
            <a:r>
              <a:rPr lang="en-IN" dirty="0"/>
              <a:t>    </a:t>
            </a:r>
            <a:r>
              <a:rPr lang="en-IN" dirty="0" err="1"/>
              <a:t>registerHealthIndicator</a:t>
            </a:r>
            <a:r>
              <a:rPr lang="en-IN" dirty="0"/>
              <a:t>: true</a:t>
            </a:r>
          </a:p>
          <a:p>
            <a:pPr marL="0" indent="0">
              <a:buNone/>
            </a:pPr>
            <a:r>
              <a:rPr lang="en-IN" dirty="0"/>
              <a:t>    </a:t>
            </a:r>
            <a:r>
              <a:rPr lang="en-IN" dirty="0" err="1"/>
              <a:t>slidingWindowSize</a:t>
            </a:r>
            <a:r>
              <a:rPr lang="en-IN" dirty="0"/>
              <a:t>: 5</a:t>
            </a:r>
          </a:p>
          <a:p>
            <a:pPr marL="0" indent="0">
              <a:buNone/>
            </a:pPr>
            <a:r>
              <a:rPr lang="en-IN" dirty="0"/>
              <a:t>    </a:t>
            </a:r>
            <a:r>
              <a:rPr lang="en-IN" dirty="0" err="1"/>
              <a:t>minimumNumberOfCalls</a:t>
            </a:r>
            <a:r>
              <a:rPr lang="en-IN" dirty="0"/>
              <a:t>: 3</a:t>
            </a:r>
          </a:p>
          <a:p>
            <a:pPr marL="0" indent="0">
              <a:buNone/>
            </a:pPr>
            <a:r>
              <a:rPr lang="en-IN" dirty="0"/>
              <a:t>    </a:t>
            </a:r>
            <a:r>
              <a:rPr lang="en-IN" dirty="0" err="1"/>
              <a:t>failureRateThreshold</a:t>
            </a:r>
            <a:r>
              <a:rPr lang="en-IN" dirty="0"/>
              <a:t>: 50</a:t>
            </a:r>
          </a:p>
          <a:p>
            <a:pPr marL="0" indent="0">
              <a:buNone/>
            </a:pPr>
            <a:r>
              <a:rPr lang="en-IN" dirty="0"/>
              <a:t>    </a:t>
            </a:r>
            <a:r>
              <a:rPr lang="en-IN" dirty="0" err="1"/>
              <a:t>waitDurationInOpenState</a:t>
            </a:r>
            <a:r>
              <a:rPr lang="en-IN" dirty="0"/>
              <a:t>: 10s</a:t>
            </a:r>
          </a:p>
          <a:p>
            <a:pPr marL="0" indent="0">
              <a:buNone/>
            </a:pPr>
            <a:r>
              <a:rPr lang="en-IN" dirty="0"/>
              <a:t>Call multiple times:</a:t>
            </a:r>
          </a:p>
          <a:p>
            <a:pPr marL="0" indent="0">
              <a:buNone/>
            </a:pPr>
            <a:r>
              <a:rPr lang="en-IN" dirty="0"/>
              <a:t>	http://localhost:8080/orders/1</a:t>
            </a:r>
          </a:p>
          <a:p>
            <a:pPr marL="0" indent="0">
              <a:buNone/>
            </a:pPr>
            <a:endParaRPr lang="en-IN" dirty="0"/>
          </a:p>
          <a:p>
            <a:pPr marL="0" indent="0">
              <a:buNone/>
            </a:pPr>
            <a:r>
              <a:rPr lang="en-IN" dirty="0"/>
              <a:t>Observe:</a:t>
            </a:r>
          </a:p>
          <a:p>
            <a:pPr marL="0" indent="0">
              <a:buNone/>
            </a:pPr>
            <a:r>
              <a:rPr lang="en-IN" dirty="0"/>
              <a:t>Fallback: Customer service unavailable</a:t>
            </a:r>
          </a:p>
          <a:p>
            <a:pPr marL="0" indent="0">
              <a:buNone/>
            </a:pPr>
            <a:r>
              <a:rPr lang="en-IN" dirty="0"/>
              <a:t>Circuit breaker opens.</a:t>
            </a:r>
          </a:p>
        </p:txBody>
      </p:sp>
    </p:spTree>
    <p:extLst>
      <p:ext uri="{BB962C8B-B14F-4D97-AF65-F5344CB8AC3E}">
        <p14:creationId xmlns:p14="http://schemas.microsoft.com/office/powerpoint/2010/main" val="30746925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3488A-BB94-8A95-BB80-10F8C18EC2C5}"/>
              </a:ext>
            </a:extLst>
          </p:cNvPr>
          <p:cNvSpPr>
            <a:spLocks noGrp="1"/>
          </p:cNvSpPr>
          <p:nvPr>
            <p:ph type="title"/>
          </p:nvPr>
        </p:nvSpPr>
        <p:spPr/>
        <p:txBody>
          <a:bodyPr/>
          <a:lstStyle/>
          <a:p>
            <a:r>
              <a:rPr lang="en-IN" dirty="0"/>
              <a:t>Retry Pattern</a:t>
            </a:r>
          </a:p>
        </p:txBody>
      </p:sp>
      <p:sp>
        <p:nvSpPr>
          <p:cNvPr id="3" name="Content Placeholder 2">
            <a:extLst>
              <a:ext uri="{FF2B5EF4-FFF2-40B4-BE49-F238E27FC236}">
                <a16:creationId xmlns:a16="http://schemas.microsoft.com/office/drawing/2014/main" id="{0009F0EF-FE39-5687-BC81-B21DD0AAB1E7}"/>
              </a:ext>
            </a:extLst>
          </p:cNvPr>
          <p:cNvSpPr>
            <a:spLocks noGrp="1"/>
          </p:cNvSpPr>
          <p:nvPr>
            <p:ph idx="1"/>
          </p:nvPr>
        </p:nvSpPr>
        <p:spPr/>
        <p:txBody>
          <a:bodyPr>
            <a:normAutofit fontScale="77500" lnSpcReduction="20000"/>
          </a:bodyPr>
          <a:lstStyle/>
          <a:p>
            <a:pPr marL="0" indent="0">
              <a:buNone/>
            </a:pPr>
            <a:r>
              <a:rPr lang="en-US" b="1" dirty="0"/>
              <a:t>Problem</a:t>
            </a:r>
          </a:p>
          <a:p>
            <a:r>
              <a:rPr lang="en-US" dirty="0"/>
              <a:t>Temporary failures happen.</a:t>
            </a:r>
          </a:p>
          <a:p>
            <a:pPr marL="0" indent="0">
              <a:buNone/>
            </a:pPr>
            <a:r>
              <a:rPr lang="en-US" dirty="0"/>
              <a:t>Example:</a:t>
            </a:r>
          </a:p>
          <a:p>
            <a:r>
              <a:rPr lang="en-US" dirty="0"/>
              <a:t>Network glitch.</a:t>
            </a:r>
          </a:p>
          <a:p>
            <a:r>
              <a:rPr lang="en-US" dirty="0"/>
              <a:t>Retry can fix.</a:t>
            </a:r>
          </a:p>
          <a:p>
            <a:pPr marL="0" indent="0">
              <a:buNone/>
            </a:pPr>
            <a:r>
              <a:rPr lang="en-US" b="1" dirty="0"/>
              <a:t>Retry Pattern</a:t>
            </a:r>
          </a:p>
          <a:p>
            <a:r>
              <a:rPr lang="en-US" dirty="0"/>
              <a:t>Automatically retries failed request.</a:t>
            </a:r>
          </a:p>
          <a:p>
            <a:pPr marL="0" indent="0">
              <a:buNone/>
            </a:pPr>
            <a:r>
              <a:rPr lang="en-US" dirty="0"/>
              <a:t>Example:</a:t>
            </a:r>
          </a:p>
          <a:p>
            <a:pPr marL="0" indent="0">
              <a:buNone/>
            </a:pPr>
            <a:r>
              <a:rPr lang="en-US" dirty="0"/>
              <a:t>Try 1 → fail</a:t>
            </a:r>
          </a:p>
          <a:p>
            <a:pPr marL="0" indent="0">
              <a:buNone/>
            </a:pPr>
            <a:r>
              <a:rPr lang="en-US" dirty="0"/>
              <a:t>Try 2 → fail</a:t>
            </a:r>
          </a:p>
          <a:p>
            <a:pPr marL="0" indent="0">
              <a:buNone/>
            </a:pPr>
            <a:r>
              <a:rPr lang="en-US" dirty="0"/>
              <a:t>Try 3 → success</a:t>
            </a:r>
          </a:p>
          <a:p>
            <a:pPr marL="0" indent="0">
              <a:buNone/>
            </a:pPr>
            <a:endParaRPr lang="en-US" dirty="0"/>
          </a:p>
          <a:p>
            <a:pPr marL="0" indent="0">
              <a:buNone/>
            </a:pPr>
            <a:endParaRPr lang="en-US" dirty="0"/>
          </a:p>
          <a:p>
            <a:endParaRPr lang="en-IN" dirty="0"/>
          </a:p>
        </p:txBody>
      </p:sp>
    </p:spTree>
    <p:extLst>
      <p:ext uri="{BB962C8B-B14F-4D97-AF65-F5344CB8AC3E}">
        <p14:creationId xmlns:p14="http://schemas.microsoft.com/office/powerpoint/2010/main" val="23062327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E6B48-5817-8E6C-56F3-7E66FC57E445}"/>
              </a:ext>
            </a:extLst>
          </p:cNvPr>
          <p:cNvSpPr>
            <a:spLocks noGrp="1"/>
          </p:cNvSpPr>
          <p:nvPr>
            <p:ph type="title"/>
          </p:nvPr>
        </p:nvSpPr>
        <p:spPr/>
        <p:txBody>
          <a:bodyPr/>
          <a:lstStyle/>
          <a:p>
            <a:r>
              <a:rPr lang="en-IN" dirty="0"/>
              <a:t>Hands-on Retry</a:t>
            </a:r>
          </a:p>
        </p:txBody>
      </p:sp>
      <p:sp>
        <p:nvSpPr>
          <p:cNvPr id="3" name="Content Placeholder 2">
            <a:extLst>
              <a:ext uri="{FF2B5EF4-FFF2-40B4-BE49-F238E27FC236}">
                <a16:creationId xmlns:a16="http://schemas.microsoft.com/office/drawing/2014/main" id="{D9A6B0F5-AD65-61DA-346B-81F736B0F882}"/>
              </a:ext>
            </a:extLst>
          </p:cNvPr>
          <p:cNvSpPr>
            <a:spLocks noGrp="1"/>
          </p:cNvSpPr>
          <p:nvPr>
            <p:ph idx="1"/>
          </p:nvPr>
        </p:nvSpPr>
        <p:spPr/>
        <p:txBody>
          <a:bodyPr/>
          <a:lstStyle/>
          <a:p>
            <a:pPr marL="0" indent="0">
              <a:buNone/>
            </a:pPr>
            <a:r>
              <a:rPr lang="en-IN" dirty="0"/>
              <a:t>@GetMapping("/{id}")</a:t>
            </a:r>
          </a:p>
          <a:p>
            <a:pPr marL="0" indent="0">
              <a:buNone/>
            </a:pPr>
            <a:r>
              <a:rPr lang="en-IN" dirty="0"/>
              <a:t>@Retry(name="customerService", </a:t>
            </a:r>
            <a:r>
              <a:rPr lang="en-IN" dirty="0" err="1"/>
              <a:t>fallbackMethod</a:t>
            </a:r>
            <a:r>
              <a:rPr lang="en-IN" dirty="0"/>
              <a:t>="</a:t>
            </a:r>
            <a:r>
              <a:rPr lang="en-IN" dirty="0" err="1"/>
              <a:t>fallbackCustomer</a:t>
            </a:r>
            <a:r>
              <a:rPr lang="en-IN" dirty="0"/>
              <a:t>")</a:t>
            </a:r>
          </a:p>
          <a:p>
            <a:pPr marL="0" indent="0">
              <a:buNone/>
            </a:pPr>
            <a:r>
              <a:rPr lang="en-IN" dirty="0"/>
              <a:t>public String </a:t>
            </a:r>
            <a:r>
              <a:rPr lang="en-IN" dirty="0" err="1"/>
              <a:t>getOrder</a:t>
            </a:r>
            <a:r>
              <a:rPr lang="en-IN" dirty="0"/>
              <a:t>(@PathVariable int id) {</a:t>
            </a:r>
          </a:p>
          <a:p>
            <a:pPr marL="0" indent="0">
              <a:buNone/>
            </a:pPr>
            <a:endParaRPr lang="en-IN" dirty="0"/>
          </a:p>
          <a:p>
            <a:pPr marL="0" indent="0">
              <a:buNone/>
            </a:pPr>
            <a:r>
              <a:rPr lang="en-IN" dirty="0"/>
              <a:t>    return </a:t>
            </a:r>
            <a:r>
              <a:rPr lang="en-IN" dirty="0" err="1"/>
              <a:t>customerServiceClient.getCustomer</a:t>
            </a:r>
            <a:r>
              <a:rPr lang="en-IN" dirty="0"/>
              <a:t>(id);</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4740128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4EEDC-2D5C-B67D-776E-7B2F393303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9D5E8F-7473-17FB-6B72-164ED1E817DB}"/>
              </a:ext>
            </a:extLst>
          </p:cNvPr>
          <p:cNvSpPr>
            <a:spLocks noGrp="1"/>
          </p:cNvSpPr>
          <p:nvPr>
            <p:ph type="title"/>
          </p:nvPr>
        </p:nvSpPr>
        <p:spPr/>
        <p:txBody>
          <a:bodyPr/>
          <a:lstStyle/>
          <a:p>
            <a:r>
              <a:rPr lang="en-IN" dirty="0"/>
              <a:t>Hands-on Retry</a:t>
            </a:r>
          </a:p>
        </p:txBody>
      </p:sp>
      <p:sp>
        <p:nvSpPr>
          <p:cNvPr id="3" name="Content Placeholder 2">
            <a:extLst>
              <a:ext uri="{FF2B5EF4-FFF2-40B4-BE49-F238E27FC236}">
                <a16:creationId xmlns:a16="http://schemas.microsoft.com/office/drawing/2014/main" id="{CA8EFF13-6E13-EC83-5F21-FFD26F9858DB}"/>
              </a:ext>
            </a:extLst>
          </p:cNvPr>
          <p:cNvSpPr>
            <a:spLocks noGrp="1"/>
          </p:cNvSpPr>
          <p:nvPr>
            <p:ph idx="1"/>
          </p:nvPr>
        </p:nvSpPr>
        <p:spPr/>
        <p:txBody>
          <a:bodyPr>
            <a:normAutofit fontScale="85000" lnSpcReduction="20000"/>
          </a:bodyPr>
          <a:lstStyle/>
          <a:p>
            <a:pPr marL="0" indent="0">
              <a:buNone/>
            </a:pPr>
            <a:r>
              <a:rPr lang="en-IN" dirty="0"/>
              <a:t>Config:</a:t>
            </a:r>
          </a:p>
          <a:p>
            <a:pPr marL="0" indent="0">
              <a:buNone/>
            </a:pPr>
            <a:r>
              <a:rPr lang="en-US" dirty="0"/>
              <a:t>resilience4j:</a:t>
            </a:r>
          </a:p>
          <a:p>
            <a:pPr marL="0" indent="0">
              <a:buNone/>
            </a:pPr>
            <a:r>
              <a:rPr lang="en-US" dirty="0"/>
              <a:t> retry:</a:t>
            </a:r>
          </a:p>
          <a:p>
            <a:pPr marL="0" indent="0">
              <a:buNone/>
            </a:pPr>
            <a:r>
              <a:rPr lang="en-US" dirty="0"/>
              <a:t>  instances:</a:t>
            </a:r>
          </a:p>
          <a:p>
            <a:pPr marL="0" indent="0">
              <a:buNone/>
            </a:pPr>
            <a:r>
              <a:rPr lang="en-US" dirty="0"/>
              <a:t>   </a:t>
            </a:r>
            <a:r>
              <a:rPr lang="en-US" dirty="0" err="1"/>
              <a:t>customerService</a:t>
            </a:r>
            <a:r>
              <a:rPr lang="en-US" dirty="0"/>
              <a:t>:</a:t>
            </a:r>
          </a:p>
          <a:p>
            <a:pPr marL="0" indent="0">
              <a:buNone/>
            </a:pPr>
            <a:r>
              <a:rPr lang="en-US" dirty="0"/>
              <a:t>    </a:t>
            </a:r>
            <a:r>
              <a:rPr lang="en-US" dirty="0" err="1"/>
              <a:t>maxAttempts</a:t>
            </a:r>
            <a:r>
              <a:rPr lang="en-US" dirty="0"/>
              <a:t>: 3</a:t>
            </a:r>
          </a:p>
          <a:p>
            <a:pPr marL="0" indent="0">
              <a:buNone/>
            </a:pPr>
            <a:r>
              <a:rPr lang="en-US" dirty="0"/>
              <a:t>    </a:t>
            </a:r>
            <a:r>
              <a:rPr lang="en-US" dirty="0" err="1"/>
              <a:t>waitDuration</a:t>
            </a:r>
            <a:r>
              <a:rPr lang="en-US" dirty="0"/>
              <a:t>: 2s</a:t>
            </a:r>
          </a:p>
          <a:p>
            <a:pPr marL="0" indent="0">
              <a:buNone/>
            </a:pPr>
            <a:endParaRPr lang="en-IN" dirty="0"/>
          </a:p>
          <a:p>
            <a:r>
              <a:rPr lang="en-US" dirty="0"/>
              <a:t>Observe logs.</a:t>
            </a:r>
          </a:p>
          <a:p>
            <a:r>
              <a:rPr lang="en-US" dirty="0"/>
              <a:t>Service called multiple times.</a:t>
            </a:r>
          </a:p>
          <a:p>
            <a:pPr marL="0" indent="0">
              <a:buNone/>
            </a:pPr>
            <a:endParaRPr lang="en-IN" dirty="0"/>
          </a:p>
        </p:txBody>
      </p:sp>
    </p:spTree>
    <p:extLst>
      <p:ext uri="{BB962C8B-B14F-4D97-AF65-F5344CB8AC3E}">
        <p14:creationId xmlns:p14="http://schemas.microsoft.com/office/powerpoint/2010/main" val="8306369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DC5B8-AC3D-3CBF-C487-0FD3D3D77E08}"/>
              </a:ext>
            </a:extLst>
          </p:cNvPr>
          <p:cNvSpPr>
            <a:spLocks noGrp="1"/>
          </p:cNvSpPr>
          <p:nvPr>
            <p:ph type="title"/>
          </p:nvPr>
        </p:nvSpPr>
        <p:spPr/>
        <p:txBody>
          <a:bodyPr/>
          <a:lstStyle/>
          <a:p>
            <a:r>
              <a:rPr lang="en-IN" dirty="0"/>
              <a:t>Timeout Pattern</a:t>
            </a:r>
          </a:p>
        </p:txBody>
      </p:sp>
      <p:sp>
        <p:nvSpPr>
          <p:cNvPr id="3" name="Content Placeholder 2">
            <a:extLst>
              <a:ext uri="{FF2B5EF4-FFF2-40B4-BE49-F238E27FC236}">
                <a16:creationId xmlns:a16="http://schemas.microsoft.com/office/drawing/2014/main" id="{2BB7346C-E1C2-737F-3D4B-2074C05946BB}"/>
              </a:ext>
            </a:extLst>
          </p:cNvPr>
          <p:cNvSpPr>
            <a:spLocks noGrp="1"/>
          </p:cNvSpPr>
          <p:nvPr>
            <p:ph idx="1"/>
          </p:nvPr>
        </p:nvSpPr>
        <p:spPr/>
        <p:txBody>
          <a:bodyPr/>
          <a:lstStyle/>
          <a:p>
            <a:pPr marL="0" indent="0">
              <a:buNone/>
            </a:pPr>
            <a:r>
              <a:rPr lang="en-US" b="1" dirty="0"/>
              <a:t>Problem</a:t>
            </a:r>
          </a:p>
          <a:p>
            <a:r>
              <a:rPr lang="en-US" dirty="0"/>
              <a:t>Service responds slowly.</a:t>
            </a:r>
          </a:p>
          <a:p>
            <a:r>
              <a:rPr lang="en-US" dirty="0"/>
              <a:t>User waits forever.</a:t>
            </a:r>
            <a:br>
              <a:rPr lang="en-US" dirty="0"/>
            </a:br>
            <a:endParaRPr lang="en-US" dirty="0"/>
          </a:p>
          <a:p>
            <a:pPr marL="0" indent="0">
              <a:buNone/>
            </a:pPr>
            <a:r>
              <a:rPr lang="en-US" b="1" dirty="0"/>
              <a:t>Timeout Solution</a:t>
            </a:r>
          </a:p>
          <a:p>
            <a:r>
              <a:rPr lang="en-US" dirty="0"/>
              <a:t>Cancel request after timeout.</a:t>
            </a:r>
          </a:p>
          <a:p>
            <a:pPr marL="0" indent="0">
              <a:buNone/>
            </a:pPr>
            <a:endParaRPr lang="en-IN" dirty="0"/>
          </a:p>
        </p:txBody>
      </p:sp>
    </p:spTree>
    <p:extLst>
      <p:ext uri="{BB962C8B-B14F-4D97-AF65-F5344CB8AC3E}">
        <p14:creationId xmlns:p14="http://schemas.microsoft.com/office/powerpoint/2010/main" val="1428883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96147-E8BF-CF34-4C0B-9AB71B70372C}"/>
              </a:ext>
            </a:extLst>
          </p:cNvPr>
          <p:cNvSpPr>
            <a:spLocks noGrp="1"/>
          </p:cNvSpPr>
          <p:nvPr>
            <p:ph type="title"/>
          </p:nvPr>
        </p:nvSpPr>
        <p:spPr/>
        <p:txBody>
          <a:bodyPr/>
          <a:lstStyle/>
          <a:p>
            <a:r>
              <a:rPr lang="en-IN" dirty="0"/>
              <a:t>Hands-on Timeout</a:t>
            </a:r>
          </a:p>
        </p:txBody>
      </p:sp>
      <p:sp>
        <p:nvSpPr>
          <p:cNvPr id="3" name="Content Placeholder 2">
            <a:extLst>
              <a:ext uri="{FF2B5EF4-FFF2-40B4-BE49-F238E27FC236}">
                <a16:creationId xmlns:a16="http://schemas.microsoft.com/office/drawing/2014/main" id="{47D59064-D388-1445-46DB-7F919F9456F6}"/>
              </a:ext>
            </a:extLst>
          </p:cNvPr>
          <p:cNvSpPr>
            <a:spLocks noGrp="1"/>
          </p:cNvSpPr>
          <p:nvPr>
            <p:ph idx="1"/>
          </p:nvPr>
        </p:nvSpPr>
        <p:spPr/>
        <p:txBody>
          <a:bodyPr>
            <a:normAutofit fontScale="70000" lnSpcReduction="20000"/>
          </a:bodyPr>
          <a:lstStyle/>
          <a:p>
            <a:pPr marL="0" indent="0">
              <a:buNone/>
            </a:pPr>
            <a:r>
              <a:rPr lang="en-IN" dirty="0"/>
              <a:t>Customer Service delay:</a:t>
            </a:r>
          </a:p>
          <a:p>
            <a:pPr lvl="2"/>
            <a:r>
              <a:rPr lang="en-IN" dirty="0" err="1"/>
              <a:t>Thread.sleep</a:t>
            </a:r>
            <a:r>
              <a:rPr lang="en-IN" dirty="0"/>
              <a:t>(10000);</a:t>
            </a:r>
          </a:p>
          <a:p>
            <a:pPr marL="0" indent="0">
              <a:buNone/>
            </a:pPr>
            <a:r>
              <a:rPr lang="en-IN" dirty="0"/>
              <a:t>Order Service:</a:t>
            </a:r>
          </a:p>
          <a:p>
            <a:pPr lvl="2"/>
            <a:r>
              <a:rPr lang="en-IN" dirty="0"/>
              <a:t>@TimeLimiter(name="customerService")</a:t>
            </a:r>
          </a:p>
          <a:p>
            <a:pPr marL="0" indent="0">
              <a:buNone/>
            </a:pPr>
            <a:r>
              <a:rPr lang="en-IN" b="1" dirty="0"/>
              <a:t>Config:</a:t>
            </a:r>
          </a:p>
          <a:p>
            <a:pPr marL="0" indent="0">
              <a:buNone/>
            </a:pPr>
            <a:r>
              <a:rPr lang="en-US" dirty="0"/>
              <a:t>resilience4j:</a:t>
            </a:r>
          </a:p>
          <a:p>
            <a:pPr marL="0" indent="0">
              <a:buNone/>
            </a:pPr>
            <a:r>
              <a:rPr lang="en-US" dirty="0"/>
              <a:t> </a:t>
            </a:r>
            <a:r>
              <a:rPr lang="en-US" dirty="0" err="1"/>
              <a:t>timelimiter</a:t>
            </a:r>
            <a:r>
              <a:rPr lang="en-US" dirty="0"/>
              <a:t>:</a:t>
            </a:r>
          </a:p>
          <a:p>
            <a:pPr marL="0" indent="0">
              <a:buNone/>
            </a:pPr>
            <a:r>
              <a:rPr lang="en-US" dirty="0"/>
              <a:t>  instances:</a:t>
            </a:r>
          </a:p>
          <a:p>
            <a:pPr marL="0" indent="0">
              <a:buNone/>
            </a:pPr>
            <a:r>
              <a:rPr lang="en-US" dirty="0"/>
              <a:t>   </a:t>
            </a:r>
            <a:r>
              <a:rPr lang="en-US" dirty="0" err="1"/>
              <a:t>customerService</a:t>
            </a:r>
            <a:r>
              <a:rPr lang="en-US" dirty="0"/>
              <a:t>:</a:t>
            </a:r>
          </a:p>
          <a:p>
            <a:pPr marL="0" indent="0">
              <a:buNone/>
            </a:pPr>
            <a:r>
              <a:rPr lang="en-US" dirty="0"/>
              <a:t>    </a:t>
            </a:r>
            <a:r>
              <a:rPr lang="en-US" dirty="0" err="1"/>
              <a:t>timeoutDuration</a:t>
            </a:r>
            <a:r>
              <a:rPr lang="en-US" dirty="0"/>
              <a:t>: 2s</a:t>
            </a:r>
          </a:p>
          <a:p>
            <a:pPr marL="0" indent="0">
              <a:buNone/>
            </a:pPr>
            <a:endParaRPr lang="en-US" dirty="0"/>
          </a:p>
          <a:p>
            <a:r>
              <a:rPr lang="en-US" dirty="0"/>
              <a:t>Result:</a:t>
            </a:r>
          </a:p>
          <a:p>
            <a:r>
              <a:rPr lang="en-US" dirty="0"/>
              <a:t>Timeout occurs after 2 seconds.</a:t>
            </a:r>
          </a:p>
          <a:p>
            <a:pPr marL="0" indent="0">
              <a:buNone/>
            </a:pPr>
            <a:endParaRPr lang="en-IN" dirty="0"/>
          </a:p>
        </p:txBody>
      </p:sp>
    </p:spTree>
    <p:extLst>
      <p:ext uri="{BB962C8B-B14F-4D97-AF65-F5344CB8AC3E}">
        <p14:creationId xmlns:p14="http://schemas.microsoft.com/office/powerpoint/2010/main" val="31633492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D4765-9752-1748-C63B-B413D096A1A3}"/>
              </a:ext>
            </a:extLst>
          </p:cNvPr>
          <p:cNvSpPr>
            <a:spLocks noGrp="1"/>
          </p:cNvSpPr>
          <p:nvPr>
            <p:ph type="title"/>
          </p:nvPr>
        </p:nvSpPr>
        <p:spPr/>
        <p:txBody>
          <a:bodyPr/>
          <a:lstStyle/>
          <a:p>
            <a:r>
              <a:rPr lang="en-IN" dirty="0"/>
              <a:t>Bulkhead Pattern</a:t>
            </a:r>
          </a:p>
        </p:txBody>
      </p:sp>
      <p:sp>
        <p:nvSpPr>
          <p:cNvPr id="3" name="Content Placeholder 2">
            <a:extLst>
              <a:ext uri="{FF2B5EF4-FFF2-40B4-BE49-F238E27FC236}">
                <a16:creationId xmlns:a16="http://schemas.microsoft.com/office/drawing/2014/main" id="{9D8B06D5-109A-68DA-1A9C-B48CC828CB9D}"/>
              </a:ext>
            </a:extLst>
          </p:cNvPr>
          <p:cNvSpPr>
            <a:spLocks noGrp="1"/>
          </p:cNvSpPr>
          <p:nvPr>
            <p:ph idx="1"/>
          </p:nvPr>
        </p:nvSpPr>
        <p:spPr/>
        <p:txBody>
          <a:bodyPr/>
          <a:lstStyle/>
          <a:p>
            <a:pPr marL="0" indent="0">
              <a:buNone/>
            </a:pPr>
            <a:r>
              <a:rPr lang="en-US" b="1" dirty="0"/>
              <a:t>Problem</a:t>
            </a:r>
          </a:p>
          <a:p>
            <a:pPr lvl="2"/>
            <a:r>
              <a:rPr lang="en-US" dirty="0"/>
              <a:t>One slow service consumes all threads.</a:t>
            </a:r>
          </a:p>
          <a:p>
            <a:pPr lvl="2"/>
            <a:r>
              <a:rPr lang="en-US" dirty="0"/>
              <a:t>Entire system blocks.</a:t>
            </a:r>
          </a:p>
          <a:p>
            <a:pPr marL="0" indent="0">
              <a:buNone/>
            </a:pPr>
            <a:r>
              <a:rPr lang="en-US" b="1" dirty="0"/>
              <a:t>Bulkhead Solution</a:t>
            </a:r>
          </a:p>
          <a:p>
            <a:pPr lvl="2"/>
            <a:r>
              <a:rPr lang="en-US" dirty="0"/>
              <a:t>Separate thread pools.</a:t>
            </a:r>
          </a:p>
          <a:p>
            <a:pPr lvl="2"/>
            <a:r>
              <a:rPr lang="en-US" dirty="0"/>
              <a:t>Like ship compartments.</a:t>
            </a:r>
          </a:p>
          <a:p>
            <a:pPr lvl="2"/>
            <a:r>
              <a:rPr lang="en-US" dirty="0"/>
              <a:t>If one fails, others safe.</a:t>
            </a:r>
          </a:p>
          <a:p>
            <a:endParaRPr lang="en-IN" dirty="0"/>
          </a:p>
        </p:txBody>
      </p:sp>
    </p:spTree>
    <p:extLst>
      <p:ext uri="{BB962C8B-B14F-4D97-AF65-F5344CB8AC3E}">
        <p14:creationId xmlns:p14="http://schemas.microsoft.com/office/powerpoint/2010/main" val="12802825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E20D4-C044-C07B-CDD0-EB78F5E5C77A}"/>
              </a:ext>
            </a:extLst>
          </p:cNvPr>
          <p:cNvSpPr>
            <a:spLocks noGrp="1"/>
          </p:cNvSpPr>
          <p:nvPr>
            <p:ph type="title"/>
          </p:nvPr>
        </p:nvSpPr>
        <p:spPr/>
        <p:txBody>
          <a:bodyPr/>
          <a:lstStyle/>
          <a:p>
            <a:r>
              <a:rPr lang="en-IN" dirty="0"/>
              <a:t>Hands-on Bulkhead</a:t>
            </a:r>
          </a:p>
        </p:txBody>
      </p:sp>
      <p:sp>
        <p:nvSpPr>
          <p:cNvPr id="3" name="Content Placeholder 2">
            <a:extLst>
              <a:ext uri="{FF2B5EF4-FFF2-40B4-BE49-F238E27FC236}">
                <a16:creationId xmlns:a16="http://schemas.microsoft.com/office/drawing/2014/main" id="{DACAC7E4-1E3A-BD96-8181-1A77BBE80DC5}"/>
              </a:ext>
            </a:extLst>
          </p:cNvPr>
          <p:cNvSpPr>
            <a:spLocks noGrp="1"/>
          </p:cNvSpPr>
          <p:nvPr>
            <p:ph idx="1"/>
          </p:nvPr>
        </p:nvSpPr>
        <p:spPr/>
        <p:txBody>
          <a:bodyPr>
            <a:normAutofit lnSpcReduction="10000"/>
          </a:bodyPr>
          <a:lstStyle/>
          <a:p>
            <a:r>
              <a:rPr lang="en-IN" dirty="0"/>
              <a:t>@Bulkhead(name="customerService")</a:t>
            </a:r>
          </a:p>
          <a:p>
            <a:pPr marL="0" indent="0">
              <a:buNone/>
            </a:pPr>
            <a:r>
              <a:rPr lang="en-IN" b="1" dirty="0"/>
              <a:t>Config:</a:t>
            </a:r>
          </a:p>
          <a:p>
            <a:pPr marL="0" indent="0">
              <a:buNone/>
            </a:pPr>
            <a:r>
              <a:rPr lang="en-US" dirty="0"/>
              <a:t>resilience4j:</a:t>
            </a:r>
          </a:p>
          <a:p>
            <a:pPr marL="0" indent="0">
              <a:buNone/>
            </a:pPr>
            <a:r>
              <a:rPr lang="en-US" dirty="0"/>
              <a:t> bulkhead:</a:t>
            </a:r>
          </a:p>
          <a:p>
            <a:pPr marL="0" indent="0">
              <a:buNone/>
            </a:pPr>
            <a:r>
              <a:rPr lang="en-US" dirty="0"/>
              <a:t>  instances:</a:t>
            </a:r>
          </a:p>
          <a:p>
            <a:pPr marL="0" indent="0">
              <a:buNone/>
            </a:pPr>
            <a:r>
              <a:rPr lang="en-US" dirty="0"/>
              <a:t>   </a:t>
            </a:r>
            <a:r>
              <a:rPr lang="en-US" dirty="0" err="1"/>
              <a:t>customerService</a:t>
            </a:r>
            <a:r>
              <a:rPr lang="en-US" dirty="0"/>
              <a:t>:</a:t>
            </a:r>
          </a:p>
          <a:p>
            <a:pPr marL="0" indent="0">
              <a:buNone/>
            </a:pPr>
            <a:r>
              <a:rPr lang="en-US" dirty="0"/>
              <a:t>    </a:t>
            </a:r>
            <a:r>
              <a:rPr lang="en-US" dirty="0" err="1"/>
              <a:t>maxConcurrentCalls</a:t>
            </a:r>
            <a:r>
              <a:rPr lang="en-US" dirty="0"/>
              <a:t>: 2</a:t>
            </a:r>
          </a:p>
          <a:p>
            <a:pPr marL="0" indent="0">
              <a:buNone/>
            </a:pPr>
            <a:r>
              <a:rPr lang="en-US" dirty="0"/>
              <a:t>Only 2 concurrent calls allowed.</a:t>
            </a:r>
            <a:endParaRPr lang="en-IN" dirty="0"/>
          </a:p>
        </p:txBody>
      </p:sp>
    </p:spTree>
    <p:extLst>
      <p:ext uri="{BB962C8B-B14F-4D97-AF65-F5344CB8AC3E}">
        <p14:creationId xmlns:p14="http://schemas.microsoft.com/office/powerpoint/2010/main" val="26963994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DD138-F383-3A90-9494-017429385601}"/>
              </a:ext>
            </a:extLst>
          </p:cNvPr>
          <p:cNvSpPr>
            <a:spLocks noGrp="1"/>
          </p:cNvSpPr>
          <p:nvPr>
            <p:ph type="title"/>
          </p:nvPr>
        </p:nvSpPr>
        <p:spPr/>
        <p:txBody>
          <a:bodyPr/>
          <a:lstStyle/>
          <a:p>
            <a:r>
              <a:rPr lang="en-IN" dirty="0"/>
              <a:t>Fallback Pattern</a:t>
            </a:r>
          </a:p>
        </p:txBody>
      </p:sp>
      <p:sp>
        <p:nvSpPr>
          <p:cNvPr id="3" name="Content Placeholder 2">
            <a:extLst>
              <a:ext uri="{FF2B5EF4-FFF2-40B4-BE49-F238E27FC236}">
                <a16:creationId xmlns:a16="http://schemas.microsoft.com/office/drawing/2014/main" id="{7C415F9A-FB5F-EF63-B730-6E7965D22341}"/>
              </a:ext>
            </a:extLst>
          </p:cNvPr>
          <p:cNvSpPr>
            <a:spLocks noGrp="1"/>
          </p:cNvSpPr>
          <p:nvPr>
            <p:ph idx="1"/>
          </p:nvPr>
        </p:nvSpPr>
        <p:spPr/>
        <p:txBody>
          <a:bodyPr/>
          <a:lstStyle/>
          <a:p>
            <a:pPr marL="0" indent="0">
              <a:buNone/>
            </a:pPr>
            <a:r>
              <a:rPr lang="en-IN" b="1" dirty="0"/>
              <a:t>Purpose</a:t>
            </a:r>
          </a:p>
          <a:p>
            <a:pPr lvl="1"/>
            <a:r>
              <a:rPr lang="en-IN" dirty="0"/>
              <a:t>Provide backup response.</a:t>
            </a:r>
          </a:p>
          <a:p>
            <a:pPr marL="0" indent="0">
              <a:buNone/>
            </a:pPr>
            <a:r>
              <a:rPr lang="en-US" dirty="0"/>
              <a:t>Example:</a:t>
            </a:r>
          </a:p>
          <a:p>
            <a:r>
              <a:rPr lang="en-US" dirty="0"/>
              <a:t>Customer Service down</a:t>
            </a:r>
          </a:p>
          <a:p>
            <a:pPr marL="0" indent="0">
              <a:buNone/>
            </a:pPr>
            <a:r>
              <a:rPr lang="en-US" dirty="0"/>
              <a:t>Return:</a:t>
            </a:r>
          </a:p>
          <a:p>
            <a:pPr marL="0" indent="0">
              <a:buNone/>
            </a:pPr>
            <a:r>
              <a:rPr lang="en-US" dirty="0"/>
              <a:t>Guest Customer</a:t>
            </a:r>
          </a:p>
          <a:p>
            <a:pPr marL="0" indent="0">
              <a:buNone/>
            </a:pPr>
            <a:endParaRPr lang="en-US" dirty="0"/>
          </a:p>
          <a:p>
            <a:endParaRPr lang="en-IN" dirty="0"/>
          </a:p>
        </p:txBody>
      </p:sp>
    </p:spTree>
    <p:extLst>
      <p:ext uri="{BB962C8B-B14F-4D97-AF65-F5344CB8AC3E}">
        <p14:creationId xmlns:p14="http://schemas.microsoft.com/office/powerpoint/2010/main" val="27188734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643AD-A7F2-6797-28B8-DD4C77D80A1F}"/>
              </a:ext>
            </a:extLst>
          </p:cNvPr>
          <p:cNvSpPr>
            <a:spLocks noGrp="1"/>
          </p:cNvSpPr>
          <p:nvPr>
            <p:ph type="title"/>
          </p:nvPr>
        </p:nvSpPr>
        <p:spPr/>
        <p:txBody>
          <a:bodyPr/>
          <a:lstStyle/>
          <a:p>
            <a:r>
              <a:rPr lang="en-IN" dirty="0"/>
              <a:t>Hands-on</a:t>
            </a:r>
          </a:p>
        </p:txBody>
      </p:sp>
      <p:sp>
        <p:nvSpPr>
          <p:cNvPr id="3" name="Content Placeholder 2">
            <a:extLst>
              <a:ext uri="{FF2B5EF4-FFF2-40B4-BE49-F238E27FC236}">
                <a16:creationId xmlns:a16="http://schemas.microsoft.com/office/drawing/2014/main" id="{04F4A7A6-E0BD-3B2F-7E74-B2ADFE763884}"/>
              </a:ext>
            </a:extLst>
          </p:cNvPr>
          <p:cNvSpPr>
            <a:spLocks noGrp="1"/>
          </p:cNvSpPr>
          <p:nvPr>
            <p:ph idx="1"/>
          </p:nvPr>
        </p:nvSpPr>
        <p:spPr/>
        <p:txBody>
          <a:bodyPr>
            <a:normAutofit fontScale="77500" lnSpcReduction="20000"/>
          </a:bodyPr>
          <a:lstStyle/>
          <a:p>
            <a:pPr marL="0" indent="0">
              <a:buNone/>
            </a:pPr>
            <a:r>
              <a:rPr lang="en-IN" dirty="0"/>
              <a:t>@CircuitBreaker(name="customerService",</a:t>
            </a:r>
          </a:p>
          <a:p>
            <a:pPr marL="0" indent="0">
              <a:buNone/>
            </a:pPr>
            <a:r>
              <a:rPr lang="en-IN" dirty="0"/>
              <a:t> </a:t>
            </a:r>
            <a:r>
              <a:rPr lang="en-IN" dirty="0" err="1"/>
              <a:t>fallbackMethod</a:t>
            </a:r>
            <a:r>
              <a:rPr lang="en-IN" dirty="0"/>
              <a:t>="</a:t>
            </a:r>
            <a:r>
              <a:rPr lang="en-IN" dirty="0" err="1"/>
              <a:t>fallbackCustomer</a:t>
            </a:r>
            <a:r>
              <a:rPr lang="en-IN" dirty="0"/>
              <a:t>")</a:t>
            </a:r>
          </a:p>
          <a:p>
            <a:pPr marL="0" indent="0">
              <a:buNone/>
            </a:pPr>
            <a:r>
              <a:rPr lang="en-IN" dirty="0"/>
              <a:t>public String </a:t>
            </a:r>
            <a:r>
              <a:rPr lang="en-IN" dirty="0" err="1"/>
              <a:t>getOrder</a:t>
            </a:r>
            <a:r>
              <a:rPr lang="en-IN" dirty="0"/>
              <a:t>(int id) {</a:t>
            </a:r>
          </a:p>
          <a:p>
            <a:pPr marL="0" indent="0">
              <a:buNone/>
            </a:pPr>
            <a:endParaRPr lang="en-IN" dirty="0"/>
          </a:p>
          <a:p>
            <a:pPr marL="0" indent="0">
              <a:buNone/>
            </a:pPr>
            <a:r>
              <a:rPr lang="en-IN" dirty="0"/>
              <a:t>    return </a:t>
            </a:r>
            <a:r>
              <a:rPr lang="en-IN" dirty="0" err="1"/>
              <a:t>customerServiceClient.getCustomer</a:t>
            </a:r>
            <a:r>
              <a:rPr lang="en-IN" dirty="0"/>
              <a:t>(id);</a:t>
            </a:r>
          </a:p>
          <a:p>
            <a:pPr marL="0" indent="0">
              <a:buNone/>
            </a:pPr>
            <a:r>
              <a:rPr lang="en-IN" dirty="0"/>
              <a:t>}</a:t>
            </a:r>
          </a:p>
          <a:p>
            <a:pPr marL="0" indent="0">
              <a:buNone/>
            </a:pPr>
            <a:endParaRPr lang="en-IN" dirty="0"/>
          </a:p>
          <a:p>
            <a:pPr marL="0" indent="0">
              <a:buNone/>
            </a:pPr>
            <a:r>
              <a:rPr lang="en-IN" dirty="0"/>
              <a:t>public String </a:t>
            </a:r>
            <a:r>
              <a:rPr lang="en-IN" dirty="0" err="1"/>
              <a:t>fallbackCustomer</a:t>
            </a:r>
            <a:r>
              <a:rPr lang="en-IN" dirty="0"/>
              <a:t>(int id, Exception ex) {</a:t>
            </a:r>
          </a:p>
          <a:p>
            <a:pPr marL="0" indent="0">
              <a:buNone/>
            </a:pPr>
            <a:endParaRPr lang="en-IN" dirty="0"/>
          </a:p>
          <a:p>
            <a:pPr marL="0" indent="0">
              <a:buNone/>
            </a:pPr>
            <a:r>
              <a:rPr lang="en-IN" dirty="0"/>
              <a:t>    return "Fallback Customer";</a:t>
            </a:r>
          </a:p>
          <a:p>
            <a:pPr marL="0" indent="0">
              <a:buNone/>
            </a:pPr>
            <a:r>
              <a:rPr lang="en-IN"/>
              <a:t>}</a:t>
            </a:r>
          </a:p>
          <a:p>
            <a:pPr marL="0" indent="0">
              <a:buNone/>
            </a:pPr>
            <a:endParaRPr lang="en-IN"/>
          </a:p>
          <a:p>
            <a:pPr marL="0" indent="0">
              <a:buNone/>
            </a:pPr>
            <a:endParaRPr lang="en-IN" dirty="0"/>
          </a:p>
        </p:txBody>
      </p:sp>
    </p:spTree>
    <p:extLst>
      <p:ext uri="{BB962C8B-B14F-4D97-AF65-F5344CB8AC3E}">
        <p14:creationId xmlns:p14="http://schemas.microsoft.com/office/powerpoint/2010/main" val="38644627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Saga Pattern</a:t>
            </a:r>
          </a:p>
        </p:txBody>
      </p:sp>
      <p:sp>
        <p:nvSpPr>
          <p:cNvPr id="3" name="Content Placeholder 2"/>
          <p:cNvSpPr>
            <a:spLocks noGrp="1"/>
          </p:cNvSpPr>
          <p:nvPr>
            <p:ph idx="1"/>
          </p:nvPr>
        </p:nvSpPr>
        <p:spPr/>
        <p:txBody>
          <a:bodyPr>
            <a:normAutofit fontScale="77500" lnSpcReduction="20000"/>
          </a:bodyPr>
          <a:lstStyle/>
          <a:p>
            <a:pPr marL="0" indent="0">
              <a:buNone/>
            </a:pPr>
            <a:r>
              <a:rPr lang="en-US" b="1" dirty="0"/>
              <a:t>1. Problem: Distributed Transaction Problem in Microservices</a:t>
            </a:r>
          </a:p>
          <a:p>
            <a:pPr marL="0" indent="0">
              <a:buNone/>
            </a:pPr>
            <a:r>
              <a:rPr lang="en-US" dirty="0"/>
              <a:t>In monolithic applications, we use:</a:t>
            </a:r>
          </a:p>
          <a:p>
            <a:pPr marL="0" indent="0">
              <a:buNone/>
            </a:pPr>
            <a:r>
              <a:rPr lang="en-US" dirty="0"/>
              <a:t>	@Transactional</a:t>
            </a:r>
          </a:p>
          <a:p>
            <a:pPr marL="0" indent="0">
              <a:buNone/>
            </a:pPr>
            <a:r>
              <a:rPr lang="en-US" dirty="0"/>
              <a:t>This ensures:</a:t>
            </a:r>
          </a:p>
          <a:p>
            <a:pPr marL="0" indent="0">
              <a:buNone/>
            </a:pPr>
            <a:r>
              <a:rPr lang="en-US" dirty="0"/>
              <a:t>• All DB operations succeed → COMMIT</a:t>
            </a:r>
            <a:br>
              <a:rPr lang="en-US" dirty="0"/>
            </a:br>
            <a:r>
              <a:rPr lang="en-US" dirty="0"/>
              <a:t>• If any fails → ROLLBACK</a:t>
            </a:r>
          </a:p>
          <a:p>
            <a:pPr marL="0" indent="0">
              <a:buNone/>
            </a:pPr>
            <a:r>
              <a:rPr lang="en-US" dirty="0"/>
              <a:t>But in microservices:</a:t>
            </a:r>
          </a:p>
          <a:p>
            <a:pPr marL="0" indent="0">
              <a:buNone/>
            </a:pPr>
            <a:r>
              <a:rPr lang="en-US" dirty="0"/>
              <a:t>	Payment Service → Account Service → Notification Service</a:t>
            </a:r>
          </a:p>
          <a:p>
            <a:r>
              <a:rPr lang="en-US" dirty="0"/>
              <a:t>Each service has its own database.</a:t>
            </a:r>
          </a:p>
          <a:p>
            <a:r>
              <a:rPr lang="en-US" dirty="0"/>
              <a:t>There is NO global transaction manager.</a:t>
            </a:r>
          </a:p>
          <a:p>
            <a:pPr marL="0" indent="0">
              <a:buNone/>
            </a:pPr>
            <a:endParaRPr lang="en-US" dirty="0"/>
          </a:p>
          <a:p>
            <a:pPr marL="0" indent="0">
              <a:buNone/>
            </a:pPr>
            <a:endParaRPr lang="en-US" dirty="0"/>
          </a:p>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1FCD0-591E-FBE5-11DA-2E85B5EA8588}"/>
              </a:ext>
            </a:extLst>
          </p:cNvPr>
          <p:cNvSpPr>
            <a:spLocks noGrp="1"/>
          </p:cNvSpPr>
          <p:nvPr>
            <p:ph type="title"/>
          </p:nvPr>
        </p:nvSpPr>
        <p:spPr/>
        <p:txBody>
          <a:bodyPr/>
          <a:lstStyle/>
          <a:p>
            <a:r>
              <a:rPr lang="en-IN" dirty="0"/>
              <a:t>Saga Pattern</a:t>
            </a:r>
          </a:p>
        </p:txBody>
      </p:sp>
      <p:sp>
        <p:nvSpPr>
          <p:cNvPr id="3" name="Content Placeholder 2">
            <a:extLst>
              <a:ext uri="{FF2B5EF4-FFF2-40B4-BE49-F238E27FC236}">
                <a16:creationId xmlns:a16="http://schemas.microsoft.com/office/drawing/2014/main" id="{A61F55C5-6F3E-4FE1-0D78-198B0F7B08BE}"/>
              </a:ext>
            </a:extLst>
          </p:cNvPr>
          <p:cNvSpPr>
            <a:spLocks noGrp="1"/>
          </p:cNvSpPr>
          <p:nvPr>
            <p:ph idx="1"/>
          </p:nvPr>
        </p:nvSpPr>
        <p:spPr/>
        <p:txBody>
          <a:bodyPr>
            <a:normAutofit fontScale="62500" lnSpcReduction="20000"/>
          </a:bodyPr>
          <a:lstStyle/>
          <a:p>
            <a:pPr marL="0" indent="0">
              <a:buNone/>
            </a:pPr>
            <a:r>
              <a:rPr lang="en-US" b="1" dirty="0"/>
              <a:t>Example: Money Transfer</a:t>
            </a:r>
          </a:p>
          <a:p>
            <a:r>
              <a:rPr lang="en-US" dirty="0"/>
              <a:t>Transfer ₹500 from Account A → Account B</a:t>
            </a:r>
          </a:p>
          <a:p>
            <a:r>
              <a:rPr lang="en-IN" dirty="0"/>
              <a:t>Steps:</a:t>
            </a:r>
          </a:p>
          <a:p>
            <a:pPr marL="800100" lvl="2" indent="0">
              <a:buNone/>
            </a:pPr>
            <a:r>
              <a:rPr lang="en-US" dirty="0"/>
              <a:t>1. Debit Account A</a:t>
            </a:r>
          </a:p>
          <a:p>
            <a:pPr marL="800100" lvl="2" indent="0">
              <a:buNone/>
            </a:pPr>
            <a:r>
              <a:rPr lang="en-US" dirty="0"/>
              <a:t>2. Credit Account B</a:t>
            </a:r>
          </a:p>
          <a:p>
            <a:pPr marL="800100" lvl="2" indent="0">
              <a:buNone/>
            </a:pPr>
            <a:r>
              <a:rPr lang="en-US" dirty="0"/>
              <a:t>3. Send notification</a:t>
            </a:r>
          </a:p>
          <a:p>
            <a:pPr marL="0" indent="0">
              <a:buNone/>
            </a:pPr>
            <a:r>
              <a:rPr lang="en-IN" dirty="0"/>
              <a:t>Problem scenario:</a:t>
            </a:r>
          </a:p>
          <a:p>
            <a:pPr lvl="2"/>
            <a:r>
              <a:rPr lang="en-US" dirty="0"/>
              <a:t>Step 1 → SUCCESS</a:t>
            </a:r>
          </a:p>
          <a:p>
            <a:pPr lvl="2"/>
            <a:r>
              <a:rPr lang="en-US" dirty="0"/>
              <a:t>Step 2 → FAIL</a:t>
            </a:r>
          </a:p>
          <a:p>
            <a:endParaRPr lang="en-US" dirty="0"/>
          </a:p>
          <a:p>
            <a:pPr marL="0" indent="0">
              <a:buNone/>
            </a:pPr>
            <a:r>
              <a:rPr lang="en-US" dirty="0"/>
              <a:t>Result:</a:t>
            </a:r>
          </a:p>
          <a:p>
            <a:pPr lvl="2"/>
            <a:r>
              <a:rPr lang="en-US" dirty="0"/>
              <a:t>Account A debited</a:t>
            </a:r>
          </a:p>
          <a:p>
            <a:pPr lvl="2"/>
            <a:r>
              <a:rPr lang="en-US" dirty="0"/>
              <a:t>Account B not credited</a:t>
            </a:r>
          </a:p>
          <a:p>
            <a:endParaRPr lang="en-US" dirty="0"/>
          </a:p>
          <a:p>
            <a:pPr marL="914400" lvl="2" indent="0">
              <a:buNone/>
            </a:pPr>
            <a:r>
              <a:rPr lang="en-US" dirty="0"/>
              <a:t>DATA INCONSISTENT</a:t>
            </a:r>
          </a:p>
          <a:p>
            <a:pPr marL="0" indent="0">
              <a:buNone/>
            </a:pPr>
            <a:r>
              <a:rPr lang="en-IN" dirty="0"/>
              <a:t>We need distributed rollback.</a:t>
            </a:r>
          </a:p>
        </p:txBody>
      </p:sp>
    </p:spTree>
    <p:extLst>
      <p:ext uri="{BB962C8B-B14F-4D97-AF65-F5344CB8AC3E}">
        <p14:creationId xmlns:p14="http://schemas.microsoft.com/office/powerpoint/2010/main" val="11179607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D5F02-74B4-BC3C-7ECB-6AE0DA1F2B38}"/>
              </a:ext>
            </a:extLst>
          </p:cNvPr>
          <p:cNvSpPr>
            <a:spLocks noGrp="1"/>
          </p:cNvSpPr>
          <p:nvPr>
            <p:ph type="title"/>
          </p:nvPr>
        </p:nvSpPr>
        <p:spPr/>
        <p:txBody>
          <a:bodyPr/>
          <a:lstStyle/>
          <a:p>
            <a:r>
              <a:rPr lang="en-IN" dirty="0"/>
              <a:t>Saga Pattern</a:t>
            </a:r>
          </a:p>
        </p:txBody>
      </p:sp>
      <p:sp>
        <p:nvSpPr>
          <p:cNvPr id="3" name="Content Placeholder 2">
            <a:extLst>
              <a:ext uri="{FF2B5EF4-FFF2-40B4-BE49-F238E27FC236}">
                <a16:creationId xmlns:a16="http://schemas.microsoft.com/office/drawing/2014/main" id="{850009D7-A425-38C5-149C-1BCC662D2967}"/>
              </a:ext>
            </a:extLst>
          </p:cNvPr>
          <p:cNvSpPr>
            <a:spLocks noGrp="1"/>
          </p:cNvSpPr>
          <p:nvPr>
            <p:ph idx="1"/>
          </p:nvPr>
        </p:nvSpPr>
        <p:spPr/>
        <p:txBody>
          <a:bodyPr/>
          <a:lstStyle/>
          <a:p>
            <a:pPr marL="0" indent="0">
              <a:buNone/>
            </a:pPr>
            <a:r>
              <a:rPr lang="en-US" sz="2400" b="1" dirty="0"/>
              <a:t>Solution: Saga Pattern</a:t>
            </a:r>
          </a:p>
          <a:p>
            <a:pPr marL="0" indent="0">
              <a:buNone/>
            </a:pPr>
            <a:r>
              <a:rPr lang="en-US" sz="2400" dirty="0"/>
              <a:t>Saga = sequence of local transactions</a:t>
            </a:r>
          </a:p>
          <a:p>
            <a:pPr marL="0" indent="0">
              <a:buNone/>
            </a:pPr>
            <a:r>
              <a:rPr lang="en-US" sz="2400" dirty="0"/>
              <a:t>Each step has:</a:t>
            </a:r>
          </a:p>
          <a:p>
            <a:pPr marL="800100" lvl="2" indent="0">
              <a:buNone/>
            </a:pPr>
            <a:r>
              <a:rPr lang="en-US" dirty="0"/>
              <a:t>• Forward action</a:t>
            </a:r>
            <a:br>
              <a:rPr lang="en-US" dirty="0"/>
            </a:br>
            <a:r>
              <a:rPr lang="en-US" dirty="0"/>
              <a:t>• Compensation action (rollback)</a:t>
            </a:r>
          </a:p>
          <a:p>
            <a:pPr marL="0" indent="0">
              <a:buNone/>
            </a:pPr>
            <a:r>
              <a:rPr lang="en-IN" sz="2400" dirty="0"/>
              <a:t>Example Saga</a:t>
            </a:r>
          </a:p>
        </p:txBody>
      </p:sp>
      <p:graphicFrame>
        <p:nvGraphicFramePr>
          <p:cNvPr id="4" name="Table 3">
            <a:extLst>
              <a:ext uri="{FF2B5EF4-FFF2-40B4-BE49-F238E27FC236}">
                <a16:creationId xmlns:a16="http://schemas.microsoft.com/office/drawing/2014/main" id="{3A07EB95-555A-98BC-9E2C-469EAD4A2409}"/>
              </a:ext>
            </a:extLst>
          </p:cNvPr>
          <p:cNvGraphicFramePr>
            <a:graphicFrameLocks noGrp="1"/>
          </p:cNvGraphicFramePr>
          <p:nvPr>
            <p:extLst>
              <p:ext uri="{D42A27DB-BD31-4B8C-83A1-F6EECF244321}">
                <p14:modId xmlns:p14="http://schemas.microsoft.com/office/powerpoint/2010/main" val="1549198549"/>
              </p:ext>
            </p:extLst>
          </p:nvPr>
        </p:nvGraphicFramePr>
        <p:xfrm>
          <a:off x="457200" y="4054062"/>
          <a:ext cx="8229600" cy="1463040"/>
        </p:xfrm>
        <a:graphic>
          <a:graphicData uri="http://schemas.openxmlformats.org/drawingml/2006/table">
            <a:tbl>
              <a:tblPr/>
              <a:tblGrid>
                <a:gridCol w="2743200">
                  <a:extLst>
                    <a:ext uri="{9D8B030D-6E8A-4147-A177-3AD203B41FA5}">
                      <a16:colId xmlns:a16="http://schemas.microsoft.com/office/drawing/2014/main" val="3114672187"/>
                    </a:ext>
                  </a:extLst>
                </a:gridCol>
                <a:gridCol w="2743200">
                  <a:extLst>
                    <a:ext uri="{9D8B030D-6E8A-4147-A177-3AD203B41FA5}">
                      <a16:colId xmlns:a16="http://schemas.microsoft.com/office/drawing/2014/main" val="818603947"/>
                    </a:ext>
                  </a:extLst>
                </a:gridCol>
                <a:gridCol w="2743200">
                  <a:extLst>
                    <a:ext uri="{9D8B030D-6E8A-4147-A177-3AD203B41FA5}">
                      <a16:colId xmlns:a16="http://schemas.microsoft.com/office/drawing/2014/main" val="1438085381"/>
                    </a:ext>
                  </a:extLst>
                </a:gridCol>
              </a:tblGrid>
              <a:tr h="0">
                <a:tc>
                  <a:txBody>
                    <a:bodyPr/>
                    <a:lstStyle/>
                    <a:p>
                      <a:pPr>
                        <a:buNone/>
                      </a:pPr>
                      <a:r>
                        <a:rPr lang="en-IN"/>
                        <a:t>Step</a:t>
                      </a:r>
                    </a:p>
                  </a:txBody>
                  <a:tcPr anchor="ctr">
                    <a:lnL>
                      <a:noFill/>
                    </a:lnL>
                    <a:lnR>
                      <a:noFill/>
                    </a:lnR>
                    <a:lnT>
                      <a:noFill/>
                    </a:lnT>
                    <a:lnB>
                      <a:noFill/>
                    </a:lnB>
                    <a:noFill/>
                  </a:tcPr>
                </a:tc>
                <a:tc>
                  <a:txBody>
                    <a:bodyPr/>
                    <a:lstStyle/>
                    <a:p>
                      <a:pPr>
                        <a:buNone/>
                      </a:pPr>
                      <a:r>
                        <a:rPr lang="en-IN"/>
                        <a:t>Action</a:t>
                      </a:r>
                    </a:p>
                  </a:txBody>
                  <a:tcPr anchor="ctr">
                    <a:lnL>
                      <a:noFill/>
                    </a:lnL>
                    <a:lnR>
                      <a:noFill/>
                    </a:lnR>
                    <a:lnT>
                      <a:noFill/>
                    </a:lnT>
                    <a:lnB>
                      <a:noFill/>
                    </a:lnB>
                    <a:noFill/>
                  </a:tcPr>
                </a:tc>
                <a:tc>
                  <a:txBody>
                    <a:bodyPr/>
                    <a:lstStyle/>
                    <a:p>
                      <a:pPr>
                        <a:buNone/>
                      </a:pPr>
                      <a:r>
                        <a:rPr lang="en-IN"/>
                        <a:t>Compensation</a:t>
                      </a:r>
                    </a:p>
                  </a:txBody>
                  <a:tcPr anchor="ctr">
                    <a:lnL>
                      <a:noFill/>
                    </a:lnL>
                    <a:lnR>
                      <a:noFill/>
                    </a:lnR>
                    <a:lnT>
                      <a:noFill/>
                    </a:lnT>
                    <a:lnB>
                      <a:noFill/>
                    </a:lnB>
                    <a:noFill/>
                  </a:tcPr>
                </a:tc>
                <a:extLst>
                  <a:ext uri="{0D108BD9-81ED-4DB2-BD59-A6C34878D82A}">
                    <a16:rowId xmlns:a16="http://schemas.microsoft.com/office/drawing/2014/main" val="3089914789"/>
                  </a:ext>
                </a:extLst>
              </a:tr>
              <a:tr h="0">
                <a:tc>
                  <a:txBody>
                    <a:bodyPr/>
                    <a:lstStyle/>
                    <a:p>
                      <a:pPr>
                        <a:buNone/>
                      </a:pPr>
                      <a:r>
                        <a:rPr lang="en-IN"/>
                        <a:t>Debit A</a:t>
                      </a:r>
                    </a:p>
                  </a:txBody>
                  <a:tcPr anchor="ctr">
                    <a:lnL>
                      <a:noFill/>
                    </a:lnL>
                    <a:lnR>
                      <a:noFill/>
                    </a:lnR>
                    <a:lnT>
                      <a:noFill/>
                    </a:lnT>
                    <a:lnB>
                      <a:noFill/>
                    </a:lnB>
                    <a:noFill/>
                  </a:tcPr>
                </a:tc>
                <a:tc>
                  <a:txBody>
                    <a:bodyPr/>
                    <a:lstStyle/>
                    <a:p>
                      <a:pPr>
                        <a:buNone/>
                      </a:pPr>
                      <a:r>
                        <a:rPr lang="en-IN" dirty="0"/>
                        <a:t>debit()</a:t>
                      </a:r>
                    </a:p>
                  </a:txBody>
                  <a:tcPr anchor="ctr">
                    <a:lnL>
                      <a:noFill/>
                    </a:lnL>
                    <a:lnR>
                      <a:noFill/>
                    </a:lnR>
                    <a:lnT>
                      <a:noFill/>
                    </a:lnT>
                    <a:lnB>
                      <a:noFill/>
                    </a:lnB>
                    <a:noFill/>
                  </a:tcPr>
                </a:tc>
                <a:tc>
                  <a:txBody>
                    <a:bodyPr/>
                    <a:lstStyle/>
                    <a:p>
                      <a:pPr>
                        <a:buNone/>
                      </a:pPr>
                      <a:r>
                        <a:rPr lang="en-IN"/>
                        <a:t>credit()</a:t>
                      </a:r>
                    </a:p>
                  </a:txBody>
                  <a:tcPr anchor="ctr">
                    <a:lnL>
                      <a:noFill/>
                    </a:lnL>
                    <a:lnR>
                      <a:noFill/>
                    </a:lnR>
                    <a:lnT>
                      <a:noFill/>
                    </a:lnT>
                    <a:lnB>
                      <a:noFill/>
                    </a:lnB>
                    <a:noFill/>
                  </a:tcPr>
                </a:tc>
                <a:extLst>
                  <a:ext uri="{0D108BD9-81ED-4DB2-BD59-A6C34878D82A}">
                    <a16:rowId xmlns:a16="http://schemas.microsoft.com/office/drawing/2014/main" val="490969287"/>
                  </a:ext>
                </a:extLst>
              </a:tr>
              <a:tr h="0">
                <a:tc>
                  <a:txBody>
                    <a:bodyPr/>
                    <a:lstStyle/>
                    <a:p>
                      <a:pPr>
                        <a:buNone/>
                      </a:pPr>
                      <a:r>
                        <a:rPr lang="en-IN"/>
                        <a:t>Credit B</a:t>
                      </a:r>
                    </a:p>
                  </a:txBody>
                  <a:tcPr anchor="ctr">
                    <a:lnL>
                      <a:noFill/>
                    </a:lnL>
                    <a:lnR>
                      <a:noFill/>
                    </a:lnR>
                    <a:lnT>
                      <a:noFill/>
                    </a:lnT>
                    <a:lnB>
                      <a:noFill/>
                    </a:lnB>
                    <a:noFill/>
                  </a:tcPr>
                </a:tc>
                <a:tc>
                  <a:txBody>
                    <a:bodyPr/>
                    <a:lstStyle/>
                    <a:p>
                      <a:pPr>
                        <a:buNone/>
                      </a:pPr>
                      <a:r>
                        <a:rPr lang="en-IN"/>
                        <a:t>credit()</a:t>
                      </a:r>
                    </a:p>
                  </a:txBody>
                  <a:tcPr anchor="ctr">
                    <a:lnL>
                      <a:noFill/>
                    </a:lnL>
                    <a:lnR>
                      <a:noFill/>
                    </a:lnR>
                    <a:lnT>
                      <a:noFill/>
                    </a:lnT>
                    <a:lnB>
                      <a:noFill/>
                    </a:lnB>
                    <a:noFill/>
                  </a:tcPr>
                </a:tc>
                <a:tc>
                  <a:txBody>
                    <a:bodyPr/>
                    <a:lstStyle/>
                    <a:p>
                      <a:pPr>
                        <a:buNone/>
                      </a:pPr>
                      <a:r>
                        <a:rPr lang="en-IN"/>
                        <a:t>debit()</a:t>
                      </a:r>
                    </a:p>
                  </a:txBody>
                  <a:tcPr anchor="ctr">
                    <a:lnL>
                      <a:noFill/>
                    </a:lnL>
                    <a:lnR>
                      <a:noFill/>
                    </a:lnR>
                    <a:lnT>
                      <a:noFill/>
                    </a:lnT>
                    <a:lnB>
                      <a:noFill/>
                    </a:lnB>
                    <a:noFill/>
                  </a:tcPr>
                </a:tc>
                <a:extLst>
                  <a:ext uri="{0D108BD9-81ED-4DB2-BD59-A6C34878D82A}">
                    <a16:rowId xmlns:a16="http://schemas.microsoft.com/office/drawing/2014/main" val="305148561"/>
                  </a:ext>
                </a:extLst>
              </a:tr>
              <a:tr h="0">
                <a:tc>
                  <a:txBody>
                    <a:bodyPr/>
                    <a:lstStyle/>
                    <a:p>
                      <a:pPr>
                        <a:buNone/>
                      </a:pPr>
                      <a:r>
                        <a:rPr lang="en-IN"/>
                        <a:t>Notify</a:t>
                      </a:r>
                    </a:p>
                  </a:txBody>
                  <a:tcPr anchor="ctr">
                    <a:lnL>
                      <a:noFill/>
                    </a:lnL>
                    <a:lnR>
                      <a:noFill/>
                    </a:lnR>
                    <a:lnT>
                      <a:noFill/>
                    </a:lnT>
                    <a:lnB>
                      <a:noFill/>
                    </a:lnB>
                    <a:noFill/>
                  </a:tcPr>
                </a:tc>
                <a:tc>
                  <a:txBody>
                    <a:bodyPr/>
                    <a:lstStyle/>
                    <a:p>
                      <a:pPr>
                        <a:buNone/>
                      </a:pPr>
                      <a:r>
                        <a:rPr lang="en-IN"/>
                        <a:t>sendNotification()</a:t>
                      </a:r>
                    </a:p>
                  </a:txBody>
                  <a:tcPr anchor="ctr">
                    <a:lnL>
                      <a:noFill/>
                    </a:lnL>
                    <a:lnR>
                      <a:noFill/>
                    </a:lnR>
                    <a:lnT>
                      <a:noFill/>
                    </a:lnT>
                    <a:lnB>
                      <a:noFill/>
                    </a:lnB>
                    <a:noFill/>
                  </a:tcPr>
                </a:tc>
                <a:tc>
                  <a:txBody>
                    <a:bodyPr/>
                    <a:lstStyle/>
                    <a:p>
                      <a:pPr>
                        <a:buNone/>
                      </a:pPr>
                      <a:r>
                        <a:rPr lang="en-IN" dirty="0"/>
                        <a:t>none</a:t>
                      </a:r>
                    </a:p>
                  </a:txBody>
                  <a:tcPr anchor="ctr">
                    <a:lnL>
                      <a:noFill/>
                    </a:lnL>
                    <a:lnR>
                      <a:noFill/>
                    </a:lnR>
                    <a:lnT>
                      <a:noFill/>
                    </a:lnT>
                    <a:lnB>
                      <a:noFill/>
                    </a:lnB>
                    <a:noFill/>
                  </a:tcPr>
                </a:tc>
                <a:extLst>
                  <a:ext uri="{0D108BD9-81ED-4DB2-BD59-A6C34878D82A}">
                    <a16:rowId xmlns:a16="http://schemas.microsoft.com/office/drawing/2014/main" val="2590053444"/>
                  </a:ext>
                </a:extLst>
              </a:tr>
            </a:tbl>
          </a:graphicData>
        </a:graphic>
      </p:graphicFrame>
      <p:sp>
        <p:nvSpPr>
          <p:cNvPr id="6" name="TextBox 5">
            <a:extLst>
              <a:ext uri="{FF2B5EF4-FFF2-40B4-BE49-F238E27FC236}">
                <a16:creationId xmlns:a16="http://schemas.microsoft.com/office/drawing/2014/main" id="{17C9E9CC-EBA3-39B2-4E24-6C55FC27650D}"/>
              </a:ext>
            </a:extLst>
          </p:cNvPr>
          <p:cNvSpPr txBox="1"/>
          <p:nvPr/>
        </p:nvSpPr>
        <p:spPr>
          <a:xfrm>
            <a:off x="457200" y="5544372"/>
            <a:ext cx="4572000" cy="369332"/>
          </a:xfrm>
          <a:prstGeom prst="rect">
            <a:avLst/>
          </a:prstGeom>
          <a:noFill/>
        </p:spPr>
        <p:txBody>
          <a:bodyPr wrap="square">
            <a:spAutoFit/>
          </a:bodyPr>
          <a:lstStyle/>
          <a:p>
            <a:r>
              <a:rPr lang="en-IN" dirty="0"/>
              <a:t>If step 2 fails:</a:t>
            </a:r>
          </a:p>
        </p:txBody>
      </p:sp>
      <p:sp>
        <p:nvSpPr>
          <p:cNvPr id="8" name="TextBox 7">
            <a:extLst>
              <a:ext uri="{FF2B5EF4-FFF2-40B4-BE49-F238E27FC236}">
                <a16:creationId xmlns:a16="http://schemas.microsoft.com/office/drawing/2014/main" id="{0451C943-325E-4E3E-7F77-9D0762305AFD}"/>
              </a:ext>
            </a:extLst>
          </p:cNvPr>
          <p:cNvSpPr txBox="1"/>
          <p:nvPr/>
        </p:nvSpPr>
        <p:spPr>
          <a:xfrm>
            <a:off x="457200" y="5770466"/>
            <a:ext cx="4572000" cy="369332"/>
          </a:xfrm>
          <a:prstGeom prst="rect">
            <a:avLst/>
          </a:prstGeom>
          <a:noFill/>
        </p:spPr>
        <p:txBody>
          <a:bodyPr wrap="square">
            <a:spAutoFit/>
          </a:bodyPr>
          <a:lstStyle/>
          <a:p>
            <a:r>
              <a:rPr lang="en-IN" dirty="0"/>
              <a:t>Saga triggers compensation of step 1</a:t>
            </a:r>
          </a:p>
        </p:txBody>
      </p:sp>
      <p:sp>
        <p:nvSpPr>
          <p:cNvPr id="10" name="TextBox 9">
            <a:extLst>
              <a:ext uri="{FF2B5EF4-FFF2-40B4-BE49-F238E27FC236}">
                <a16:creationId xmlns:a16="http://schemas.microsoft.com/office/drawing/2014/main" id="{22BD70B6-D20E-CA7A-7557-A4A805634A7E}"/>
              </a:ext>
            </a:extLst>
          </p:cNvPr>
          <p:cNvSpPr txBox="1"/>
          <p:nvPr/>
        </p:nvSpPr>
        <p:spPr>
          <a:xfrm>
            <a:off x="457200" y="6047727"/>
            <a:ext cx="4572000" cy="369332"/>
          </a:xfrm>
          <a:prstGeom prst="rect">
            <a:avLst/>
          </a:prstGeom>
          <a:noFill/>
        </p:spPr>
        <p:txBody>
          <a:bodyPr wrap="square">
            <a:spAutoFit/>
          </a:bodyPr>
          <a:lstStyle/>
          <a:p>
            <a:r>
              <a:rPr lang="en-IN" dirty="0"/>
              <a:t>credit(A)</a:t>
            </a:r>
          </a:p>
        </p:txBody>
      </p:sp>
      <p:sp>
        <p:nvSpPr>
          <p:cNvPr id="12" name="TextBox 11">
            <a:extLst>
              <a:ext uri="{FF2B5EF4-FFF2-40B4-BE49-F238E27FC236}">
                <a16:creationId xmlns:a16="http://schemas.microsoft.com/office/drawing/2014/main" id="{4587F824-5BEC-EA68-EEB0-569CC7D63E4E}"/>
              </a:ext>
            </a:extLst>
          </p:cNvPr>
          <p:cNvSpPr txBox="1"/>
          <p:nvPr/>
        </p:nvSpPr>
        <p:spPr>
          <a:xfrm>
            <a:off x="2286000" y="3240586"/>
            <a:ext cx="4572000" cy="369332"/>
          </a:xfrm>
          <a:prstGeom prst="rect">
            <a:avLst/>
          </a:prstGeom>
          <a:noFill/>
        </p:spPr>
        <p:txBody>
          <a:bodyPr wrap="square">
            <a:spAutoFit/>
          </a:bodyPr>
          <a:lstStyle/>
          <a:p>
            <a:r>
              <a:rPr lang="en-IN" dirty="0"/>
              <a:t>Consistency restored.</a:t>
            </a:r>
          </a:p>
        </p:txBody>
      </p:sp>
      <p:sp>
        <p:nvSpPr>
          <p:cNvPr id="14" name="TextBox 13">
            <a:extLst>
              <a:ext uri="{FF2B5EF4-FFF2-40B4-BE49-F238E27FC236}">
                <a16:creationId xmlns:a16="http://schemas.microsoft.com/office/drawing/2014/main" id="{67EBC9A3-8DC2-20E0-8E61-7B634DB32B30}"/>
              </a:ext>
            </a:extLst>
          </p:cNvPr>
          <p:cNvSpPr txBox="1"/>
          <p:nvPr/>
        </p:nvSpPr>
        <p:spPr>
          <a:xfrm>
            <a:off x="457200" y="6366416"/>
            <a:ext cx="4572000" cy="369332"/>
          </a:xfrm>
          <a:prstGeom prst="rect">
            <a:avLst/>
          </a:prstGeom>
          <a:noFill/>
        </p:spPr>
        <p:txBody>
          <a:bodyPr wrap="square">
            <a:spAutoFit/>
          </a:bodyPr>
          <a:lstStyle/>
          <a:p>
            <a:r>
              <a:rPr lang="en-IN" dirty="0"/>
              <a:t>Consistency restored.</a:t>
            </a:r>
          </a:p>
        </p:txBody>
      </p:sp>
    </p:spTree>
    <p:extLst>
      <p:ext uri="{BB962C8B-B14F-4D97-AF65-F5344CB8AC3E}">
        <p14:creationId xmlns:p14="http://schemas.microsoft.com/office/powerpoint/2010/main" val="31177390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B56BA-6A2D-4E49-8777-25DC7E8ECA30}"/>
              </a:ext>
            </a:extLst>
          </p:cNvPr>
          <p:cNvSpPr>
            <a:spLocks noGrp="1"/>
          </p:cNvSpPr>
          <p:nvPr>
            <p:ph type="title"/>
          </p:nvPr>
        </p:nvSpPr>
        <p:spPr/>
        <p:txBody>
          <a:bodyPr/>
          <a:lstStyle/>
          <a:p>
            <a:r>
              <a:rPr lang="en-IN" dirty="0"/>
              <a:t>Saga Pattern</a:t>
            </a:r>
          </a:p>
        </p:txBody>
      </p:sp>
      <p:sp>
        <p:nvSpPr>
          <p:cNvPr id="3" name="Content Placeholder 2">
            <a:extLst>
              <a:ext uri="{FF2B5EF4-FFF2-40B4-BE49-F238E27FC236}">
                <a16:creationId xmlns:a16="http://schemas.microsoft.com/office/drawing/2014/main" id="{CE9D63AC-E0B3-3426-B34C-52AAF465A28A}"/>
              </a:ext>
            </a:extLst>
          </p:cNvPr>
          <p:cNvSpPr>
            <a:spLocks noGrp="1"/>
          </p:cNvSpPr>
          <p:nvPr>
            <p:ph idx="1"/>
          </p:nvPr>
        </p:nvSpPr>
        <p:spPr/>
        <p:txBody>
          <a:bodyPr/>
          <a:lstStyle/>
          <a:p>
            <a:pPr marL="0" indent="0">
              <a:buNone/>
            </a:pPr>
            <a:r>
              <a:rPr lang="en-US" dirty="0"/>
              <a:t>Two Types of Saga Pattern</a:t>
            </a:r>
          </a:p>
          <a:p>
            <a:pPr marL="0" indent="0">
              <a:buNone/>
            </a:pPr>
            <a:r>
              <a:rPr lang="en-IN" dirty="0"/>
              <a:t>1. Orchestration</a:t>
            </a:r>
          </a:p>
          <a:p>
            <a:pPr marL="0" indent="0">
              <a:buNone/>
            </a:pPr>
            <a:r>
              <a:rPr lang="en-IN" dirty="0"/>
              <a:t>2. Choreography</a:t>
            </a:r>
          </a:p>
        </p:txBody>
      </p:sp>
    </p:spTree>
    <p:extLst>
      <p:ext uri="{BB962C8B-B14F-4D97-AF65-F5344CB8AC3E}">
        <p14:creationId xmlns:p14="http://schemas.microsoft.com/office/powerpoint/2010/main" val="23516734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844A2-C724-B2C7-1F29-5553CA45BEBB}"/>
              </a:ext>
            </a:extLst>
          </p:cNvPr>
          <p:cNvSpPr>
            <a:spLocks noGrp="1"/>
          </p:cNvSpPr>
          <p:nvPr>
            <p:ph type="title"/>
          </p:nvPr>
        </p:nvSpPr>
        <p:spPr/>
        <p:txBody>
          <a:bodyPr/>
          <a:lstStyle/>
          <a:p>
            <a:r>
              <a:rPr lang="en-IN" dirty="0"/>
              <a:t>Saga Orchestration</a:t>
            </a:r>
          </a:p>
        </p:txBody>
      </p:sp>
      <p:sp>
        <p:nvSpPr>
          <p:cNvPr id="3" name="Content Placeholder 2">
            <a:extLst>
              <a:ext uri="{FF2B5EF4-FFF2-40B4-BE49-F238E27FC236}">
                <a16:creationId xmlns:a16="http://schemas.microsoft.com/office/drawing/2014/main" id="{86750F16-EB79-7294-C3DE-A3575AAFEC0C}"/>
              </a:ext>
            </a:extLst>
          </p:cNvPr>
          <p:cNvSpPr>
            <a:spLocks noGrp="1"/>
          </p:cNvSpPr>
          <p:nvPr>
            <p:ph idx="1"/>
          </p:nvPr>
        </p:nvSpPr>
        <p:spPr/>
        <p:txBody>
          <a:bodyPr>
            <a:normAutofit fontScale="62500" lnSpcReduction="20000"/>
          </a:bodyPr>
          <a:lstStyle/>
          <a:p>
            <a:pPr marL="0" indent="0">
              <a:buNone/>
            </a:pPr>
            <a:r>
              <a:rPr lang="en-US" b="1" dirty="0"/>
              <a:t>Concept</a:t>
            </a:r>
          </a:p>
          <a:p>
            <a:pPr lvl="2"/>
            <a:r>
              <a:rPr lang="en-US" dirty="0"/>
              <a:t>There is a central controller:</a:t>
            </a:r>
          </a:p>
          <a:p>
            <a:pPr marL="0" indent="0">
              <a:buNone/>
            </a:pPr>
            <a:r>
              <a:rPr lang="en-IN" b="1" dirty="0"/>
              <a:t>Saga Orchestrator</a:t>
            </a:r>
          </a:p>
          <a:p>
            <a:pPr marL="0" indent="0">
              <a:buNone/>
            </a:pPr>
            <a:r>
              <a:rPr lang="en-IN" b="1" dirty="0"/>
              <a:t>Flow:</a:t>
            </a:r>
          </a:p>
          <a:p>
            <a:pPr marL="0" indent="0">
              <a:buNone/>
            </a:pPr>
            <a:r>
              <a:rPr lang="en-US" dirty="0"/>
              <a:t>Orchestrator → Debit Service</a:t>
            </a:r>
          </a:p>
          <a:p>
            <a:pPr marL="0" indent="0">
              <a:buNone/>
            </a:pPr>
            <a:r>
              <a:rPr lang="en-US" dirty="0"/>
              <a:t>Orchestrator → Credit Service</a:t>
            </a:r>
          </a:p>
          <a:p>
            <a:pPr marL="0" indent="0">
              <a:buNone/>
            </a:pPr>
            <a:r>
              <a:rPr lang="en-US" dirty="0"/>
              <a:t>Orchestrator → Notification Service</a:t>
            </a:r>
          </a:p>
          <a:p>
            <a:pPr marL="0" indent="0">
              <a:buNone/>
            </a:pPr>
            <a:r>
              <a:rPr lang="en-US" b="1" dirty="0"/>
              <a:t>Orchestrator</a:t>
            </a:r>
          </a:p>
          <a:p>
            <a:pPr marL="0" indent="0">
              <a:buNone/>
            </a:pPr>
            <a:r>
              <a:rPr lang="en-US" dirty="0"/>
              <a:t>   |</a:t>
            </a:r>
          </a:p>
          <a:p>
            <a:pPr marL="0" indent="0">
              <a:buNone/>
            </a:pPr>
            <a:r>
              <a:rPr lang="en-US" dirty="0"/>
              <a:t>   |---&gt; Account Service (Debit)</a:t>
            </a:r>
          </a:p>
          <a:p>
            <a:pPr marL="0" indent="0">
              <a:buNone/>
            </a:pPr>
            <a:r>
              <a:rPr lang="en-US" dirty="0"/>
              <a:t>   |</a:t>
            </a:r>
          </a:p>
          <a:p>
            <a:pPr marL="0" indent="0">
              <a:buNone/>
            </a:pPr>
            <a:r>
              <a:rPr lang="en-US" dirty="0"/>
              <a:t>   |---&gt; Account Service (Credit)</a:t>
            </a:r>
          </a:p>
          <a:p>
            <a:pPr marL="0" indent="0">
              <a:buNone/>
            </a:pPr>
            <a:r>
              <a:rPr lang="en-US" dirty="0"/>
              <a:t>   |</a:t>
            </a:r>
          </a:p>
          <a:p>
            <a:pPr marL="0" indent="0">
              <a:buNone/>
            </a:pPr>
            <a:r>
              <a:rPr lang="en-US" dirty="0"/>
              <a:t>   |---&gt; Notification Service</a:t>
            </a:r>
          </a:p>
          <a:p>
            <a:pPr marL="0" indent="0">
              <a:buNone/>
            </a:pPr>
            <a:endParaRPr lang="en-IN" dirty="0"/>
          </a:p>
        </p:txBody>
      </p:sp>
    </p:spTree>
    <p:extLst>
      <p:ext uri="{BB962C8B-B14F-4D97-AF65-F5344CB8AC3E}">
        <p14:creationId xmlns:p14="http://schemas.microsoft.com/office/powerpoint/2010/main" val="237652361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A0C8E-0245-3505-E86F-ADD610521872}"/>
              </a:ext>
            </a:extLst>
          </p:cNvPr>
          <p:cNvSpPr>
            <a:spLocks noGrp="1"/>
          </p:cNvSpPr>
          <p:nvPr>
            <p:ph type="title"/>
          </p:nvPr>
        </p:nvSpPr>
        <p:spPr/>
        <p:txBody>
          <a:bodyPr/>
          <a:lstStyle/>
          <a:p>
            <a:r>
              <a:rPr lang="en-IN" dirty="0"/>
              <a:t>Advantages &amp; Disadvantages</a:t>
            </a:r>
          </a:p>
        </p:txBody>
      </p:sp>
      <p:sp>
        <p:nvSpPr>
          <p:cNvPr id="3" name="Content Placeholder 2">
            <a:extLst>
              <a:ext uri="{FF2B5EF4-FFF2-40B4-BE49-F238E27FC236}">
                <a16:creationId xmlns:a16="http://schemas.microsoft.com/office/drawing/2014/main" id="{AE6227A5-53D7-0929-A1D8-0AE50CA3356D}"/>
              </a:ext>
            </a:extLst>
          </p:cNvPr>
          <p:cNvSpPr>
            <a:spLocks noGrp="1"/>
          </p:cNvSpPr>
          <p:nvPr>
            <p:ph idx="1"/>
          </p:nvPr>
        </p:nvSpPr>
        <p:spPr/>
        <p:txBody>
          <a:bodyPr>
            <a:normAutofit/>
          </a:bodyPr>
          <a:lstStyle/>
          <a:p>
            <a:pPr marL="0" indent="0">
              <a:buNone/>
            </a:pPr>
            <a:r>
              <a:rPr lang="en-US" b="1" dirty="0"/>
              <a:t>Advantages</a:t>
            </a:r>
          </a:p>
          <a:p>
            <a:pPr marL="400050" lvl="1" indent="0">
              <a:buNone/>
            </a:pPr>
            <a:r>
              <a:rPr lang="en-US" dirty="0"/>
              <a:t>• Central control</a:t>
            </a:r>
            <a:br>
              <a:rPr lang="en-US" dirty="0"/>
            </a:br>
            <a:r>
              <a:rPr lang="en-US" dirty="0"/>
              <a:t>• Easy monitoring</a:t>
            </a:r>
            <a:br>
              <a:rPr lang="en-US" dirty="0"/>
            </a:br>
            <a:r>
              <a:rPr lang="en-US" dirty="0"/>
              <a:t>• Easy error handling</a:t>
            </a:r>
          </a:p>
          <a:p>
            <a:pPr marL="0" indent="0">
              <a:buNone/>
            </a:pPr>
            <a:r>
              <a:rPr lang="en-US" b="1" dirty="0"/>
              <a:t>Disadvantages</a:t>
            </a:r>
          </a:p>
          <a:p>
            <a:pPr marL="400050" lvl="1" indent="0">
              <a:buNone/>
            </a:pPr>
            <a:r>
              <a:rPr lang="en-US" dirty="0"/>
              <a:t>• Single point of failure</a:t>
            </a:r>
            <a:br>
              <a:rPr lang="en-US" dirty="0"/>
            </a:br>
            <a:r>
              <a:rPr lang="en-US" dirty="0"/>
              <a:t>• Tight coupling</a:t>
            </a:r>
          </a:p>
          <a:p>
            <a:pPr marL="0" indent="0">
              <a:buNone/>
            </a:pPr>
            <a:endParaRPr lang="en-IN" dirty="0"/>
          </a:p>
        </p:txBody>
      </p:sp>
    </p:spTree>
    <p:extLst>
      <p:ext uri="{BB962C8B-B14F-4D97-AF65-F5344CB8AC3E}">
        <p14:creationId xmlns:p14="http://schemas.microsoft.com/office/powerpoint/2010/main" val="5482289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A01A5-3B94-F1AA-CC79-2A2E23493F87}"/>
              </a:ext>
            </a:extLst>
          </p:cNvPr>
          <p:cNvSpPr>
            <a:spLocks noGrp="1"/>
          </p:cNvSpPr>
          <p:nvPr>
            <p:ph type="title"/>
          </p:nvPr>
        </p:nvSpPr>
        <p:spPr/>
        <p:txBody>
          <a:bodyPr/>
          <a:lstStyle/>
          <a:p>
            <a:r>
              <a:rPr lang="en-IN" dirty="0"/>
              <a:t>Saga Choreography</a:t>
            </a:r>
          </a:p>
        </p:txBody>
      </p:sp>
      <p:sp>
        <p:nvSpPr>
          <p:cNvPr id="3" name="Content Placeholder 2">
            <a:extLst>
              <a:ext uri="{FF2B5EF4-FFF2-40B4-BE49-F238E27FC236}">
                <a16:creationId xmlns:a16="http://schemas.microsoft.com/office/drawing/2014/main" id="{E84A2EE1-B7D1-E74D-D2A6-BD5E1554F699}"/>
              </a:ext>
            </a:extLst>
          </p:cNvPr>
          <p:cNvSpPr>
            <a:spLocks noGrp="1"/>
          </p:cNvSpPr>
          <p:nvPr>
            <p:ph idx="1"/>
          </p:nvPr>
        </p:nvSpPr>
        <p:spPr/>
        <p:txBody>
          <a:bodyPr>
            <a:normAutofit lnSpcReduction="10000"/>
          </a:bodyPr>
          <a:lstStyle/>
          <a:p>
            <a:pPr marL="0" indent="0">
              <a:buNone/>
            </a:pPr>
            <a:r>
              <a:rPr lang="en-IN" dirty="0"/>
              <a:t>No central controller.</a:t>
            </a:r>
          </a:p>
          <a:p>
            <a:pPr marL="0" indent="0">
              <a:buNone/>
            </a:pPr>
            <a:r>
              <a:rPr lang="en-IN" dirty="0"/>
              <a:t>Services communicate via events.</a:t>
            </a:r>
          </a:p>
          <a:p>
            <a:pPr marL="0" indent="0">
              <a:buNone/>
            </a:pPr>
            <a:r>
              <a:rPr lang="en-IN" b="1" dirty="0"/>
              <a:t>Flow:</a:t>
            </a:r>
          </a:p>
          <a:p>
            <a:pPr lvl="2"/>
            <a:r>
              <a:rPr lang="en-IN" dirty="0" err="1"/>
              <a:t>TransferService</a:t>
            </a:r>
            <a:r>
              <a:rPr lang="en-IN" dirty="0"/>
              <a:t> → publishes </a:t>
            </a:r>
            <a:r>
              <a:rPr lang="en-IN" dirty="0" err="1"/>
              <a:t>TransferInitiated</a:t>
            </a:r>
            <a:endParaRPr lang="en-IN" dirty="0"/>
          </a:p>
          <a:p>
            <a:pPr lvl="2"/>
            <a:r>
              <a:rPr lang="en-IN" dirty="0" err="1"/>
              <a:t>AccountService</a:t>
            </a:r>
            <a:r>
              <a:rPr lang="en-IN" dirty="0"/>
              <a:t> listens → debits → publishes Debited</a:t>
            </a:r>
          </a:p>
          <a:p>
            <a:pPr lvl="2"/>
            <a:r>
              <a:rPr lang="en-IN" dirty="0" err="1"/>
              <a:t>AccountService</a:t>
            </a:r>
            <a:r>
              <a:rPr lang="en-IN" dirty="0"/>
              <a:t> listens → credits → publishes Credited</a:t>
            </a:r>
          </a:p>
          <a:p>
            <a:pPr lvl="2"/>
            <a:r>
              <a:rPr lang="en-IN" dirty="0" err="1"/>
              <a:t>NotificationService</a:t>
            </a:r>
            <a:r>
              <a:rPr lang="en-IN" dirty="0"/>
              <a:t> listens → sends notification</a:t>
            </a:r>
          </a:p>
          <a:p>
            <a:pPr marL="0" indent="0">
              <a:buNone/>
            </a:pPr>
            <a:r>
              <a:rPr lang="en-IN" dirty="0" err="1"/>
              <a:t>TransferService</a:t>
            </a:r>
            <a:r>
              <a:rPr lang="en-IN" dirty="0"/>
              <a:t> → Event → </a:t>
            </a:r>
            <a:r>
              <a:rPr lang="en-IN" dirty="0" err="1"/>
              <a:t>AccountService</a:t>
            </a:r>
            <a:r>
              <a:rPr lang="en-IN" dirty="0"/>
              <a:t> → Event → </a:t>
            </a:r>
            <a:r>
              <a:rPr lang="en-IN" dirty="0" err="1"/>
              <a:t>NotificationService</a:t>
            </a:r>
            <a:endParaRPr lang="en-IN" dirty="0"/>
          </a:p>
          <a:p>
            <a:endParaRPr lang="en-IN" dirty="0"/>
          </a:p>
          <a:p>
            <a:endParaRPr lang="en-IN" dirty="0"/>
          </a:p>
        </p:txBody>
      </p:sp>
    </p:spTree>
    <p:extLst>
      <p:ext uri="{BB962C8B-B14F-4D97-AF65-F5344CB8AC3E}">
        <p14:creationId xmlns:p14="http://schemas.microsoft.com/office/powerpoint/2010/main" val="371900768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00177-7B9A-A578-0D53-FF5143293F32}"/>
              </a:ext>
            </a:extLst>
          </p:cNvPr>
          <p:cNvSpPr>
            <a:spLocks noGrp="1"/>
          </p:cNvSpPr>
          <p:nvPr>
            <p:ph type="title"/>
          </p:nvPr>
        </p:nvSpPr>
        <p:spPr/>
        <p:txBody>
          <a:bodyPr/>
          <a:lstStyle/>
          <a:p>
            <a:r>
              <a:rPr lang="en-IN" dirty="0"/>
              <a:t>Advantages &amp; </a:t>
            </a:r>
            <a:r>
              <a:rPr lang="en-IN" dirty="0" err="1"/>
              <a:t>DisAdvantages</a:t>
            </a:r>
            <a:endParaRPr lang="en-IN" dirty="0"/>
          </a:p>
        </p:txBody>
      </p:sp>
      <p:sp>
        <p:nvSpPr>
          <p:cNvPr id="3" name="Content Placeholder 2">
            <a:extLst>
              <a:ext uri="{FF2B5EF4-FFF2-40B4-BE49-F238E27FC236}">
                <a16:creationId xmlns:a16="http://schemas.microsoft.com/office/drawing/2014/main" id="{18AE8017-9A70-289B-3787-D12D2CB77ED6}"/>
              </a:ext>
            </a:extLst>
          </p:cNvPr>
          <p:cNvSpPr>
            <a:spLocks noGrp="1"/>
          </p:cNvSpPr>
          <p:nvPr>
            <p:ph idx="1"/>
          </p:nvPr>
        </p:nvSpPr>
        <p:spPr/>
        <p:txBody>
          <a:bodyPr>
            <a:normAutofit/>
          </a:bodyPr>
          <a:lstStyle/>
          <a:p>
            <a:pPr marL="0" indent="0">
              <a:buNone/>
            </a:pPr>
            <a:r>
              <a:rPr lang="en-US" b="1" dirty="0"/>
              <a:t>Advantages</a:t>
            </a:r>
          </a:p>
          <a:p>
            <a:pPr marL="0" indent="0">
              <a:buNone/>
            </a:pPr>
            <a:r>
              <a:rPr lang="en-US" dirty="0"/>
              <a:t>• Fully event driven</a:t>
            </a:r>
            <a:br>
              <a:rPr lang="en-US" dirty="0"/>
            </a:br>
            <a:r>
              <a:rPr lang="en-US" dirty="0"/>
              <a:t>• Loose coupling</a:t>
            </a:r>
            <a:br>
              <a:rPr lang="en-US" dirty="0"/>
            </a:br>
            <a:r>
              <a:rPr lang="en-US" dirty="0"/>
              <a:t>• Scalable</a:t>
            </a:r>
          </a:p>
          <a:p>
            <a:pPr marL="0" indent="0">
              <a:buNone/>
            </a:pPr>
            <a:endParaRPr lang="en-US" b="1" dirty="0"/>
          </a:p>
          <a:p>
            <a:pPr marL="0" indent="0">
              <a:buNone/>
            </a:pPr>
            <a:r>
              <a:rPr lang="en-US" b="1" dirty="0"/>
              <a:t>Disadvantages</a:t>
            </a:r>
          </a:p>
          <a:p>
            <a:pPr marL="0" indent="0">
              <a:buNone/>
            </a:pPr>
            <a:r>
              <a:rPr lang="en-US" dirty="0"/>
              <a:t>• Hard to track flow</a:t>
            </a:r>
            <a:br>
              <a:rPr lang="en-US" dirty="0"/>
            </a:br>
            <a:r>
              <a:rPr lang="en-US" dirty="0"/>
              <a:t>• Debugging complex</a:t>
            </a:r>
          </a:p>
          <a:p>
            <a:pPr marL="0" indent="0">
              <a:buNone/>
            </a:pPr>
            <a:endParaRPr lang="en-IN" dirty="0"/>
          </a:p>
        </p:txBody>
      </p:sp>
    </p:spTree>
    <p:extLst>
      <p:ext uri="{BB962C8B-B14F-4D97-AF65-F5344CB8AC3E}">
        <p14:creationId xmlns:p14="http://schemas.microsoft.com/office/powerpoint/2010/main" val="34389033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CF55E-426B-D319-2E0C-D114BF9295E0}"/>
              </a:ext>
            </a:extLst>
          </p:cNvPr>
          <p:cNvSpPr>
            <a:spLocks noGrp="1"/>
          </p:cNvSpPr>
          <p:nvPr>
            <p:ph type="title"/>
          </p:nvPr>
        </p:nvSpPr>
        <p:spPr/>
        <p:txBody>
          <a:bodyPr/>
          <a:lstStyle/>
          <a:p>
            <a:r>
              <a:rPr lang="en-IN" dirty="0"/>
              <a:t>Architecture for Hands-on</a:t>
            </a:r>
          </a:p>
        </p:txBody>
      </p:sp>
      <p:sp>
        <p:nvSpPr>
          <p:cNvPr id="3" name="Content Placeholder 2">
            <a:extLst>
              <a:ext uri="{FF2B5EF4-FFF2-40B4-BE49-F238E27FC236}">
                <a16:creationId xmlns:a16="http://schemas.microsoft.com/office/drawing/2014/main" id="{9BFF5D50-E9C1-1161-603C-985E16F23A23}"/>
              </a:ext>
            </a:extLst>
          </p:cNvPr>
          <p:cNvSpPr>
            <a:spLocks noGrp="1"/>
          </p:cNvSpPr>
          <p:nvPr>
            <p:ph idx="1"/>
          </p:nvPr>
        </p:nvSpPr>
        <p:spPr/>
        <p:txBody>
          <a:bodyPr>
            <a:normAutofit fontScale="62500" lnSpcReduction="20000"/>
          </a:bodyPr>
          <a:lstStyle/>
          <a:p>
            <a:pPr marL="0" indent="0">
              <a:buNone/>
            </a:pPr>
            <a:r>
              <a:rPr lang="en-IN" dirty="0"/>
              <a:t>We implement:</a:t>
            </a:r>
          </a:p>
          <a:p>
            <a:pPr marL="800100" lvl="2" indent="0">
              <a:buNone/>
            </a:pPr>
            <a:r>
              <a:rPr lang="en-IN" dirty="0"/>
              <a:t>transfer-service</a:t>
            </a:r>
          </a:p>
          <a:p>
            <a:pPr marL="800100" lvl="2" indent="0">
              <a:buNone/>
            </a:pPr>
            <a:r>
              <a:rPr lang="en-IN" dirty="0"/>
              <a:t>account-service</a:t>
            </a:r>
          </a:p>
          <a:p>
            <a:pPr marL="800100" lvl="2" indent="0">
              <a:buNone/>
            </a:pPr>
            <a:r>
              <a:rPr lang="en-IN" dirty="0"/>
              <a:t>notification-service</a:t>
            </a:r>
          </a:p>
          <a:p>
            <a:pPr marL="800100" lvl="2" indent="0">
              <a:buNone/>
            </a:pPr>
            <a:r>
              <a:rPr lang="en-IN" dirty="0"/>
              <a:t>Kafka</a:t>
            </a:r>
          </a:p>
          <a:p>
            <a:pPr marL="800100" lvl="2" indent="0">
              <a:buNone/>
            </a:pPr>
            <a:r>
              <a:rPr lang="en-IN" dirty="0"/>
              <a:t>MySQL</a:t>
            </a:r>
          </a:p>
          <a:p>
            <a:pPr marL="0" indent="0">
              <a:buNone/>
            </a:pPr>
            <a:r>
              <a:rPr lang="en-IN" dirty="0"/>
              <a:t>Flow:</a:t>
            </a:r>
          </a:p>
          <a:p>
            <a:pPr marL="800100" lvl="2" indent="0">
              <a:buNone/>
            </a:pPr>
            <a:r>
              <a:rPr lang="en-US" dirty="0"/>
              <a:t>Transfer Initiated Event</a:t>
            </a:r>
          </a:p>
          <a:p>
            <a:pPr marL="800100" lvl="2" indent="0">
              <a:buNone/>
            </a:pPr>
            <a:r>
              <a:rPr lang="en-US" dirty="0"/>
              <a:t>        ↓</a:t>
            </a:r>
          </a:p>
          <a:p>
            <a:pPr marL="800100" lvl="2" indent="0">
              <a:buNone/>
            </a:pPr>
            <a:r>
              <a:rPr lang="en-US" dirty="0"/>
              <a:t>Account Service Debit</a:t>
            </a:r>
          </a:p>
          <a:p>
            <a:pPr marL="800100" lvl="2" indent="0">
              <a:buNone/>
            </a:pPr>
            <a:r>
              <a:rPr lang="en-US" dirty="0"/>
              <a:t>        ↓</a:t>
            </a:r>
          </a:p>
          <a:p>
            <a:pPr marL="800100" lvl="2" indent="0">
              <a:buNone/>
            </a:pPr>
            <a:r>
              <a:rPr lang="en-US" dirty="0"/>
              <a:t>Debit Success Event</a:t>
            </a:r>
          </a:p>
          <a:p>
            <a:pPr marL="800100" lvl="2" indent="0">
              <a:buNone/>
            </a:pPr>
            <a:r>
              <a:rPr lang="en-US" dirty="0"/>
              <a:t>        ↓</a:t>
            </a:r>
          </a:p>
          <a:p>
            <a:pPr marL="800100" lvl="2" indent="0">
              <a:buNone/>
            </a:pPr>
            <a:r>
              <a:rPr lang="en-US" dirty="0"/>
              <a:t>Account Service Credit</a:t>
            </a:r>
          </a:p>
          <a:p>
            <a:pPr marL="800100" lvl="2" indent="0">
              <a:buNone/>
            </a:pPr>
            <a:r>
              <a:rPr lang="en-US" dirty="0"/>
              <a:t>        ↓</a:t>
            </a:r>
          </a:p>
          <a:p>
            <a:pPr marL="800100" lvl="2" indent="0">
              <a:buNone/>
            </a:pPr>
            <a:r>
              <a:rPr lang="en-US" dirty="0"/>
              <a:t>Credit Success Event</a:t>
            </a:r>
          </a:p>
          <a:p>
            <a:pPr marL="800100" lvl="2" indent="0">
              <a:buNone/>
            </a:pPr>
            <a:r>
              <a:rPr lang="en-US" dirty="0"/>
              <a:t>        ↓</a:t>
            </a:r>
          </a:p>
          <a:p>
            <a:pPr marL="800100" lvl="2" indent="0">
              <a:buNone/>
            </a:pPr>
            <a:r>
              <a:rPr lang="en-US" dirty="0"/>
              <a:t>Notification Service</a:t>
            </a:r>
          </a:p>
          <a:p>
            <a:pPr marL="0" indent="0">
              <a:buNone/>
            </a:pPr>
            <a:endParaRPr lang="en-IN" dirty="0"/>
          </a:p>
        </p:txBody>
      </p:sp>
    </p:spTree>
    <p:extLst>
      <p:ext uri="{BB962C8B-B14F-4D97-AF65-F5344CB8AC3E}">
        <p14:creationId xmlns:p14="http://schemas.microsoft.com/office/powerpoint/2010/main" val="14392360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0E7EA-C041-2E44-9F1B-08ABD69C9080}"/>
              </a:ext>
            </a:extLst>
          </p:cNvPr>
          <p:cNvSpPr>
            <a:spLocks noGrp="1"/>
          </p:cNvSpPr>
          <p:nvPr>
            <p:ph type="title"/>
          </p:nvPr>
        </p:nvSpPr>
        <p:spPr/>
        <p:txBody>
          <a:bodyPr/>
          <a:lstStyle/>
          <a:p>
            <a:r>
              <a:rPr lang="en-IN" dirty="0"/>
              <a:t>Hands On - Database Design</a:t>
            </a:r>
          </a:p>
        </p:txBody>
      </p:sp>
      <p:sp>
        <p:nvSpPr>
          <p:cNvPr id="3" name="Content Placeholder 2">
            <a:extLst>
              <a:ext uri="{FF2B5EF4-FFF2-40B4-BE49-F238E27FC236}">
                <a16:creationId xmlns:a16="http://schemas.microsoft.com/office/drawing/2014/main" id="{DF841B1E-06A5-C474-C08C-781139CE2BB7}"/>
              </a:ext>
            </a:extLst>
          </p:cNvPr>
          <p:cNvSpPr>
            <a:spLocks noGrp="1"/>
          </p:cNvSpPr>
          <p:nvPr>
            <p:ph idx="1"/>
          </p:nvPr>
        </p:nvSpPr>
        <p:spPr/>
        <p:txBody>
          <a:bodyPr>
            <a:normAutofit fontScale="92500"/>
          </a:bodyPr>
          <a:lstStyle/>
          <a:p>
            <a:pPr marL="0" indent="0">
              <a:buNone/>
            </a:pPr>
            <a:r>
              <a:rPr lang="en-US" dirty="0"/>
              <a:t>CREATE TABLE accounts (</a:t>
            </a:r>
          </a:p>
          <a:p>
            <a:pPr marL="0" indent="0">
              <a:buNone/>
            </a:pPr>
            <a:r>
              <a:rPr lang="en-US" dirty="0"/>
              <a:t> id BIGINT PRIMARY KEY,</a:t>
            </a:r>
          </a:p>
          <a:p>
            <a:pPr marL="0" indent="0">
              <a:buNone/>
            </a:pPr>
            <a:r>
              <a:rPr lang="en-US" dirty="0"/>
              <a:t> name VARCHAR(50),</a:t>
            </a:r>
          </a:p>
          <a:p>
            <a:pPr marL="0" indent="0">
              <a:buNone/>
            </a:pPr>
            <a:r>
              <a:rPr lang="en-US" dirty="0"/>
              <a:t> balance DOUBLE</a:t>
            </a:r>
          </a:p>
          <a:p>
            <a:pPr marL="0" indent="0">
              <a:buNone/>
            </a:pPr>
            <a:r>
              <a:rPr lang="en-US" dirty="0"/>
              <a:t>);</a:t>
            </a:r>
          </a:p>
          <a:p>
            <a:pPr marL="0" indent="0">
              <a:buNone/>
            </a:pPr>
            <a:r>
              <a:rPr lang="en-IN" dirty="0"/>
              <a:t>Sample data:</a:t>
            </a:r>
          </a:p>
          <a:p>
            <a:pPr marL="0" indent="0">
              <a:buNone/>
            </a:pPr>
            <a:r>
              <a:rPr lang="en-US" dirty="0"/>
              <a:t>INSERT INTO accounts VALUES (1,'Prabhat',10000);</a:t>
            </a:r>
          </a:p>
          <a:p>
            <a:pPr marL="0" indent="0">
              <a:buNone/>
            </a:pPr>
            <a:r>
              <a:rPr lang="en-US" dirty="0"/>
              <a:t>INSERT INTO accounts VALUES (2,'Rahul',5000);</a:t>
            </a:r>
          </a:p>
          <a:p>
            <a:pPr marL="0" indent="0">
              <a:buNone/>
            </a:pPr>
            <a:endParaRPr lang="en-IN" dirty="0"/>
          </a:p>
        </p:txBody>
      </p:sp>
    </p:spTree>
    <p:extLst>
      <p:ext uri="{BB962C8B-B14F-4D97-AF65-F5344CB8AC3E}">
        <p14:creationId xmlns:p14="http://schemas.microsoft.com/office/powerpoint/2010/main" val="387928944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3DD02-FED3-2BBA-3266-48A5BDEBD66E}"/>
              </a:ext>
            </a:extLst>
          </p:cNvPr>
          <p:cNvSpPr>
            <a:spLocks noGrp="1"/>
          </p:cNvSpPr>
          <p:nvPr>
            <p:ph type="title"/>
          </p:nvPr>
        </p:nvSpPr>
        <p:spPr/>
        <p:txBody>
          <a:bodyPr/>
          <a:lstStyle/>
          <a:p>
            <a:r>
              <a:rPr lang="en-IN" dirty="0"/>
              <a:t>Hands On - Kafka Topics</a:t>
            </a:r>
          </a:p>
        </p:txBody>
      </p:sp>
      <p:sp>
        <p:nvSpPr>
          <p:cNvPr id="3" name="Content Placeholder 2">
            <a:extLst>
              <a:ext uri="{FF2B5EF4-FFF2-40B4-BE49-F238E27FC236}">
                <a16:creationId xmlns:a16="http://schemas.microsoft.com/office/drawing/2014/main" id="{4DCCDB3A-FEFB-04FB-D153-5E25B861A735}"/>
              </a:ext>
            </a:extLst>
          </p:cNvPr>
          <p:cNvSpPr>
            <a:spLocks noGrp="1"/>
          </p:cNvSpPr>
          <p:nvPr>
            <p:ph idx="1"/>
          </p:nvPr>
        </p:nvSpPr>
        <p:spPr/>
        <p:txBody>
          <a:bodyPr/>
          <a:lstStyle/>
          <a:p>
            <a:r>
              <a:rPr lang="en-IN" dirty="0"/>
              <a:t>transfer-initiated</a:t>
            </a:r>
          </a:p>
          <a:p>
            <a:r>
              <a:rPr lang="en-IN" dirty="0"/>
              <a:t>account-debited</a:t>
            </a:r>
          </a:p>
          <a:p>
            <a:r>
              <a:rPr lang="en-IN" dirty="0"/>
              <a:t>account-credited</a:t>
            </a:r>
          </a:p>
          <a:p>
            <a:r>
              <a:rPr lang="en-IN" dirty="0"/>
              <a:t>transfer-failed</a:t>
            </a:r>
          </a:p>
          <a:p>
            <a:endParaRPr lang="en-IN" dirty="0"/>
          </a:p>
        </p:txBody>
      </p:sp>
    </p:spTree>
    <p:extLst>
      <p:ext uri="{BB962C8B-B14F-4D97-AF65-F5344CB8AC3E}">
        <p14:creationId xmlns:p14="http://schemas.microsoft.com/office/powerpoint/2010/main" val="218146709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EA66E-0272-AD2A-2EAB-7BF849B44945}"/>
              </a:ext>
            </a:extLst>
          </p:cNvPr>
          <p:cNvSpPr>
            <a:spLocks noGrp="1"/>
          </p:cNvSpPr>
          <p:nvPr>
            <p:ph type="title"/>
          </p:nvPr>
        </p:nvSpPr>
        <p:spPr/>
        <p:txBody>
          <a:bodyPr/>
          <a:lstStyle/>
          <a:p>
            <a:r>
              <a:rPr lang="en-IN" dirty="0"/>
              <a:t>Transfer Service Implementation</a:t>
            </a:r>
          </a:p>
        </p:txBody>
      </p:sp>
      <p:sp>
        <p:nvSpPr>
          <p:cNvPr id="3" name="Content Placeholder 2">
            <a:extLst>
              <a:ext uri="{FF2B5EF4-FFF2-40B4-BE49-F238E27FC236}">
                <a16:creationId xmlns:a16="http://schemas.microsoft.com/office/drawing/2014/main" id="{929CF7A1-9AD2-939F-7EFD-7F11E8C6DA2F}"/>
              </a:ext>
            </a:extLst>
          </p:cNvPr>
          <p:cNvSpPr>
            <a:spLocks noGrp="1"/>
          </p:cNvSpPr>
          <p:nvPr>
            <p:ph idx="1"/>
          </p:nvPr>
        </p:nvSpPr>
        <p:spPr/>
        <p:txBody>
          <a:bodyPr>
            <a:normAutofit fontScale="32500" lnSpcReduction="20000"/>
          </a:bodyPr>
          <a:lstStyle/>
          <a:p>
            <a:pPr marL="0" indent="0">
              <a:buNone/>
            </a:pPr>
            <a:r>
              <a:rPr lang="en-IN" b="1" dirty="0" err="1"/>
              <a:t>TransferController</a:t>
            </a:r>
            <a:endParaRPr lang="en-IN" b="1" dirty="0"/>
          </a:p>
          <a:p>
            <a:pPr marL="0" indent="0">
              <a:buNone/>
            </a:pPr>
            <a:r>
              <a:rPr lang="en-IN" dirty="0"/>
              <a:t>@RestController</a:t>
            </a:r>
          </a:p>
          <a:p>
            <a:pPr marL="0" indent="0">
              <a:buNone/>
            </a:pPr>
            <a:r>
              <a:rPr lang="en-IN" dirty="0"/>
              <a:t>@RequestMapping("/transfer")</a:t>
            </a:r>
          </a:p>
          <a:p>
            <a:pPr marL="0" indent="0">
              <a:buNone/>
            </a:pPr>
            <a:r>
              <a:rPr lang="en-IN" dirty="0"/>
              <a:t>@RequiredArgsConstructor</a:t>
            </a:r>
          </a:p>
          <a:p>
            <a:pPr marL="0" indent="0">
              <a:buNone/>
            </a:pPr>
            <a:r>
              <a:rPr lang="en-IN" dirty="0"/>
              <a:t>public class </a:t>
            </a:r>
            <a:r>
              <a:rPr lang="en-IN" dirty="0" err="1"/>
              <a:t>TransferController</a:t>
            </a:r>
            <a:r>
              <a:rPr lang="en-IN" dirty="0"/>
              <a:t> {</a:t>
            </a:r>
          </a:p>
          <a:p>
            <a:pPr marL="0" indent="0">
              <a:buNone/>
            </a:pPr>
            <a:endParaRPr lang="en-IN" dirty="0"/>
          </a:p>
          <a:p>
            <a:pPr marL="0" indent="0">
              <a:buNone/>
            </a:pPr>
            <a:r>
              <a:rPr lang="en-IN" dirty="0"/>
              <a:t>    private final </a:t>
            </a:r>
            <a:r>
              <a:rPr lang="en-IN" dirty="0" err="1"/>
              <a:t>KafkaTemplate</a:t>
            </a:r>
            <a:r>
              <a:rPr lang="en-IN" dirty="0"/>
              <a:t>&lt;String, Object&gt; </a:t>
            </a:r>
            <a:r>
              <a:rPr lang="en-IN" dirty="0" err="1"/>
              <a:t>kafkaTemplate</a:t>
            </a:r>
            <a:r>
              <a:rPr lang="en-IN" dirty="0"/>
              <a:t>;</a:t>
            </a:r>
          </a:p>
          <a:p>
            <a:pPr marL="0" indent="0">
              <a:buNone/>
            </a:pPr>
            <a:endParaRPr lang="en-IN" dirty="0"/>
          </a:p>
          <a:p>
            <a:pPr marL="0" indent="0">
              <a:buNone/>
            </a:pPr>
            <a:r>
              <a:rPr lang="en-IN" dirty="0"/>
              <a:t>    @PostMapping</a:t>
            </a:r>
          </a:p>
          <a:p>
            <a:pPr marL="0" indent="0">
              <a:buNone/>
            </a:pPr>
            <a:r>
              <a:rPr lang="en-IN" dirty="0"/>
              <a:t>    public String transfer(@RequestBody </a:t>
            </a:r>
            <a:r>
              <a:rPr lang="en-IN" dirty="0" err="1"/>
              <a:t>TransferRequest</a:t>
            </a:r>
            <a:r>
              <a:rPr lang="en-IN" dirty="0"/>
              <a:t> request) {</a:t>
            </a:r>
          </a:p>
          <a:p>
            <a:pPr marL="0" indent="0">
              <a:buNone/>
            </a:pPr>
            <a:endParaRPr lang="en-IN" dirty="0"/>
          </a:p>
          <a:p>
            <a:pPr marL="0" indent="0">
              <a:buNone/>
            </a:pPr>
            <a:r>
              <a:rPr lang="en-IN" dirty="0"/>
              <a:t>        </a:t>
            </a:r>
            <a:r>
              <a:rPr lang="en-IN" dirty="0" err="1"/>
              <a:t>kafkaTemplate.send</a:t>
            </a:r>
            <a:r>
              <a:rPr lang="en-IN" dirty="0"/>
              <a:t>("transfer-initiated", request);</a:t>
            </a:r>
          </a:p>
          <a:p>
            <a:pPr marL="0" indent="0">
              <a:buNone/>
            </a:pPr>
            <a:endParaRPr lang="en-IN" dirty="0"/>
          </a:p>
          <a:p>
            <a:pPr marL="0" indent="0">
              <a:buNone/>
            </a:pPr>
            <a:r>
              <a:rPr lang="en-IN" dirty="0"/>
              <a:t>        return "Transfer Initiated";</a:t>
            </a:r>
          </a:p>
          <a:p>
            <a:pPr marL="0" indent="0">
              <a:buNone/>
            </a:pPr>
            <a:r>
              <a:rPr lang="en-IN" dirty="0"/>
              <a:t>    }</a:t>
            </a:r>
          </a:p>
          <a:p>
            <a:pPr marL="0" indent="0">
              <a:buNone/>
            </a:pPr>
            <a:r>
              <a:rPr lang="en-IN" dirty="0"/>
              <a:t>}</a:t>
            </a:r>
          </a:p>
          <a:p>
            <a:pPr marL="0" indent="0">
              <a:buNone/>
            </a:pPr>
            <a:r>
              <a:rPr lang="en-IN" b="1" dirty="0" err="1"/>
              <a:t>TransferRequest</a:t>
            </a:r>
            <a:r>
              <a:rPr lang="en-IN" b="1" dirty="0"/>
              <a:t> DTO:</a:t>
            </a:r>
          </a:p>
          <a:p>
            <a:pPr marL="0" indent="0">
              <a:buNone/>
            </a:pPr>
            <a:r>
              <a:rPr lang="en-US" dirty="0"/>
              <a:t>@Data</a:t>
            </a:r>
          </a:p>
          <a:p>
            <a:pPr marL="0" indent="0">
              <a:buNone/>
            </a:pPr>
            <a:r>
              <a:rPr lang="en-US" dirty="0"/>
              <a:t>@AllArgsConstructor</a:t>
            </a:r>
          </a:p>
          <a:p>
            <a:pPr marL="0" indent="0">
              <a:buNone/>
            </a:pPr>
            <a:r>
              <a:rPr lang="en-US" dirty="0"/>
              <a:t>@NoArgsConstructor</a:t>
            </a:r>
          </a:p>
          <a:p>
            <a:pPr marL="0" indent="0">
              <a:buNone/>
            </a:pPr>
            <a:r>
              <a:rPr lang="en-US" dirty="0"/>
              <a:t>public class </a:t>
            </a:r>
            <a:r>
              <a:rPr lang="en-US" dirty="0" err="1"/>
              <a:t>TransferRequest</a:t>
            </a:r>
            <a:r>
              <a:rPr lang="en-US" dirty="0"/>
              <a:t> {</a:t>
            </a:r>
          </a:p>
          <a:p>
            <a:pPr marL="0" indent="0">
              <a:buNone/>
            </a:pPr>
            <a:endParaRPr lang="en-US" dirty="0"/>
          </a:p>
          <a:p>
            <a:pPr marL="0" indent="0">
              <a:buNone/>
            </a:pPr>
            <a:r>
              <a:rPr lang="en-US" dirty="0"/>
              <a:t>    private Long </a:t>
            </a:r>
            <a:r>
              <a:rPr lang="en-US" dirty="0" err="1"/>
              <a:t>fromAccount</a:t>
            </a:r>
            <a:r>
              <a:rPr lang="en-US" dirty="0"/>
              <a:t>;</a:t>
            </a:r>
          </a:p>
          <a:p>
            <a:pPr marL="0" indent="0">
              <a:buNone/>
            </a:pPr>
            <a:r>
              <a:rPr lang="en-US" dirty="0"/>
              <a:t>    private Long </a:t>
            </a:r>
            <a:r>
              <a:rPr lang="en-US" dirty="0" err="1"/>
              <a:t>toAccount</a:t>
            </a:r>
            <a:r>
              <a:rPr lang="en-US" dirty="0"/>
              <a:t>;</a:t>
            </a:r>
          </a:p>
          <a:p>
            <a:pPr marL="0" indent="0">
              <a:buNone/>
            </a:pPr>
            <a:r>
              <a:rPr lang="en-US" dirty="0"/>
              <a:t>    private Double amount;</a:t>
            </a:r>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333268926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FB0F0-9A9C-0198-A77C-A757EEC3A804}"/>
              </a:ext>
            </a:extLst>
          </p:cNvPr>
          <p:cNvSpPr>
            <a:spLocks noGrp="1"/>
          </p:cNvSpPr>
          <p:nvPr>
            <p:ph type="title"/>
          </p:nvPr>
        </p:nvSpPr>
        <p:spPr/>
        <p:txBody>
          <a:bodyPr>
            <a:normAutofit fontScale="90000"/>
          </a:bodyPr>
          <a:lstStyle/>
          <a:p>
            <a:r>
              <a:rPr lang="en-IN" dirty="0"/>
              <a:t>Hands On -Account Service Implementation</a:t>
            </a:r>
          </a:p>
        </p:txBody>
      </p:sp>
      <p:sp>
        <p:nvSpPr>
          <p:cNvPr id="3" name="Content Placeholder 2">
            <a:extLst>
              <a:ext uri="{FF2B5EF4-FFF2-40B4-BE49-F238E27FC236}">
                <a16:creationId xmlns:a16="http://schemas.microsoft.com/office/drawing/2014/main" id="{FB5500FF-5E26-5100-BAA9-7C851BAE939A}"/>
              </a:ext>
            </a:extLst>
          </p:cNvPr>
          <p:cNvSpPr>
            <a:spLocks noGrp="1"/>
          </p:cNvSpPr>
          <p:nvPr>
            <p:ph idx="1"/>
          </p:nvPr>
        </p:nvSpPr>
        <p:spPr/>
        <p:txBody>
          <a:bodyPr>
            <a:normAutofit fontScale="55000" lnSpcReduction="20000"/>
          </a:bodyPr>
          <a:lstStyle/>
          <a:p>
            <a:pPr marL="0" indent="0">
              <a:buNone/>
            </a:pPr>
            <a:r>
              <a:rPr lang="en-IN" dirty="0"/>
              <a:t>Account Entity</a:t>
            </a:r>
          </a:p>
          <a:p>
            <a:pPr marL="0" indent="0">
              <a:buNone/>
            </a:pPr>
            <a:r>
              <a:rPr lang="en-US" dirty="0"/>
              <a:t>@Entity</a:t>
            </a:r>
          </a:p>
          <a:p>
            <a:pPr marL="0" indent="0">
              <a:buNone/>
            </a:pPr>
            <a:r>
              <a:rPr lang="en-US" dirty="0"/>
              <a:t>@Data</a:t>
            </a:r>
          </a:p>
          <a:p>
            <a:pPr marL="0" indent="0">
              <a:buNone/>
            </a:pPr>
            <a:r>
              <a:rPr lang="en-US" dirty="0"/>
              <a:t>public class Account {</a:t>
            </a:r>
          </a:p>
          <a:p>
            <a:pPr marL="0" indent="0">
              <a:buNone/>
            </a:pPr>
            <a:endParaRPr lang="en-US" dirty="0"/>
          </a:p>
          <a:p>
            <a:pPr marL="0" indent="0">
              <a:buNone/>
            </a:pPr>
            <a:r>
              <a:rPr lang="en-US" dirty="0"/>
              <a:t>    @Id</a:t>
            </a:r>
          </a:p>
          <a:p>
            <a:pPr marL="0" indent="0">
              <a:buNone/>
            </a:pPr>
            <a:r>
              <a:rPr lang="en-US" dirty="0"/>
              <a:t>    private Long id;</a:t>
            </a:r>
          </a:p>
          <a:p>
            <a:pPr marL="0" indent="0">
              <a:buNone/>
            </a:pPr>
            <a:endParaRPr lang="en-US" dirty="0"/>
          </a:p>
          <a:p>
            <a:pPr marL="0" indent="0">
              <a:buNone/>
            </a:pPr>
            <a:r>
              <a:rPr lang="en-US" dirty="0"/>
              <a:t>    private String name;</a:t>
            </a:r>
          </a:p>
          <a:p>
            <a:pPr marL="0" indent="0">
              <a:buNone/>
            </a:pPr>
            <a:endParaRPr lang="en-US" dirty="0"/>
          </a:p>
          <a:p>
            <a:pPr marL="0" indent="0">
              <a:buNone/>
            </a:pPr>
            <a:r>
              <a:rPr lang="en-US" dirty="0"/>
              <a:t>    private Double balance;</a:t>
            </a:r>
          </a:p>
          <a:p>
            <a:pPr marL="0" indent="0">
              <a:buNone/>
            </a:pPr>
            <a:r>
              <a:rPr lang="en-US" dirty="0"/>
              <a:t>}</a:t>
            </a:r>
          </a:p>
          <a:p>
            <a:pPr marL="0" indent="0">
              <a:buNone/>
            </a:pPr>
            <a:r>
              <a:rPr lang="en-IN" dirty="0"/>
              <a:t>Repository</a:t>
            </a:r>
          </a:p>
          <a:p>
            <a:pPr marL="0" indent="0">
              <a:buNone/>
            </a:pPr>
            <a:r>
              <a:rPr lang="en-US" dirty="0"/>
              <a:t>public interface </a:t>
            </a:r>
            <a:r>
              <a:rPr lang="en-US" dirty="0" err="1"/>
              <a:t>AccountRepository</a:t>
            </a:r>
            <a:r>
              <a:rPr lang="en-US" dirty="0"/>
              <a:t> extends </a:t>
            </a:r>
            <a:r>
              <a:rPr lang="en-US" dirty="0" err="1"/>
              <a:t>JpaRepository</a:t>
            </a:r>
            <a:r>
              <a:rPr lang="en-US" dirty="0"/>
              <a:t>&lt;Account, Long&gt; {</a:t>
            </a:r>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36204537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602A8-2F1A-700E-E446-B465EF98D978}"/>
              </a:ext>
            </a:extLst>
          </p:cNvPr>
          <p:cNvSpPr>
            <a:spLocks noGrp="1"/>
          </p:cNvSpPr>
          <p:nvPr>
            <p:ph type="title"/>
          </p:nvPr>
        </p:nvSpPr>
        <p:spPr/>
        <p:txBody>
          <a:bodyPr/>
          <a:lstStyle/>
          <a:p>
            <a:r>
              <a:rPr lang="en-IN" dirty="0"/>
              <a:t>Hands On – Kafka Consumer</a:t>
            </a:r>
          </a:p>
        </p:txBody>
      </p:sp>
      <p:sp>
        <p:nvSpPr>
          <p:cNvPr id="3" name="Content Placeholder 2">
            <a:extLst>
              <a:ext uri="{FF2B5EF4-FFF2-40B4-BE49-F238E27FC236}">
                <a16:creationId xmlns:a16="http://schemas.microsoft.com/office/drawing/2014/main" id="{F25FAF3F-8E9C-8A8E-E2B2-95ED78F3A0BC}"/>
              </a:ext>
            </a:extLst>
          </p:cNvPr>
          <p:cNvSpPr>
            <a:spLocks noGrp="1"/>
          </p:cNvSpPr>
          <p:nvPr>
            <p:ph idx="1"/>
          </p:nvPr>
        </p:nvSpPr>
        <p:spPr/>
        <p:txBody>
          <a:bodyPr>
            <a:normAutofit fontScale="25000" lnSpcReduction="20000"/>
          </a:bodyPr>
          <a:lstStyle/>
          <a:p>
            <a:pPr marL="0" indent="0">
              <a:buNone/>
            </a:pPr>
            <a:r>
              <a:rPr lang="en-IN" dirty="0"/>
              <a:t>@Component</a:t>
            </a:r>
          </a:p>
          <a:p>
            <a:pPr marL="0" indent="0">
              <a:buNone/>
            </a:pPr>
            <a:r>
              <a:rPr lang="en-IN" dirty="0"/>
              <a:t>@RequiredArgsConstructor</a:t>
            </a:r>
          </a:p>
          <a:p>
            <a:pPr marL="0" indent="0">
              <a:buNone/>
            </a:pPr>
            <a:r>
              <a:rPr lang="en-IN" dirty="0"/>
              <a:t>public class </a:t>
            </a:r>
            <a:r>
              <a:rPr lang="en-IN" dirty="0" err="1"/>
              <a:t>TransferConsumer</a:t>
            </a:r>
            <a:r>
              <a:rPr lang="en-IN" dirty="0"/>
              <a:t> {</a:t>
            </a:r>
          </a:p>
          <a:p>
            <a:pPr marL="0" indent="0">
              <a:buNone/>
            </a:pPr>
            <a:endParaRPr lang="en-IN" dirty="0"/>
          </a:p>
          <a:p>
            <a:pPr marL="0" indent="0">
              <a:buNone/>
            </a:pPr>
            <a:r>
              <a:rPr lang="en-IN" dirty="0"/>
              <a:t>    private final </a:t>
            </a:r>
            <a:r>
              <a:rPr lang="en-IN" dirty="0" err="1"/>
              <a:t>AccountRepository</a:t>
            </a:r>
            <a:r>
              <a:rPr lang="en-IN" dirty="0"/>
              <a:t> repo;</a:t>
            </a:r>
          </a:p>
          <a:p>
            <a:pPr marL="0" indent="0">
              <a:buNone/>
            </a:pPr>
            <a:r>
              <a:rPr lang="en-IN" dirty="0"/>
              <a:t>    private final </a:t>
            </a:r>
            <a:r>
              <a:rPr lang="en-IN" dirty="0" err="1"/>
              <a:t>KafkaTemplate</a:t>
            </a:r>
            <a:r>
              <a:rPr lang="en-IN" dirty="0"/>
              <a:t>&lt;String, Object&gt; </a:t>
            </a:r>
            <a:r>
              <a:rPr lang="en-IN" dirty="0" err="1"/>
              <a:t>kafkaTemplate</a:t>
            </a:r>
            <a:r>
              <a:rPr lang="en-IN" dirty="0"/>
              <a:t>;</a:t>
            </a:r>
          </a:p>
          <a:p>
            <a:pPr marL="0" indent="0">
              <a:buNone/>
            </a:pPr>
            <a:endParaRPr lang="en-IN" dirty="0"/>
          </a:p>
          <a:p>
            <a:pPr marL="0" indent="0">
              <a:buNone/>
            </a:pPr>
            <a:r>
              <a:rPr lang="en-IN" dirty="0"/>
              <a:t>    @KafkaListener(topics = "transfer-initiated")</a:t>
            </a:r>
          </a:p>
          <a:p>
            <a:pPr marL="0" indent="0">
              <a:buNone/>
            </a:pPr>
            <a:r>
              <a:rPr lang="en-IN" dirty="0"/>
              <a:t>    public void debit(</a:t>
            </a:r>
            <a:r>
              <a:rPr lang="en-IN" dirty="0" err="1"/>
              <a:t>TransferRequest</a:t>
            </a:r>
            <a:r>
              <a:rPr lang="en-IN" dirty="0"/>
              <a:t> request) {</a:t>
            </a:r>
          </a:p>
          <a:p>
            <a:pPr marL="0" indent="0">
              <a:buNone/>
            </a:pPr>
            <a:endParaRPr lang="en-IN" dirty="0"/>
          </a:p>
          <a:p>
            <a:pPr marL="0" indent="0">
              <a:buNone/>
            </a:pPr>
            <a:r>
              <a:rPr lang="en-IN" dirty="0"/>
              <a:t>        Account from = </a:t>
            </a:r>
            <a:r>
              <a:rPr lang="en-IN" dirty="0" err="1"/>
              <a:t>repo.findById</a:t>
            </a:r>
            <a:r>
              <a:rPr lang="en-IN" dirty="0"/>
              <a:t>(</a:t>
            </a:r>
            <a:r>
              <a:rPr lang="en-IN" dirty="0" err="1"/>
              <a:t>request.getFromAccount</a:t>
            </a:r>
            <a:r>
              <a:rPr lang="en-IN" dirty="0"/>
              <a:t>()).get();</a:t>
            </a:r>
          </a:p>
          <a:p>
            <a:pPr marL="0" indent="0">
              <a:buNone/>
            </a:pPr>
            <a:endParaRPr lang="en-IN" dirty="0"/>
          </a:p>
          <a:p>
            <a:pPr marL="0" indent="0">
              <a:buNone/>
            </a:pPr>
            <a:r>
              <a:rPr lang="en-IN" dirty="0"/>
              <a:t>        if(</a:t>
            </a:r>
            <a:r>
              <a:rPr lang="en-IN" dirty="0" err="1"/>
              <a:t>from.getBalance</a:t>
            </a:r>
            <a:r>
              <a:rPr lang="en-IN" dirty="0"/>
              <a:t>() &lt; </a:t>
            </a:r>
            <a:r>
              <a:rPr lang="en-IN" dirty="0" err="1"/>
              <a:t>request.getAmount</a:t>
            </a:r>
            <a:r>
              <a:rPr lang="en-IN" dirty="0"/>
              <a:t>()) {</a:t>
            </a:r>
          </a:p>
          <a:p>
            <a:pPr marL="0" indent="0">
              <a:buNone/>
            </a:pPr>
            <a:endParaRPr lang="en-IN" dirty="0"/>
          </a:p>
          <a:p>
            <a:pPr marL="0" indent="0">
              <a:buNone/>
            </a:pPr>
            <a:r>
              <a:rPr lang="en-IN" dirty="0"/>
              <a:t>            </a:t>
            </a:r>
            <a:r>
              <a:rPr lang="en-IN" dirty="0" err="1"/>
              <a:t>kafkaTemplate.send</a:t>
            </a:r>
            <a:r>
              <a:rPr lang="en-IN" dirty="0"/>
              <a:t>("transfer-failed", request);</a:t>
            </a:r>
          </a:p>
          <a:p>
            <a:pPr marL="0" indent="0">
              <a:buNone/>
            </a:pPr>
            <a:r>
              <a:rPr lang="en-IN" dirty="0"/>
              <a:t>            return;</a:t>
            </a:r>
          </a:p>
          <a:p>
            <a:pPr marL="0" indent="0">
              <a:buNone/>
            </a:pPr>
            <a:r>
              <a:rPr lang="en-IN" dirty="0"/>
              <a:t>        }</a:t>
            </a:r>
          </a:p>
          <a:p>
            <a:pPr marL="0" indent="0">
              <a:buNone/>
            </a:pPr>
            <a:endParaRPr lang="en-IN" dirty="0"/>
          </a:p>
          <a:p>
            <a:pPr marL="0" indent="0">
              <a:buNone/>
            </a:pPr>
            <a:r>
              <a:rPr lang="en-IN" dirty="0"/>
              <a:t>        </a:t>
            </a:r>
            <a:r>
              <a:rPr lang="en-IN" dirty="0" err="1"/>
              <a:t>from.setBalance</a:t>
            </a:r>
            <a:r>
              <a:rPr lang="en-IN" dirty="0"/>
              <a:t>(</a:t>
            </a:r>
            <a:r>
              <a:rPr lang="en-IN" dirty="0" err="1"/>
              <a:t>from.getBalance</a:t>
            </a:r>
            <a:r>
              <a:rPr lang="en-IN" dirty="0"/>
              <a:t>() - </a:t>
            </a:r>
            <a:r>
              <a:rPr lang="en-IN" dirty="0" err="1"/>
              <a:t>request.getAmount</a:t>
            </a:r>
            <a:r>
              <a:rPr lang="en-IN" dirty="0"/>
              <a:t>());</a:t>
            </a:r>
          </a:p>
          <a:p>
            <a:pPr marL="0" indent="0">
              <a:buNone/>
            </a:pPr>
            <a:r>
              <a:rPr lang="en-IN" dirty="0"/>
              <a:t>        </a:t>
            </a:r>
            <a:r>
              <a:rPr lang="en-IN" dirty="0" err="1"/>
              <a:t>repo.save</a:t>
            </a:r>
            <a:r>
              <a:rPr lang="en-IN" dirty="0"/>
              <a:t>(from);</a:t>
            </a:r>
          </a:p>
          <a:p>
            <a:pPr marL="0" indent="0">
              <a:buNone/>
            </a:pPr>
            <a:endParaRPr lang="en-IN" dirty="0"/>
          </a:p>
          <a:p>
            <a:pPr marL="0" indent="0">
              <a:buNone/>
            </a:pPr>
            <a:r>
              <a:rPr lang="en-IN" dirty="0"/>
              <a:t>        </a:t>
            </a:r>
            <a:r>
              <a:rPr lang="en-IN" dirty="0" err="1"/>
              <a:t>kafkaTemplate.send</a:t>
            </a:r>
            <a:r>
              <a:rPr lang="en-IN" dirty="0"/>
              <a:t>("account-debited", request);</a:t>
            </a:r>
          </a:p>
          <a:p>
            <a:pPr marL="0" indent="0">
              <a:buNone/>
            </a:pPr>
            <a:r>
              <a:rPr lang="en-IN" dirty="0"/>
              <a:t>    }</a:t>
            </a:r>
          </a:p>
          <a:p>
            <a:pPr marL="0" indent="0">
              <a:buNone/>
            </a:pPr>
            <a:r>
              <a:rPr lang="en-IN" dirty="0"/>
              <a:t>}</a:t>
            </a:r>
          </a:p>
          <a:p>
            <a:pPr marL="0" indent="0">
              <a:buNone/>
            </a:pPr>
            <a:r>
              <a:rPr lang="en-IN" b="1" dirty="0"/>
              <a:t>Credit Consumer</a:t>
            </a:r>
          </a:p>
          <a:p>
            <a:pPr marL="0" indent="0">
              <a:buNone/>
            </a:pPr>
            <a:r>
              <a:rPr lang="en-IN" b="1" dirty="0"/>
              <a:t>@Component</a:t>
            </a:r>
          </a:p>
          <a:p>
            <a:pPr marL="0" indent="0">
              <a:buNone/>
            </a:pPr>
            <a:r>
              <a:rPr lang="en-IN" b="1" dirty="0"/>
              <a:t>@RequiredArgsConstructor</a:t>
            </a:r>
          </a:p>
          <a:p>
            <a:pPr marL="0" indent="0">
              <a:buNone/>
            </a:pPr>
            <a:r>
              <a:rPr lang="en-IN" b="1" dirty="0"/>
              <a:t>public class </a:t>
            </a:r>
            <a:r>
              <a:rPr lang="en-IN" b="1" dirty="0" err="1"/>
              <a:t>CreditConsumer</a:t>
            </a:r>
            <a:r>
              <a:rPr lang="en-IN" b="1" dirty="0"/>
              <a:t> {</a:t>
            </a:r>
          </a:p>
          <a:p>
            <a:pPr marL="0" indent="0">
              <a:buNone/>
            </a:pPr>
            <a:endParaRPr lang="en-IN" b="1" dirty="0"/>
          </a:p>
          <a:p>
            <a:pPr marL="0" indent="0">
              <a:buNone/>
            </a:pPr>
            <a:r>
              <a:rPr lang="en-IN" b="1" dirty="0"/>
              <a:t>    private final </a:t>
            </a:r>
            <a:r>
              <a:rPr lang="en-IN" b="1" dirty="0" err="1"/>
              <a:t>AccountRepository</a:t>
            </a:r>
            <a:r>
              <a:rPr lang="en-IN" b="1" dirty="0"/>
              <a:t> repo;</a:t>
            </a:r>
          </a:p>
          <a:p>
            <a:pPr marL="0" indent="0">
              <a:buNone/>
            </a:pPr>
            <a:r>
              <a:rPr lang="en-IN" b="1" dirty="0"/>
              <a:t>    private final </a:t>
            </a:r>
            <a:r>
              <a:rPr lang="en-IN" b="1" dirty="0" err="1"/>
              <a:t>KafkaTemplate</a:t>
            </a:r>
            <a:r>
              <a:rPr lang="en-IN" b="1" dirty="0"/>
              <a:t>&lt;String, Object&gt; </a:t>
            </a:r>
            <a:r>
              <a:rPr lang="en-IN" b="1" dirty="0" err="1"/>
              <a:t>kafkaTemplate</a:t>
            </a:r>
            <a:r>
              <a:rPr lang="en-IN" b="1" dirty="0"/>
              <a:t>;</a:t>
            </a:r>
          </a:p>
          <a:p>
            <a:pPr marL="0" indent="0">
              <a:buNone/>
            </a:pPr>
            <a:endParaRPr lang="en-IN" b="1" dirty="0"/>
          </a:p>
          <a:p>
            <a:pPr marL="0" indent="0">
              <a:buNone/>
            </a:pPr>
            <a:r>
              <a:rPr lang="en-IN" b="1" dirty="0"/>
              <a:t>    @KafkaListener(topics = "account-debited")</a:t>
            </a:r>
          </a:p>
          <a:p>
            <a:pPr marL="0" indent="0">
              <a:buNone/>
            </a:pPr>
            <a:r>
              <a:rPr lang="en-IN" b="1" dirty="0"/>
              <a:t>    public void credit(</a:t>
            </a:r>
            <a:r>
              <a:rPr lang="en-IN" b="1" dirty="0" err="1"/>
              <a:t>TransferRequest</a:t>
            </a:r>
            <a:r>
              <a:rPr lang="en-IN" b="1" dirty="0"/>
              <a:t> request) {</a:t>
            </a:r>
          </a:p>
          <a:p>
            <a:pPr marL="0" indent="0">
              <a:buNone/>
            </a:pPr>
            <a:endParaRPr lang="en-IN" b="1" dirty="0"/>
          </a:p>
          <a:p>
            <a:pPr marL="0" indent="0">
              <a:buNone/>
            </a:pPr>
            <a:r>
              <a:rPr lang="en-IN" b="1" dirty="0"/>
              <a:t>        Account to = </a:t>
            </a:r>
            <a:r>
              <a:rPr lang="en-IN" b="1" dirty="0" err="1"/>
              <a:t>repo.findById</a:t>
            </a:r>
            <a:r>
              <a:rPr lang="en-IN" b="1" dirty="0"/>
              <a:t>(</a:t>
            </a:r>
            <a:r>
              <a:rPr lang="en-IN" b="1" dirty="0" err="1"/>
              <a:t>request.getToAccount</a:t>
            </a:r>
            <a:r>
              <a:rPr lang="en-IN" b="1" dirty="0"/>
              <a:t>()).get();</a:t>
            </a:r>
          </a:p>
          <a:p>
            <a:pPr marL="0" indent="0">
              <a:buNone/>
            </a:pPr>
            <a:endParaRPr lang="en-IN" b="1" dirty="0"/>
          </a:p>
          <a:p>
            <a:pPr marL="0" indent="0">
              <a:buNone/>
            </a:pPr>
            <a:r>
              <a:rPr lang="en-IN" b="1" dirty="0"/>
              <a:t>        </a:t>
            </a:r>
            <a:r>
              <a:rPr lang="en-IN" b="1" dirty="0" err="1"/>
              <a:t>to.setBalance</a:t>
            </a:r>
            <a:r>
              <a:rPr lang="en-IN" b="1" dirty="0"/>
              <a:t>(</a:t>
            </a:r>
            <a:r>
              <a:rPr lang="en-IN" b="1" dirty="0" err="1"/>
              <a:t>to.getBalance</a:t>
            </a:r>
            <a:r>
              <a:rPr lang="en-IN" b="1" dirty="0"/>
              <a:t>() + </a:t>
            </a:r>
            <a:r>
              <a:rPr lang="en-IN" b="1" dirty="0" err="1"/>
              <a:t>request.getAmount</a:t>
            </a:r>
            <a:r>
              <a:rPr lang="en-IN" b="1" dirty="0"/>
              <a:t>());</a:t>
            </a:r>
          </a:p>
          <a:p>
            <a:pPr marL="0" indent="0">
              <a:buNone/>
            </a:pPr>
            <a:endParaRPr lang="en-IN" b="1" dirty="0"/>
          </a:p>
          <a:p>
            <a:pPr marL="0" indent="0">
              <a:buNone/>
            </a:pPr>
            <a:r>
              <a:rPr lang="en-IN" b="1" dirty="0"/>
              <a:t>        </a:t>
            </a:r>
            <a:r>
              <a:rPr lang="en-IN" b="1" dirty="0" err="1"/>
              <a:t>repo.save</a:t>
            </a:r>
            <a:r>
              <a:rPr lang="en-IN" b="1" dirty="0"/>
              <a:t>(to);</a:t>
            </a:r>
          </a:p>
          <a:p>
            <a:pPr marL="0" indent="0">
              <a:buNone/>
            </a:pPr>
            <a:endParaRPr lang="en-IN" b="1" dirty="0"/>
          </a:p>
          <a:p>
            <a:pPr marL="0" indent="0">
              <a:buNone/>
            </a:pPr>
            <a:r>
              <a:rPr lang="en-IN" b="1" dirty="0"/>
              <a:t>        </a:t>
            </a:r>
            <a:r>
              <a:rPr lang="en-IN" b="1" dirty="0" err="1"/>
              <a:t>kafkaTemplate.send</a:t>
            </a:r>
            <a:r>
              <a:rPr lang="en-IN" b="1" dirty="0"/>
              <a:t>("account-credited", request);</a:t>
            </a:r>
          </a:p>
          <a:p>
            <a:pPr marL="0" indent="0">
              <a:buNone/>
            </a:pPr>
            <a:r>
              <a:rPr lang="en-IN" b="1" dirty="0"/>
              <a:t>    }</a:t>
            </a:r>
          </a:p>
          <a:p>
            <a:pPr marL="0" indent="0">
              <a:buNone/>
            </a:pPr>
            <a:r>
              <a:rPr lang="en-IN" b="1" dirty="0"/>
              <a:t>}</a:t>
            </a:r>
          </a:p>
          <a:p>
            <a:pPr marL="0" indent="0">
              <a:buNone/>
            </a:pPr>
            <a:endParaRPr lang="en-IN" b="1" dirty="0"/>
          </a:p>
        </p:txBody>
      </p:sp>
    </p:spTree>
    <p:extLst>
      <p:ext uri="{BB962C8B-B14F-4D97-AF65-F5344CB8AC3E}">
        <p14:creationId xmlns:p14="http://schemas.microsoft.com/office/powerpoint/2010/main" val="35695595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5C102-47C7-A3B2-92A2-EE43B5BDD6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FA83FF-5FE2-9124-B94B-4F81650664B7}"/>
              </a:ext>
            </a:extLst>
          </p:cNvPr>
          <p:cNvSpPr>
            <a:spLocks noGrp="1"/>
          </p:cNvSpPr>
          <p:nvPr>
            <p:ph type="title"/>
          </p:nvPr>
        </p:nvSpPr>
        <p:spPr/>
        <p:txBody>
          <a:bodyPr/>
          <a:lstStyle/>
          <a:p>
            <a:r>
              <a:rPr lang="en-IN" dirty="0"/>
              <a:t>Hands On – Kafka Consumer</a:t>
            </a:r>
          </a:p>
        </p:txBody>
      </p:sp>
      <p:sp>
        <p:nvSpPr>
          <p:cNvPr id="3" name="Content Placeholder 2">
            <a:extLst>
              <a:ext uri="{FF2B5EF4-FFF2-40B4-BE49-F238E27FC236}">
                <a16:creationId xmlns:a16="http://schemas.microsoft.com/office/drawing/2014/main" id="{62FA9ECE-75DC-D48F-1801-C2B173577A89}"/>
              </a:ext>
            </a:extLst>
          </p:cNvPr>
          <p:cNvSpPr>
            <a:spLocks noGrp="1"/>
          </p:cNvSpPr>
          <p:nvPr>
            <p:ph idx="1"/>
          </p:nvPr>
        </p:nvSpPr>
        <p:spPr/>
        <p:txBody>
          <a:bodyPr>
            <a:normAutofit fontScale="47500" lnSpcReduction="20000"/>
          </a:bodyPr>
          <a:lstStyle/>
          <a:p>
            <a:pPr marL="0" indent="0">
              <a:buNone/>
            </a:pPr>
            <a:r>
              <a:rPr lang="en-IN" b="1" dirty="0"/>
              <a:t>Compensation Consumer</a:t>
            </a:r>
          </a:p>
          <a:p>
            <a:pPr marL="0" indent="0">
              <a:buNone/>
            </a:pPr>
            <a:r>
              <a:rPr lang="en-IN" dirty="0"/>
              <a:t>@Component</a:t>
            </a:r>
          </a:p>
          <a:p>
            <a:pPr marL="0" indent="0">
              <a:buNone/>
            </a:pPr>
            <a:r>
              <a:rPr lang="en-IN" dirty="0"/>
              <a:t>@RequiredArgsConstructor</a:t>
            </a:r>
          </a:p>
          <a:p>
            <a:pPr marL="0" indent="0">
              <a:buNone/>
            </a:pPr>
            <a:r>
              <a:rPr lang="en-IN" dirty="0"/>
              <a:t>public class </a:t>
            </a:r>
            <a:r>
              <a:rPr lang="en-IN" dirty="0" err="1"/>
              <a:t>CompensationConsumer</a:t>
            </a:r>
            <a:r>
              <a:rPr lang="en-IN" dirty="0"/>
              <a:t> {</a:t>
            </a:r>
          </a:p>
          <a:p>
            <a:pPr marL="0" indent="0">
              <a:buNone/>
            </a:pPr>
            <a:endParaRPr lang="en-IN" dirty="0"/>
          </a:p>
          <a:p>
            <a:pPr marL="0" indent="0">
              <a:buNone/>
            </a:pPr>
            <a:r>
              <a:rPr lang="en-IN" dirty="0"/>
              <a:t>    private final </a:t>
            </a:r>
            <a:r>
              <a:rPr lang="en-IN" dirty="0" err="1"/>
              <a:t>AccountRepository</a:t>
            </a:r>
            <a:r>
              <a:rPr lang="en-IN" dirty="0"/>
              <a:t> repo;</a:t>
            </a:r>
          </a:p>
          <a:p>
            <a:pPr marL="0" indent="0">
              <a:buNone/>
            </a:pPr>
            <a:endParaRPr lang="en-IN" dirty="0"/>
          </a:p>
          <a:p>
            <a:pPr marL="0" indent="0">
              <a:buNone/>
            </a:pPr>
            <a:r>
              <a:rPr lang="en-IN" dirty="0"/>
              <a:t>    @KafkaListener(topics = "transfer-failed")</a:t>
            </a:r>
          </a:p>
          <a:p>
            <a:pPr marL="0" indent="0">
              <a:buNone/>
            </a:pPr>
            <a:r>
              <a:rPr lang="en-IN" dirty="0"/>
              <a:t>    public void rollback(</a:t>
            </a:r>
            <a:r>
              <a:rPr lang="en-IN" dirty="0" err="1"/>
              <a:t>TransferRequest</a:t>
            </a:r>
            <a:r>
              <a:rPr lang="en-IN" dirty="0"/>
              <a:t> request) {</a:t>
            </a:r>
          </a:p>
          <a:p>
            <a:pPr marL="0" indent="0">
              <a:buNone/>
            </a:pPr>
            <a:endParaRPr lang="en-IN" dirty="0"/>
          </a:p>
          <a:p>
            <a:pPr marL="0" indent="0">
              <a:buNone/>
            </a:pPr>
            <a:r>
              <a:rPr lang="en-IN" dirty="0"/>
              <a:t>        Account from = </a:t>
            </a:r>
            <a:r>
              <a:rPr lang="en-IN" dirty="0" err="1"/>
              <a:t>repo.findById</a:t>
            </a:r>
            <a:r>
              <a:rPr lang="en-IN" dirty="0"/>
              <a:t>(</a:t>
            </a:r>
            <a:r>
              <a:rPr lang="en-IN" dirty="0" err="1"/>
              <a:t>request.getFromAccount</a:t>
            </a:r>
            <a:r>
              <a:rPr lang="en-IN" dirty="0"/>
              <a:t>()).get();</a:t>
            </a:r>
          </a:p>
          <a:p>
            <a:pPr marL="0" indent="0">
              <a:buNone/>
            </a:pPr>
            <a:endParaRPr lang="en-IN" dirty="0"/>
          </a:p>
          <a:p>
            <a:pPr marL="0" indent="0">
              <a:buNone/>
            </a:pPr>
            <a:r>
              <a:rPr lang="en-IN" dirty="0"/>
              <a:t>        </a:t>
            </a:r>
            <a:r>
              <a:rPr lang="en-IN" dirty="0" err="1"/>
              <a:t>from.setBalance</a:t>
            </a:r>
            <a:r>
              <a:rPr lang="en-IN" dirty="0"/>
              <a:t>(</a:t>
            </a:r>
            <a:r>
              <a:rPr lang="en-IN" dirty="0" err="1"/>
              <a:t>from.getBalance</a:t>
            </a:r>
            <a:r>
              <a:rPr lang="en-IN" dirty="0"/>
              <a:t>() + </a:t>
            </a:r>
            <a:r>
              <a:rPr lang="en-IN" dirty="0" err="1"/>
              <a:t>request.getAmount</a:t>
            </a:r>
            <a:r>
              <a:rPr lang="en-IN" dirty="0"/>
              <a:t>());</a:t>
            </a:r>
          </a:p>
          <a:p>
            <a:pPr marL="0" indent="0">
              <a:buNone/>
            </a:pPr>
            <a:endParaRPr lang="en-IN" dirty="0"/>
          </a:p>
          <a:p>
            <a:pPr marL="0" indent="0">
              <a:buNone/>
            </a:pPr>
            <a:r>
              <a:rPr lang="en-IN" dirty="0"/>
              <a:t>        </a:t>
            </a:r>
            <a:r>
              <a:rPr lang="en-IN" dirty="0" err="1"/>
              <a:t>repo.save</a:t>
            </a:r>
            <a:r>
              <a:rPr lang="en-IN" dirty="0"/>
              <a:t>(from);</a:t>
            </a:r>
          </a:p>
          <a:p>
            <a:pPr marL="0" indent="0">
              <a:buNone/>
            </a:pPr>
            <a:endParaRPr lang="en-IN" dirty="0"/>
          </a:p>
          <a:p>
            <a:pPr marL="0" indent="0">
              <a:buNone/>
            </a:pPr>
            <a:r>
              <a:rPr lang="en-IN" dirty="0"/>
              <a:t>        </a:t>
            </a:r>
            <a:r>
              <a:rPr lang="en-IN" dirty="0" err="1"/>
              <a:t>System.out.println</a:t>
            </a:r>
            <a:r>
              <a:rPr lang="en-IN" dirty="0"/>
              <a:t>("Rollback completed");</a:t>
            </a:r>
          </a:p>
          <a:p>
            <a:pPr marL="0" indent="0">
              <a:buNone/>
            </a:pPr>
            <a:r>
              <a:rPr lang="en-IN" dirty="0"/>
              <a:t>    }</a:t>
            </a:r>
          </a:p>
          <a:p>
            <a:pPr marL="0" indent="0">
              <a:buNone/>
            </a:pPr>
            <a:r>
              <a:rPr lang="en-IN" dirty="0"/>
              <a:t>}</a:t>
            </a:r>
          </a:p>
          <a:p>
            <a:pPr marL="0" indent="0">
              <a:buNone/>
            </a:pPr>
            <a:endParaRPr lang="en-IN" b="1" dirty="0"/>
          </a:p>
        </p:txBody>
      </p:sp>
    </p:spTree>
    <p:extLst>
      <p:ext uri="{BB962C8B-B14F-4D97-AF65-F5344CB8AC3E}">
        <p14:creationId xmlns:p14="http://schemas.microsoft.com/office/powerpoint/2010/main" val="50114497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849C8-FFB4-A485-4434-1295294E5F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CE1D18-0C80-C5A6-538B-6C605804CC54}"/>
              </a:ext>
            </a:extLst>
          </p:cNvPr>
          <p:cNvSpPr>
            <a:spLocks noGrp="1"/>
          </p:cNvSpPr>
          <p:nvPr>
            <p:ph type="title"/>
          </p:nvPr>
        </p:nvSpPr>
        <p:spPr/>
        <p:txBody>
          <a:bodyPr/>
          <a:lstStyle/>
          <a:p>
            <a:r>
              <a:rPr lang="en-IN" dirty="0"/>
              <a:t>Hands On – Notification Service</a:t>
            </a:r>
          </a:p>
        </p:txBody>
      </p:sp>
      <p:sp>
        <p:nvSpPr>
          <p:cNvPr id="3" name="Content Placeholder 2">
            <a:extLst>
              <a:ext uri="{FF2B5EF4-FFF2-40B4-BE49-F238E27FC236}">
                <a16:creationId xmlns:a16="http://schemas.microsoft.com/office/drawing/2014/main" id="{6DD3DE9A-0FBB-F534-F7EC-97732DE76AF4}"/>
              </a:ext>
            </a:extLst>
          </p:cNvPr>
          <p:cNvSpPr>
            <a:spLocks noGrp="1"/>
          </p:cNvSpPr>
          <p:nvPr>
            <p:ph idx="1"/>
          </p:nvPr>
        </p:nvSpPr>
        <p:spPr/>
        <p:txBody>
          <a:bodyPr>
            <a:normAutofit fontScale="55000" lnSpcReduction="20000"/>
          </a:bodyPr>
          <a:lstStyle/>
          <a:p>
            <a:pPr marL="0" indent="0">
              <a:buNone/>
            </a:pPr>
            <a:r>
              <a:rPr lang="en-IN" sz="2000" dirty="0"/>
              <a:t>@Component</a:t>
            </a:r>
          </a:p>
          <a:p>
            <a:pPr marL="0" indent="0">
              <a:buNone/>
            </a:pPr>
            <a:r>
              <a:rPr lang="en-IN" sz="2000" dirty="0"/>
              <a:t>public class </a:t>
            </a:r>
            <a:r>
              <a:rPr lang="en-IN" sz="2000" dirty="0" err="1"/>
              <a:t>NotificationConsumer</a:t>
            </a:r>
            <a:r>
              <a:rPr lang="en-IN" sz="2000" dirty="0"/>
              <a:t> {</a:t>
            </a:r>
          </a:p>
          <a:p>
            <a:pPr marL="0" indent="0">
              <a:buNone/>
            </a:pPr>
            <a:endParaRPr lang="en-IN" sz="2000" dirty="0"/>
          </a:p>
          <a:p>
            <a:pPr marL="0" indent="0">
              <a:buNone/>
            </a:pPr>
            <a:r>
              <a:rPr lang="en-IN" sz="2000" dirty="0"/>
              <a:t>    @KafkaListener(topics = "account-credited")</a:t>
            </a:r>
          </a:p>
          <a:p>
            <a:pPr marL="0" indent="0">
              <a:buNone/>
            </a:pPr>
            <a:r>
              <a:rPr lang="en-IN" sz="2000" dirty="0"/>
              <a:t>    public void notify(</a:t>
            </a:r>
            <a:r>
              <a:rPr lang="en-IN" sz="2000" dirty="0" err="1"/>
              <a:t>TransferRequest</a:t>
            </a:r>
            <a:r>
              <a:rPr lang="en-IN" sz="2000" dirty="0"/>
              <a:t> request) {</a:t>
            </a:r>
          </a:p>
          <a:p>
            <a:pPr marL="0" indent="0">
              <a:buNone/>
            </a:pPr>
            <a:endParaRPr lang="en-IN" sz="2000" dirty="0"/>
          </a:p>
          <a:p>
            <a:pPr marL="0" indent="0">
              <a:buNone/>
            </a:pPr>
            <a:r>
              <a:rPr lang="en-IN" sz="2000" dirty="0"/>
              <a:t>        </a:t>
            </a:r>
            <a:r>
              <a:rPr lang="en-IN" sz="2000" dirty="0" err="1"/>
              <a:t>System.out.println</a:t>
            </a:r>
            <a:r>
              <a:rPr lang="en-IN" sz="2000" dirty="0"/>
              <a:t>("Transfer successful: " + request);</a:t>
            </a:r>
          </a:p>
          <a:p>
            <a:pPr marL="0" indent="0">
              <a:buNone/>
            </a:pPr>
            <a:r>
              <a:rPr lang="en-IN" sz="2000" dirty="0"/>
              <a:t>    }</a:t>
            </a:r>
          </a:p>
          <a:p>
            <a:pPr marL="0" indent="0">
              <a:buNone/>
            </a:pPr>
            <a:r>
              <a:rPr lang="en-IN" sz="2000" dirty="0"/>
              <a:t>}</a:t>
            </a:r>
          </a:p>
          <a:p>
            <a:pPr marL="0" indent="0">
              <a:buNone/>
            </a:pPr>
            <a:r>
              <a:rPr lang="en-IN" sz="2000" b="1" dirty="0" err="1"/>
              <a:t>application.yml</a:t>
            </a:r>
            <a:r>
              <a:rPr lang="en-IN" sz="2000" b="1" dirty="0"/>
              <a:t> (Kafka Config)</a:t>
            </a:r>
          </a:p>
          <a:p>
            <a:pPr marL="0" indent="0">
              <a:buNone/>
            </a:pPr>
            <a:r>
              <a:rPr lang="en-IN" sz="2000" dirty="0"/>
              <a:t>spring:</a:t>
            </a:r>
          </a:p>
          <a:p>
            <a:pPr marL="0" indent="0">
              <a:buNone/>
            </a:pPr>
            <a:r>
              <a:rPr lang="en-IN" sz="2000" dirty="0"/>
              <a:t>  </a:t>
            </a:r>
            <a:r>
              <a:rPr lang="en-IN" sz="2000" dirty="0" err="1"/>
              <a:t>kafka</a:t>
            </a:r>
            <a:r>
              <a:rPr lang="en-IN" sz="2000" dirty="0"/>
              <a:t>:</a:t>
            </a:r>
          </a:p>
          <a:p>
            <a:pPr marL="0" indent="0">
              <a:buNone/>
            </a:pPr>
            <a:r>
              <a:rPr lang="en-IN" sz="2000" dirty="0"/>
              <a:t>    bootstrap-servers: localhost:9092</a:t>
            </a:r>
          </a:p>
          <a:p>
            <a:pPr marL="0" indent="0">
              <a:buNone/>
            </a:pPr>
            <a:endParaRPr lang="en-IN" sz="2000" dirty="0"/>
          </a:p>
          <a:p>
            <a:pPr marL="0" indent="0">
              <a:buNone/>
            </a:pPr>
            <a:r>
              <a:rPr lang="en-IN" sz="2000" dirty="0"/>
              <a:t>    consumer:</a:t>
            </a:r>
          </a:p>
          <a:p>
            <a:pPr marL="0" indent="0">
              <a:buNone/>
            </a:pPr>
            <a:r>
              <a:rPr lang="en-IN" sz="2000" dirty="0"/>
              <a:t>      group-id: saga-group</a:t>
            </a:r>
          </a:p>
          <a:p>
            <a:pPr marL="0" indent="0">
              <a:buNone/>
            </a:pPr>
            <a:r>
              <a:rPr lang="en-IN" sz="2000" dirty="0"/>
              <a:t>      auto-offset-reset: earliest</a:t>
            </a:r>
          </a:p>
          <a:p>
            <a:pPr marL="0" indent="0">
              <a:buNone/>
            </a:pPr>
            <a:endParaRPr lang="en-IN" sz="2000" dirty="0"/>
          </a:p>
          <a:p>
            <a:pPr marL="0" indent="0">
              <a:buNone/>
            </a:pPr>
            <a:r>
              <a:rPr lang="en-IN" sz="2000" dirty="0"/>
              <a:t>    producer:</a:t>
            </a:r>
          </a:p>
          <a:p>
            <a:pPr marL="0" indent="0">
              <a:buNone/>
            </a:pPr>
            <a:r>
              <a:rPr lang="en-IN" sz="2000" dirty="0"/>
              <a:t>      key-serializer: </a:t>
            </a:r>
            <a:r>
              <a:rPr lang="en-IN" sz="2000" dirty="0" err="1"/>
              <a:t>org.apache.kafka.common.serialization.StringSerializer</a:t>
            </a:r>
            <a:endParaRPr lang="en-IN" sz="2000" dirty="0"/>
          </a:p>
          <a:p>
            <a:pPr marL="0" indent="0">
              <a:buNone/>
            </a:pPr>
            <a:r>
              <a:rPr lang="en-IN" sz="2000" dirty="0"/>
              <a:t>      value-serializer: </a:t>
            </a:r>
            <a:r>
              <a:rPr lang="en-IN" sz="2000" dirty="0" err="1"/>
              <a:t>org.springframework.kafka.support.serializer.JsonSerializer</a:t>
            </a:r>
            <a:endParaRPr lang="en-IN" sz="2000" dirty="0"/>
          </a:p>
          <a:p>
            <a:pPr marL="0" indent="0">
              <a:buNone/>
            </a:pPr>
            <a:endParaRPr lang="en-IN" sz="2000" dirty="0"/>
          </a:p>
          <a:p>
            <a:pPr marL="0" indent="0">
              <a:buNone/>
            </a:pPr>
            <a:r>
              <a:rPr lang="en-IN" sz="2000" dirty="0"/>
              <a:t>    consumer:</a:t>
            </a:r>
          </a:p>
          <a:p>
            <a:pPr marL="0" indent="0">
              <a:buNone/>
            </a:pPr>
            <a:r>
              <a:rPr lang="en-IN" sz="2000" dirty="0"/>
              <a:t>      value-</a:t>
            </a:r>
            <a:r>
              <a:rPr lang="en-IN" sz="2000" dirty="0" err="1"/>
              <a:t>deserializer</a:t>
            </a:r>
            <a:r>
              <a:rPr lang="en-IN" sz="2000" dirty="0"/>
              <a:t>: </a:t>
            </a:r>
            <a:r>
              <a:rPr lang="en-IN" sz="2000" dirty="0" err="1"/>
              <a:t>org.springframework.kafka.support.serializer.JsonDeserializer</a:t>
            </a:r>
            <a:endParaRPr lang="en-IN" sz="2000" dirty="0"/>
          </a:p>
          <a:p>
            <a:pPr marL="0" indent="0">
              <a:buNone/>
            </a:pPr>
            <a:endParaRPr lang="en-IN" sz="2000" dirty="0"/>
          </a:p>
        </p:txBody>
      </p:sp>
    </p:spTree>
    <p:extLst>
      <p:ext uri="{BB962C8B-B14F-4D97-AF65-F5344CB8AC3E}">
        <p14:creationId xmlns:p14="http://schemas.microsoft.com/office/powerpoint/2010/main" val="51444029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C53E9-A42B-785C-990C-CCFF361E9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245AAA-4BE6-8915-FA33-5E11901D49E4}"/>
              </a:ext>
            </a:extLst>
          </p:cNvPr>
          <p:cNvSpPr>
            <a:spLocks noGrp="1"/>
          </p:cNvSpPr>
          <p:nvPr>
            <p:ph type="title"/>
          </p:nvPr>
        </p:nvSpPr>
        <p:spPr/>
        <p:txBody>
          <a:bodyPr/>
          <a:lstStyle/>
          <a:p>
            <a:r>
              <a:rPr lang="en-IN" dirty="0"/>
              <a:t>Hands On – Running the System</a:t>
            </a:r>
          </a:p>
        </p:txBody>
      </p:sp>
      <p:sp>
        <p:nvSpPr>
          <p:cNvPr id="3" name="Content Placeholder 2">
            <a:extLst>
              <a:ext uri="{FF2B5EF4-FFF2-40B4-BE49-F238E27FC236}">
                <a16:creationId xmlns:a16="http://schemas.microsoft.com/office/drawing/2014/main" id="{436096C1-A878-3EC2-9617-2FA8645BF814}"/>
              </a:ext>
            </a:extLst>
          </p:cNvPr>
          <p:cNvSpPr>
            <a:spLocks noGrp="1"/>
          </p:cNvSpPr>
          <p:nvPr>
            <p:ph idx="1"/>
          </p:nvPr>
        </p:nvSpPr>
        <p:spPr/>
        <p:txBody>
          <a:bodyPr>
            <a:normAutofit fontScale="92500" lnSpcReduction="10000"/>
          </a:bodyPr>
          <a:lstStyle/>
          <a:p>
            <a:pPr marL="0" indent="0">
              <a:buNone/>
            </a:pPr>
            <a:r>
              <a:rPr lang="en-IN" sz="2000" dirty="0"/>
              <a:t>Start services:</a:t>
            </a:r>
          </a:p>
          <a:p>
            <a:pPr marL="0" indent="0">
              <a:buNone/>
            </a:pPr>
            <a:r>
              <a:rPr lang="en-US" sz="2000" dirty="0"/>
              <a:t>Zookeeper</a:t>
            </a:r>
          </a:p>
          <a:p>
            <a:pPr marL="0" indent="0">
              <a:buNone/>
            </a:pPr>
            <a:r>
              <a:rPr lang="en-US" sz="2000" dirty="0"/>
              <a:t>Kafka</a:t>
            </a:r>
          </a:p>
          <a:p>
            <a:pPr marL="0" indent="0">
              <a:buNone/>
            </a:pPr>
            <a:r>
              <a:rPr lang="en-US" sz="2000" dirty="0"/>
              <a:t>Account Service</a:t>
            </a:r>
          </a:p>
          <a:p>
            <a:pPr marL="0" indent="0">
              <a:buNone/>
            </a:pPr>
            <a:r>
              <a:rPr lang="en-US" sz="2000" dirty="0"/>
              <a:t>Transfer Service</a:t>
            </a:r>
          </a:p>
          <a:p>
            <a:pPr marL="0" indent="0">
              <a:buNone/>
            </a:pPr>
            <a:r>
              <a:rPr lang="en-US" sz="2000" dirty="0"/>
              <a:t>Notification Service</a:t>
            </a:r>
          </a:p>
          <a:p>
            <a:pPr marL="0" indent="0">
              <a:buNone/>
            </a:pPr>
            <a:r>
              <a:rPr lang="en-IN" sz="2000" dirty="0"/>
              <a:t>Call API:</a:t>
            </a:r>
          </a:p>
          <a:p>
            <a:pPr marL="0" indent="0">
              <a:buNone/>
            </a:pPr>
            <a:r>
              <a:rPr lang="en-US" sz="2000" dirty="0"/>
              <a:t>POST http://localhost:8081/transfer</a:t>
            </a:r>
          </a:p>
          <a:p>
            <a:pPr marL="0" indent="0">
              <a:buNone/>
            </a:pPr>
            <a:endParaRPr lang="en-US" sz="2000" dirty="0"/>
          </a:p>
          <a:p>
            <a:pPr marL="0" indent="0">
              <a:buNone/>
            </a:pPr>
            <a:r>
              <a:rPr lang="en-US" sz="2000" dirty="0"/>
              <a:t>{</a:t>
            </a:r>
          </a:p>
          <a:p>
            <a:pPr marL="0" indent="0">
              <a:buNone/>
            </a:pPr>
            <a:r>
              <a:rPr lang="en-US" sz="2000" dirty="0"/>
              <a:t> "</a:t>
            </a:r>
            <a:r>
              <a:rPr lang="en-US" sz="2000" dirty="0" err="1"/>
              <a:t>fromAccount</a:t>
            </a:r>
            <a:r>
              <a:rPr lang="en-US" sz="2000" dirty="0"/>
              <a:t>": 1,</a:t>
            </a:r>
          </a:p>
          <a:p>
            <a:pPr marL="0" indent="0">
              <a:buNone/>
            </a:pPr>
            <a:r>
              <a:rPr lang="en-US" sz="2000" dirty="0"/>
              <a:t> "</a:t>
            </a:r>
            <a:r>
              <a:rPr lang="en-US" sz="2000" dirty="0" err="1"/>
              <a:t>toAccount</a:t>
            </a:r>
            <a:r>
              <a:rPr lang="en-US" sz="2000" dirty="0"/>
              <a:t>": 2,</a:t>
            </a:r>
          </a:p>
          <a:p>
            <a:pPr marL="0" indent="0">
              <a:buNone/>
            </a:pPr>
            <a:r>
              <a:rPr lang="en-US" sz="2000" dirty="0"/>
              <a:t> "amount": 500</a:t>
            </a:r>
          </a:p>
          <a:p>
            <a:pPr marL="0" indent="0">
              <a:buNone/>
            </a:pPr>
            <a:r>
              <a:rPr lang="en-US" sz="2000" dirty="0"/>
              <a:t>}</a:t>
            </a:r>
          </a:p>
          <a:p>
            <a:pPr marL="0" indent="0">
              <a:buNone/>
            </a:pPr>
            <a:endParaRPr lang="en-IN" sz="2000" dirty="0"/>
          </a:p>
        </p:txBody>
      </p:sp>
    </p:spTree>
    <p:extLst>
      <p:ext uri="{BB962C8B-B14F-4D97-AF65-F5344CB8AC3E}">
        <p14:creationId xmlns:p14="http://schemas.microsoft.com/office/powerpoint/2010/main" val="270015065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98307-E780-F0A4-841C-F438516336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1A74C-1966-C577-57F4-381583E128CA}"/>
              </a:ext>
            </a:extLst>
          </p:cNvPr>
          <p:cNvSpPr>
            <a:spLocks noGrp="1"/>
          </p:cNvSpPr>
          <p:nvPr>
            <p:ph type="title"/>
          </p:nvPr>
        </p:nvSpPr>
        <p:spPr/>
        <p:txBody>
          <a:bodyPr/>
          <a:lstStyle/>
          <a:p>
            <a:r>
              <a:rPr lang="en-IN" dirty="0"/>
              <a:t>Hands On – Expected Flow</a:t>
            </a:r>
          </a:p>
        </p:txBody>
      </p:sp>
      <p:sp>
        <p:nvSpPr>
          <p:cNvPr id="3" name="Content Placeholder 2">
            <a:extLst>
              <a:ext uri="{FF2B5EF4-FFF2-40B4-BE49-F238E27FC236}">
                <a16:creationId xmlns:a16="http://schemas.microsoft.com/office/drawing/2014/main" id="{4A3347BC-DFE5-8E44-058D-DF40F88F4907}"/>
              </a:ext>
            </a:extLst>
          </p:cNvPr>
          <p:cNvSpPr>
            <a:spLocks noGrp="1"/>
          </p:cNvSpPr>
          <p:nvPr>
            <p:ph idx="1"/>
          </p:nvPr>
        </p:nvSpPr>
        <p:spPr/>
        <p:txBody>
          <a:bodyPr>
            <a:normAutofit fontScale="92500" lnSpcReduction="20000"/>
          </a:bodyPr>
          <a:lstStyle/>
          <a:p>
            <a:pPr marL="0" indent="0">
              <a:buNone/>
            </a:pPr>
            <a:r>
              <a:rPr lang="en-US" sz="2000" dirty="0"/>
              <a:t>Transfer Service → transfer-initiated event</a:t>
            </a:r>
          </a:p>
          <a:p>
            <a:pPr marL="0" indent="0">
              <a:buNone/>
            </a:pPr>
            <a:r>
              <a:rPr lang="en-US" sz="2000" dirty="0"/>
              <a:t>Account Service → debit</a:t>
            </a:r>
          </a:p>
          <a:p>
            <a:pPr marL="0" indent="0">
              <a:buNone/>
            </a:pPr>
            <a:r>
              <a:rPr lang="en-US" sz="2000" dirty="0"/>
              <a:t>Account Service → account-debited event</a:t>
            </a:r>
          </a:p>
          <a:p>
            <a:pPr marL="0" indent="0">
              <a:buNone/>
            </a:pPr>
            <a:r>
              <a:rPr lang="en-US" sz="2000" dirty="0"/>
              <a:t>Account Service → credit</a:t>
            </a:r>
          </a:p>
          <a:p>
            <a:pPr marL="0" indent="0">
              <a:buNone/>
            </a:pPr>
            <a:r>
              <a:rPr lang="en-US" sz="2000" dirty="0"/>
              <a:t>Account Service → account-credited event</a:t>
            </a:r>
          </a:p>
          <a:p>
            <a:pPr marL="0" indent="0">
              <a:buNone/>
            </a:pPr>
            <a:r>
              <a:rPr lang="en-US" sz="2000" dirty="0"/>
              <a:t>Notification Service → notification sent</a:t>
            </a:r>
          </a:p>
          <a:p>
            <a:pPr marL="0" indent="0">
              <a:buNone/>
            </a:pPr>
            <a:r>
              <a:rPr lang="en-IN" sz="2000" b="1" dirty="0"/>
              <a:t>Failure Scenario:</a:t>
            </a:r>
          </a:p>
          <a:p>
            <a:pPr marL="0" indent="0">
              <a:buNone/>
            </a:pPr>
            <a:r>
              <a:rPr lang="en-IN" sz="2000" dirty="0"/>
              <a:t>If insufficient balance:</a:t>
            </a:r>
          </a:p>
          <a:p>
            <a:pPr marL="0" indent="0">
              <a:buNone/>
            </a:pPr>
            <a:r>
              <a:rPr lang="en-US" sz="2000" b="1" dirty="0"/>
              <a:t>transfer-initiated</a:t>
            </a:r>
          </a:p>
          <a:p>
            <a:pPr marL="0" indent="0">
              <a:buNone/>
            </a:pPr>
            <a:r>
              <a:rPr lang="en-US" sz="2000" b="1" dirty="0"/>
              <a:t>↓</a:t>
            </a:r>
          </a:p>
          <a:p>
            <a:pPr marL="0" indent="0">
              <a:buNone/>
            </a:pPr>
            <a:r>
              <a:rPr lang="en-US" sz="2000" b="1" dirty="0"/>
              <a:t>transfer-failed</a:t>
            </a:r>
          </a:p>
          <a:p>
            <a:pPr marL="0" indent="0">
              <a:buNone/>
            </a:pPr>
            <a:r>
              <a:rPr lang="en-US" sz="2000" b="1" dirty="0"/>
              <a:t>↓</a:t>
            </a:r>
          </a:p>
          <a:p>
            <a:pPr marL="0" indent="0">
              <a:buNone/>
            </a:pPr>
            <a:r>
              <a:rPr lang="en-US" sz="2000" b="1" dirty="0"/>
              <a:t>compensation triggered</a:t>
            </a:r>
          </a:p>
          <a:p>
            <a:pPr marL="0" indent="0">
              <a:buNone/>
            </a:pPr>
            <a:r>
              <a:rPr lang="en-US" sz="2000" b="1" dirty="0"/>
              <a:t>↓</a:t>
            </a:r>
          </a:p>
          <a:p>
            <a:pPr marL="0" indent="0">
              <a:buNone/>
            </a:pPr>
            <a:r>
              <a:rPr lang="en-US" sz="2000" b="1" dirty="0"/>
              <a:t>balance restored</a:t>
            </a:r>
          </a:p>
          <a:p>
            <a:pPr marL="0" indent="0">
              <a:buNone/>
            </a:pPr>
            <a:endParaRPr lang="en-IN" sz="2000" b="1" dirty="0"/>
          </a:p>
        </p:txBody>
      </p:sp>
    </p:spTree>
    <p:extLst>
      <p:ext uri="{BB962C8B-B14F-4D97-AF65-F5344CB8AC3E}">
        <p14:creationId xmlns:p14="http://schemas.microsoft.com/office/powerpoint/2010/main" val="426292816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4C5F5-A854-CCAF-A70C-55468AB080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3D582-4E63-5176-4E88-97E9D03897D4}"/>
              </a:ext>
            </a:extLst>
          </p:cNvPr>
          <p:cNvSpPr>
            <a:spLocks noGrp="1"/>
          </p:cNvSpPr>
          <p:nvPr>
            <p:ph type="title"/>
          </p:nvPr>
        </p:nvSpPr>
        <p:spPr/>
        <p:txBody>
          <a:bodyPr>
            <a:normAutofit fontScale="90000"/>
          </a:bodyPr>
          <a:lstStyle/>
          <a:p>
            <a:r>
              <a:rPr lang="en-IN" dirty="0"/>
              <a:t>Hands On – Full Event Flow Diagram</a:t>
            </a:r>
          </a:p>
        </p:txBody>
      </p:sp>
      <p:sp>
        <p:nvSpPr>
          <p:cNvPr id="3" name="Content Placeholder 2">
            <a:extLst>
              <a:ext uri="{FF2B5EF4-FFF2-40B4-BE49-F238E27FC236}">
                <a16:creationId xmlns:a16="http://schemas.microsoft.com/office/drawing/2014/main" id="{C8935FC9-54EB-A6ED-C1BC-50547BB55106}"/>
              </a:ext>
            </a:extLst>
          </p:cNvPr>
          <p:cNvSpPr>
            <a:spLocks noGrp="1"/>
          </p:cNvSpPr>
          <p:nvPr>
            <p:ph idx="1"/>
          </p:nvPr>
        </p:nvSpPr>
        <p:spPr/>
        <p:txBody>
          <a:bodyPr>
            <a:normAutofit fontScale="92500" lnSpcReduction="20000"/>
          </a:bodyPr>
          <a:lstStyle/>
          <a:p>
            <a:pPr marL="0" indent="0">
              <a:buNone/>
            </a:pPr>
            <a:r>
              <a:rPr lang="en-US" sz="1600" dirty="0"/>
              <a:t>Transfer Service</a:t>
            </a:r>
          </a:p>
          <a:p>
            <a:pPr marL="0" indent="0">
              <a:buNone/>
            </a:pPr>
            <a:r>
              <a:rPr lang="en-US" sz="1600" dirty="0"/>
              <a:t>     | transfer-initiated</a:t>
            </a:r>
          </a:p>
          <a:p>
            <a:pPr marL="0" indent="0">
              <a:buNone/>
            </a:pPr>
            <a:r>
              <a:rPr lang="en-US" sz="1600" dirty="0"/>
              <a:t>    ↓</a:t>
            </a:r>
          </a:p>
          <a:p>
            <a:pPr marL="0" indent="0">
              <a:buNone/>
            </a:pPr>
            <a:r>
              <a:rPr lang="en-US" sz="1600" dirty="0"/>
              <a:t>Account Service (Debit)</a:t>
            </a:r>
          </a:p>
          <a:p>
            <a:pPr marL="0" indent="0">
              <a:buNone/>
            </a:pPr>
            <a:r>
              <a:rPr lang="en-US" sz="1600" dirty="0"/>
              <a:t>     | account-debited</a:t>
            </a:r>
          </a:p>
          <a:p>
            <a:pPr marL="0" indent="0">
              <a:buNone/>
            </a:pPr>
            <a:r>
              <a:rPr lang="en-US" sz="1600" dirty="0"/>
              <a:t>    ↓</a:t>
            </a:r>
          </a:p>
          <a:p>
            <a:pPr marL="0" indent="0">
              <a:buNone/>
            </a:pPr>
            <a:r>
              <a:rPr lang="en-US" sz="1600" dirty="0"/>
              <a:t>Account Service (Credit)</a:t>
            </a:r>
          </a:p>
          <a:p>
            <a:pPr marL="0" indent="0">
              <a:buNone/>
            </a:pPr>
            <a:r>
              <a:rPr lang="en-US" sz="1600" dirty="0"/>
              <a:t>     | account-credited</a:t>
            </a:r>
          </a:p>
          <a:p>
            <a:pPr marL="0" indent="0">
              <a:buNone/>
            </a:pPr>
            <a:r>
              <a:rPr lang="en-US" sz="1600" dirty="0"/>
              <a:t>    ↓</a:t>
            </a:r>
          </a:p>
          <a:p>
            <a:pPr marL="0" indent="0">
              <a:buNone/>
            </a:pPr>
            <a:r>
              <a:rPr lang="en-US" sz="1600" dirty="0"/>
              <a:t>Notification Service</a:t>
            </a:r>
          </a:p>
          <a:p>
            <a:pPr marL="0" indent="0">
              <a:buNone/>
            </a:pPr>
            <a:r>
              <a:rPr lang="en-IN" sz="1600" b="1" dirty="0"/>
              <a:t>Failure:</a:t>
            </a:r>
          </a:p>
          <a:p>
            <a:pPr marL="0" indent="0">
              <a:buNone/>
            </a:pPr>
            <a:r>
              <a:rPr lang="en-US" sz="1600" b="1" dirty="0"/>
              <a:t>transfer-initiated</a:t>
            </a:r>
          </a:p>
          <a:p>
            <a:pPr marL="0" indent="0">
              <a:buNone/>
            </a:pPr>
            <a:r>
              <a:rPr lang="en-US" sz="1600" b="1" dirty="0"/>
              <a:t>    ↓</a:t>
            </a:r>
          </a:p>
          <a:p>
            <a:pPr marL="0" indent="0">
              <a:buNone/>
            </a:pPr>
            <a:r>
              <a:rPr lang="en-US" sz="1600" b="1" dirty="0"/>
              <a:t>Debit fails</a:t>
            </a:r>
          </a:p>
          <a:p>
            <a:pPr marL="0" indent="0">
              <a:buNone/>
            </a:pPr>
            <a:r>
              <a:rPr lang="en-US" sz="1600" b="1" dirty="0"/>
              <a:t>    ↓</a:t>
            </a:r>
          </a:p>
          <a:p>
            <a:pPr marL="0" indent="0">
              <a:buNone/>
            </a:pPr>
            <a:r>
              <a:rPr lang="en-US" sz="1600" b="1" dirty="0"/>
              <a:t>transfer-failed</a:t>
            </a:r>
          </a:p>
          <a:p>
            <a:pPr marL="0" indent="0">
              <a:buNone/>
            </a:pPr>
            <a:r>
              <a:rPr lang="en-US" sz="1600" b="1" dirty="0"/>
              <a:t>    ↓</a:t>
            </a:r>
          </a:p>
          <a:p>
            <a:pPr marL="0" indent="0">
              <a:buNone/>
            </a:pPr>
            <a:r>
              <a:rPr lang="en-US" sz="1600" b="1" dirty="0"/>
              <a:t>Rollback executed</a:t>
            </a:r>
          </a:p>
          <a:p>
            <a:pPr marL="0" indent="0">
              <a:buNone/>
            </a:pPr>
            <a:endParaRPr lang="en-US" sz="1600" b="1" dirty="0"/>
          </a:p>
        </p:txBody>
      </p:sp>
    </p:spTree>
    <p:extLst>
      <p:ext uri="{BB962C8B-B14F-4D97-AF65-F5344CB8AC3E}">
        <p14:creationId xmlns:p14="http://schemas.microsoft.com/office/powerpoint/2010/main" val="115879654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D5EE6-E48D-B841-9508-CF6ACCF88561}"/>
              </a:ext>
            </a:extLst>
          </p:cNvPr>
          <p:cNvSpPr>
            <a:spLocks noGrp="1"/>
          </p:cNvSpPr>
          <p:nvPr>
            <p:ph type="title"/>
          </p:nvPr>
        </p:nvSpPr>
        <p:spPr/>
        <p:txBody>
          <a:bodyPr/>
          <a:lstStyle/>
          <a:p>
            <a:r>
              <a:rPr lang="en-IN" dirty="0"/>
              <a:t>Questions		</a:t>
            </a:r>
          </a:p>
        </p:txBody>
      </p:sp>
      <p:sp>
        <p:nvSpPr>
          <p:cNvPr id="3" name="Content Placeholder 2">
            <a:extLst>
              <a:ext uri="{FF2B5EF4-FFF2-40B4-BE49-F238E27FC236}">
                <a16:creationId xmlns:a16="http://schemas.microsoft.com/office/drawing/2014/main" id="{EB774738-26B4-777C-488F-86328FE57D66}"/>
              </a:ext>
            </a:extLst>
          </p:cNvPr>
          <p:cNvSpPr>
            <a:spLocks noGrp="1"/>
          </p:cNvSpPr>
          <p:nvPr>
            <p:ph idx="1"/>
          </p:nvPr>
        </p:nvSpPr>
        <p:spPr/>
        <p:txBody>
          <a:bodyPr/>
          <a:lstStyle/>
          <a:p>
            <a:pPr marL="0" indent="0">
              <a:buNone/>
            </a:pPr>
            <a:r>
              <a:rPr lang="en-IN" dirty="0"/>
              <a:t>Q: Why Saga Pattern used?</a:t>
            </a:r>
            <a:br>
              <a:rPr lang="en-IN" dirty="0"/>
            </a:br>
            <a:r>
              <a:rPr lang="en-IN" dirty="0"/>
              <a:t>	Answer: Manage distributed transactions</a:t>
            </a:r>
          </a:p>
          <a:p>
            <a:pPr marL="0" indent="0">
              <a:buNone/>
            </a:pPr>
            <a:r>
              <a:rPr lang="en-IN" dirty="0"/>
              <a:t>Q: Types?</a:t>
            </a:r>
            <a:br>
              <a:rPr lang="en-IN" dirty="0"/>
            </a:br>
            <a:r>
              <a:rPr lang="en-IN" dirty="0"/>
              <a:t>	Answer: Orchestration and Choreography</a:t>
            </a:r>
          </a:p>
          <a:p>
            <a:pPr marL="0" indent="0">
              <a:buNone/>
            </a:pPr>
            <a:r>
              <a:rPr lang="en-IN" dirty="0"/>
              <a:t>Q: Difference?</a:t>
            </a:r>
          </a:p>
          <a:p>
            <a:pPr marL="400050" lvl="1" indent="0">
              <a:buNone/>
            </a:pPr>
            <a:r>
              <a:rPr lang="en-IN" dirty="0"/>
              <a:t>Orchestration → central controller</a:t>
            </a:r>
            <a:br>
              <a:rPr lang="en-IN" dirty="0"/>
            </a:br>
            <a:r>
              <a:rPr lang="en-IN" dirty="0"/>
              <a:t>Choreography → event driven</a:t>
            </a:r>
          </a:p>
          <a:p>
            <a:pPr marL="0" indent="0">
              <a:buNone/>
            </a:pPr>
            <a:endParaRPr lang="en-IN" dirty="0"/>
          </a:p>
        </p:txBody>
      </p:sp>
    </p:spTree>
    <p:extLst>
      <p:ext uri="{BB962C8B-B14F-4D97-AF65-F5344CB8AC3E}">
        <p14:creationId xmlns:p14="http://schemas.microsoft.com/office/powerpoint/2010/main" val="314240777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Event Driven Architecture</a:t>
            </a:r>
          </a:p>
        </p:txBody>
      </p:sp>
      <p:sp>
        <p:nvSpPr>
          <p:cNvPr id="3" name="Content Placeholder 2"/>
          <p:cNvSpPr>
            <a:spLocks noGrp="1"/>
          </p:cNvSpPr>
          <p:nvPr>
            <p:ph idx="1"/>
          </p:nvPr>
        </p:nvSpPr>
        <p:spPr/>
        <p:txBody>
          <a:bodyPr/>
          <a:lstStyle/>
          <a:p>
            <a:r>
              <a:t>Services communicate via events</a:t>
            </a:r>
          </a:p>
          <a:p>
            <a:r>
              <a:t>Uses Kafka or message brokers</a:t>
            </a:r>
          </a:p>
          <a:p>
            <a:r>
              <a:t>Improves scalability</a:t>
            </a:r>
          </a:p>
          <a:p>
            <a:r>
              <a:t>Loose coupling</a:t>
            </a:r>
          </a:p>
          <a:p>
            <a:r>
              <a:t>Better performance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670B4-8221-C446-CE08-1945B6696117}"/>
              </a:ext>
            </a:extLst>
          </p:cNvPr>
          <p:cNvSpPr>
            <a:spLocks noGrp="1"/>
          </p:cNvSpPr>
          <p:nvPr>
            <p:ph type="title"/>
          </p:nvPr>
        </p:nvSpPr>
        <p:spPr/>
        <p:txBody>
          <a:bodyPr/>
          <a:lstStyle/>
          <a:p>
            <a:r>
              <a:rPr lang="en-IN" dirty="0"/>
              <a:t>Event Driven Architecture</a:t>
            </a:r>
          </a:p>
        </p:txBody>
      </p:sp>
      <p:sp>
        <p:nvSpPr>
          <p:cNvPr id="3" name="Content Placeholder 2">
            <a:extLst>
              <a:ext uri="{FF2B5EF4-FFF2-40B4-BE49-F238E27FC236}">
                <a16:creationId xmlns:a16="http://schemas.microsoft.com/office/drawing/2014/main" id="{B8DBEE41-4A0F-FC94-7C1F-BB06540ED506}"/>
              </a:ext>
            </a:extLst>
          </p:cNvPr>
          <p:cNvSpPr>
            <a:spLocks noGrp="1"/>
          </p:cNvSpPr>
          <p:nvPr>
            <p:ph idx="1"/>
          </p:nvPr>
        </p:nvSpPr>
        <p:spPr/>
        <p:txBody>
          <a:bodyPr>
            <a:normAutofit fontScale="92500"/>
          </a:bodyPr>
          <a:lstStyle/>
          <a:p>
            <a:pPr marL="0" indent="0">
              <a:buNone/>
            </a:pPr>
            <a:r>
              <a:rPr lang="en-IN" sz="2400" dirty="0"/>
              <a:t>Traditional Communication vs Event Driven</a:t>
            </a:r>
          </a:p>
          <a:p>
            <a:pPr marL="800100" lvl="2" indent="0">
              <a:buNone/>
            </a:pPr>
            <a:r>
              <a:rPr lang="en-IN" dirty="0"/>
              <a:t>Traditional (Synchronous REST)</a:t>
            </a:r>
          </a:p>
          <a:p>
            <a:pPr marL="800100" lvl="2" indent="0">
              <a:buNone/>
            </a:pPr>
            <a:r>
              <a:rPr lang="en-IN" dirty="0"/>
              <a:t>Transaction Service → REST Call → Notification Service</a:t>
            </a:r>
          </a:p>
          <a:p>
            <a:endParaRPr lang="en-IN" sz="2400" dirty="0"/>
          </a:p>
          <a:p>
            <a:pPr marL="0" indent="0">
              <a:buNone/>
            </a:pPr>
            <a:r>
              <a:rPr lang="en-US" sz="2400" dirty="0"/>
              <a:t>Problem:</a:t>
            </a:r>
          </a:p>
          <a:p>
            <a:pPr marL="800100" lvl="2" indent="0">
              <a:buNone/>
            </a:pPr>
            <a:r>
              <a:rPr lang="en-US" dirty="0"/>
              <a:t>• Tight coupling</a:t>
            </a:r>
            <a:br>
              <a:rPr lang="en-US" dirty="0"/>
            </a:br>
            <a:r>
              <a:rPr lang="en-US" dirty="0"/>
              <a:t>• If notification service is down → transaction fails</a:t>
            </a:r>
            <a:br>
              <a:rPr lang="en-US" dirty="0"/>
            </a:br>
            <a:r>
              <a:rPr lang="en-US" dirty="0"/>
              <a:t>• Slow response</a:t>
            </a:r>
          </a:p>
          <a:p>
            <a:pPr marL="0" indent="0">
              <a:buNone/>
            </a:pPr>
            <a:r>
              <a:rPr lang="en-IN" sz="2400" b="1" dirty="0"/>
              <a:t>Event Driven Architecture</a:t>
            </a:r>
          </a:p>
          <a:p>
            <a:r>
              <a:rPr lang="en-IN" sz="2400" dirty="0"/>
              <a:t>Transaction Service → Publish Event → Kafka → Notification Service</a:t>
            </a:r>
          </a:p>
          <a:p>
            <a:r>
              <a:rPr lang="en-US" sz="2400" dirty="0"/>
              <a:t>Transaction Service does NOT know Notification Service exists.</a:t>
            </a:r>
            <a:endParaRPr lang="en-IN" sz="2400" dirty="0"/>
          </a:p>
        </p:txBody>
      </p:sp>
    </p:spTree>
    <p:extLst>
      <p:ext uri="{BB962C8B-B14F-4D97-AF65-F5344CB8AC3E}">
        <p14:creationId xmlns:p14="http://schemas.microsoft.com/office/powerpoint/2010/main" val="80422708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63EA0-A3C4-C70C-9CB9-DA8EAF43B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F37617-F131-A50B-BB47-06F427EE3921}"/>
              </a:ext>
            </a:extLst>
          </p:cNvPr>
          <p:cNvSpPr>
            <a:spLocks noGrp="1"/>
          </p:cNvSpPr>
          <p:nvPr>
            <p:ph type="title"/>
          </p:nvPr>
        </p:nvSpPr>
        <p:spPr/>
        <p:txBody>
          <a:bodyPr/>
          <a:lstStyle/>
          <a:p>
            <a:r>
              <a:rPr lang="en-IN" dirty="0"/>
              <a:t>Event Driven Architecture</a:t>
            </a:r>
          </a:p>
        </p:txBody>
      </p:sp>
      <p:sp>
        <p:nvSpPr>
          <p:cNvPr id="3" name="Content Placeholder 2">
            <a:extLst>
              <a:ext uri="{FF2B5EF4-FFF2-40B4-BE49-F238E27FC236}">
                <a16:creationId xmlns:a16="http://schemas.microsoft.com/office/drawing/2014/main" id="{CB1862D0-7B75-2CC8-9E85-000089267F5F}"/>
              </a:ext>
            </a:extLst>
          </p:cNvPr>
          <p:cNvSpPr>
            <a:spLocks noGrp="1"/>
          </p:cNvSpPr>
          <p:nvPr>
            <p:ph idx="1"/>
          </p:nvPr>
        </p:nvSpPr>
        <p:spPr/>
        <p:txBody>
          <a:bodyPr>
            <a:normAutofit fontScale="92500" lnSpcReduction="10000"/>
          </a:bodyPr>
          <a:lstStyle/>
          <a:p>
            <a:pPr marL="0" indent="0">
              <a:buNone/>
            </a:pPr>
            <a:r>
              <a:rPr lang="en-US" sz="2400" b="1" dirty="0"/>
              <a:t>What is an Event?</a:t>
            </a:r>
          </a:p>
          <a:p>
            <a:pPr marL="0" indent="0">
              <a:buNone/>
            </a:pPr>
            <a:r>
              <a:rPr lang="en-US" sz="2400" dirty="0"/>
              <a:t>	Event = Something that happened in system.</a:t>
            </a:r>
          </a:p>
          <a:p>
            <a:pPr marL="0" indent="0">
              <a:buNone/>
            </a:pPr>
            <a:r>
              <a:rPr lang="en-US" sz="2400" dirty="0"/>
              <a:t>Examples:</a:t>
            </a:r>
          </a:p>
          <a:p>
            <a:pPr marL="400050" lvl="1" indent="0">
              <a:buNone/>
            </a:pPr>
            <a:r>
              <a:rPr lang="en-US" sz="2000" dirty="0"/>
              <a:t>• </a:t>
            </a:r>
            <a:r>
              <a:rPr lang="en-US" sz="2000" dirty="0" err="1"/>
              <a:t>OrderCreated</a:t>
            </a:r>
            <a:br>
              <a:rPr lang="en-US" sz="2000" dirty="0"/>
            </a:br>
            <a:r>
              <a:rPr lang="en-US" sz="2000" dirty="0"/>
              <a:t>• </a:t>
            </a:r>
            <a:r>
              <a:rPr lang="en-US" sz="2000" dirty="0" err="1"/>
              <a:t>PaymentCompleted</a:t>
            </a:r>
            <a:br>
              <a:rPr lang="en-US" sz="2000" dirty="0"/>
            </a:br>
            <a:r>
              <a:rPr lang="en-US" sz="2000" dirty="0"/>
              <a:t>• </a:t>
            </a:r>
            <a:r>
              <a:rPr lang="en-US" sz="2000" dirty="0" err="1"/>
              <a:t>TransactionCompleted</a:t>
            </a:r>
            <a:br>
              <a:rPr lang="en-US" sz="2000" dirty="0"/>
            </a:br>
            <a:r>
              <a:rPr lang="en-US" sz="2000" dirty="0"/>
              <a:t>• </a:t>
            </a:r>
            <a:r>
              <a:rPr lang="en-US" sz="2000" dirty="0" err="1"/>
              <a:t>UserRegistered</a:t>
            </a:r>
            <a:endParaRPr lang="en-US" sz="2000" dirty="0"/>
          </a:p>
          <a:p>
            <a:pPr marL="0" indent="0">
              <a:buNone/>
            </a:pPr>
            <a:r>
              <a:rPr lang="en-US" sz="2400" dirty="0"/>
              <a:t>Example Event JSON:</a:t>
            </a:r>
          </a:p>
          <a:p>
            <a:pPr marL="0" indent="0">
              <a:buNone/>
            </a:pPr>
            <a:r>
              <a:rPr lang="en-US" sz="2400" dirty="0"/>
              <a:t>{</a:t>
            </a:r>
          </a:p>
          <a:p>
            <a:pPr marL="0" indent="0">
              <a:buNone/>
            </a:pPr>
            <a:r>
              <a:rPr lang="en-US" sz="2400" dirty="0"/>
              <a:t>  "</a:t>
            </a:r>
            <a:r>
              <a:rPr lang="en-US" sz="2400" dirty="0" err="1"/>
              <a:t>transactionId</a:t>
            </a:r>
            <a:r>
              <a:rPr lang="en-US" sz="2400" dirty="0"/>
              <a:t>": "TXN123",</a:t>
            </a:r>
          </a:p>
          <a:p>
            <a:pPr marL="0" indent="0">
              <a:buNone/>
            </a:pPr>
            <a:r>
              <a:rPr lang="en-US" sz="2400" dirty="0"/>
              <a:t>  "amount": 5000,</a:t>
            </a:r>
          </a:p>
          <a:p>
            <a:pPr marL="0" indent="0">
              <a:buNone/>
            </a:pPr>
            <a:r>
              <a:rPr lang="en-US" sz="2400" dirty="0"/>
              <a:t>  "status": "SUCCESS"</a:t>
            </a:r>
          </a:p>
          <a:p>
            <a:pPr marL="0" indent="0">
              <a:buNone/>
            </a:pPr>
            <a:r>
              <a:rPr lang="en-US" sz="2400" dirty="0"/>
              <a:t>}</a:t>
            </a:r>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274285902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CD59D-2E9F-D5DA-D2BA-468D80B20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363421-4798-2D26-4F2B-AE23BA2C2D07}"/>
              </a:ext>
            </a:extLst>
          </p:cNvPr>
          <p:cNvSpPr>
            <a:spLocks noGrp="1"/>
          </p:cNvSpPr>
          <p:nvPr>
            <p:ph type="title"/>
          </p:nvPr>
        </p:nvSpPr>
        <p:spPr/>
        <p:txBody>
          <a:bodyPr/>
          <a:lstStyle/>
          <a:p>
            <a:r>
              <a:rPr lang="en-IN" dirty="0"/>
              <a:t>Event Driven Architecture</a:t>
            </a:r>
          </a:p>
        </p:txBody>
      </p:sp>
      <p:sp>
        <p:nvSpPr>
          <p:cNvPr id="3" name="Content Placeholder 2">
            <a:extLst>
              <a:ext uri="{FF2B5EF4-FFF2-40B4-BE49-F238E27FC236}">
                <a16:creationId xmlns:a16="http://schemas.microsoft.com/office/drawing/2014/main" id="{FCF50607-573D-873C-37FE-3E6DDAC88DAB}"/>
              </a:ext>
            </a:extLst>
          </p:cNvPr>
          <p:cNvSpPr>
            <a:spLocks noGrp="1"/>
          </p:cNvSpPr>
          <p:nvPr>
            <p:ph idx="1"/>
          </p:nvPr>
        </p:nvSpPr>
        <p:spPr/>
        <p:txBody>
          <a:bodyPr>
            <a:normAutofit/>
          </a:bodyPr>
          <a:lstStyle/>
          <a:p>
            <a:pPr marL="0" indent="0">
              <a:buNone/>
            </a:pPr>
            <a:endParaRPr lang="en-US" sz="2400" dirty="0"/>
          </a:p>
          <a:p>
            <a:pPr marL="0" indent="0">
              <a:buNone/>
            </a:pPr>
            <a:endParaRPr lang="en-IN" sz="2400" dirty="0"/>
          </a:p>
        </p:txBody>
      </p:sp>
      <p:sp>
        <p:nvSpPr>
          <p:cNvPr id="5" name="TextBox 4">
            <a:extLst>
              <a:ext uri="{FF2B5EF4-FFF2-40B4-BE49-F238E27FC236}">
                <a16:creationId xmlns:a16="http://schemas.microsoft.com/office/drawing/2014/main" id="{09A7FAC4-4ED9-A62F-E4A2-67C1D63095ED}"/>
              </a:ext>
            </a:extLst>
          </p:cNvPr>
          <p:cNvSpPr txBox="1"/>
          <p:nvPr/>
        </p:nvSpPr>
        <p:spPr>
          <a:xfrm>
            <a:off x="943582" y="1514899"/>
            <a:ext cx="7558392" cy="646331"/>
          </a:xfrm>
          <a:prstGeom prst="rect">
            <a:avLst/>
          </a:prstGeom>
          <a:noFill/>
        </p:spPr>
        <p:txBody>
          <a:bodyPr wrap="square">
            <a:spAutoFit/>
          </a:bodyPr>
          <a:lstStyle/>
          <a:p>
            <a:r>
              <a:rPr lang="en-IN" dirty="0"/>
              <a:t>Transaction Service    ------&gt;  Kafka   ------&gt; Notification Service</a:t>
            </a:r>
          </a:p>
          <a:p>
            <a:r>
              <a:rPr lang="en-IN" dirty="0"/>
              <a:t>	(Producer)           Event                              (Consumer)        </a:t>
            </a:r>
          </a:p>
        </p:txBody>
      </p:sp>
      <p:sp>
        <p:nvSpPr>
          <p:cNvPr id="7" name="TextBox 6">
            <a:extLst>
              <a:ext uri="{FF2B5EF4-FFF2-40B4-BE49-F238E27FC236}">
                <a16:creationId xmlns:a16="http://schemas.microsoft.com/office/drawing/2014/main" id="{E035C941-A361-11F2-2FD5-A781D842231D}"/>
              </a:ext>
            </a:extLst>
          </p:cNvPr>
          <p:cNvSpPr txBox="1"/>
          <p:nvPr/>
        </p:nvSpPr>
        <p:spPr>
          <a:xfrm>
            <a:off x="856033" y="2407525"/>
            <a:ext cx="7645941" cy="4801314"/>
          </a:xfrm>
          <a:prstGeom prst="rect">
            <a:avLst/>
          </a:prstGeom>
          <a:noFill/>
        </p:spPr>
        <p:txBody>
          <a:bodyPr wrap="square">
            <a:spAutoFit/>
          </a:bodyPr>
          <a:lstStyle/>
          <a:p>
            <a:r>
              <a:rPr lang="en-US" dirty="0"/>
              <a:t>Benefits of Event Driven Architecture</a:t>
            </a:r>
          </a:p>
          <a:p>
            <a:r>
              <a:rPr lang="en-US" b="1" dirty="0"/>
              <a:t>Benefit 1: Loose Coupling</a:t>
            </a:r>
          </a:p>
          <a:p>
            <a:r>
              <a:rPr lang="en-US" dirty="0"/>
              <a:t>Producer does not know consumer.</a:t>
            </a:r>
          </a:p>
          <a:p>
            <a:r>
              <a:rPr lang="en-US" dirty="0"/>
              <a:t>Before:</a:t>
            </a:r>
          </a:p>
          <a:p>
            <a:r>
              <a:rPr lang="en-IN" dirty="0"/>
              <a:t>Transaction → Notification REST</a:t>
            </a:r>
          </a:p>
          <a:p>
            <a:r>
              <a:rPr lang="en-IN" dirty="0"/>
              <a:t>After:</a:t>
            </a:r>
          </a:p>
          <a:p>
            <a:r>
              <a:rPr lang="en-IN" dirty="0"/>
              <a:t>Transaction → Kafka ← Notification</a:t>
            </a:r>
          </a:p>
          <a:p>
            <a:r>
              <a:rPr lang="en-IN" dirty="0"/>
              <a:t>Independent services.</a:t>
            </a:r>
          </a:p>
          <a:p>
            <a:r>
              <a:rPr lang="en-US" b="1" dirty="0"/>
              <a:t>Benefit 2: Scalability</a:t>
            </a:r>
          </a:p>
          <a:p>
            <a:r>
              <a:rPr lang="en-US" dirty="0"/>
              <a:t>Kafka handles millions of events per second.</a:t>
            </a:r>
          </a:p>
          <a:p>
            <a:r>
              <a:rPr lang="en-IN" dirty="0"/>
              <a:t>Example:</a:t>
            </a:r>
          </a:p>
          <a:p>
            <a:r>
              <a:rPr lang="en-IN" dirty="0"/>
              <a:t>1 Producer → Kafka → 100 Consumers</a:t>
            </a:r>
          </a:p>
          <a:p>
            <a:r>
              <a:rPr lang="en-IN" b="1" dirty="0"/>
              <a:t>Benefit 3: Fault Tolerance</a:t>
            </a:r>
          </a:p>
          <a:p>
            <a:r>
              <a:rPr lang="en-US" dirty="0"/>
              <a:t>If consumer is down:</a:t>
            </a:r>
          </a:p>
          <a:p>
            <a:r>
              <a:rPr lang="en-US" dirty="0"/>
              <a:t>Kafka stores events.</a:t>
            </a:r>
          </a:p>
          <a:p>
            <a:r>
              <a:rPr lang="en-US" dirty="0"/>
              <a:t>Consumer processes later.</a:t>
            </a:r>
          </a:p>
          <a:p>
            <a:endParaRPr lang="en-IN" dirty="0"/>
          </a:p>
        </p:txBody>
      </p:sp>
    </p:spTree>
    <p:extLst>
      <p:ext uri="{BB962C8B-B14F-4D97-AF65-F5344CB8AC3E}">
        <p14:creationId xmlns:p14="http://schemas.microsoft.com/office/powerpoint/2010/main" val="276386011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DD450-2734-2BD3-4042-7D3D94C526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F5F23-F985-183D-20BA-BFDE2CB687FD}"/>
              </a:ext>
            </a:extLst>
          </p:cNvPr>
          <p:cNvSpPr>
            <a:spLocks noGrp="1"/>
          </p:cNvSpPr>
          <p:nvPr>
            <p:ph type="title"/>
          </p:nvPr>
        </p:nvSpPr>
        <p:spPr/>
        <p:txBody>
          <a:bodyPr/>
          <a:lstStyle/>
          <a:p>
            <a:r>
              <a:rPr lang="en-IN" dirty="0"/>
              <a:t>Event Driven Architecture</a:t>
            </a:r>
          </a:p>
        </p:txBody>
      </p:sp>
      <p:sp>
        <p:nvSpPr>
          <p:cNvPr id="3" name="Content Placeholder 2">
            <a:extLst>
              <a:ext uri="{FF2B5EF4-FFF2-40B4-BE49-F238E27FC236}">
                <a16:creationId xmlns:a16="http://schemas.microsoft.com/office/drawing/2014/main" id="{83758CFA-4FBF-5F1A-C49C-A9A304CB00B3}"/>
              </a:ext>
            </a:extLst>
          </p:cNvPr>
          <p:cNvSpPr>
            <a:spLocks noGrp="1"/>
          </p:cNvSpPr>
          <p:nvPr>
            <p:ph idx="1"/>
          </p:nvPr>
        </p:nvSpPr>
        <p:spPr/>
        <p:txBody>
          <a:bodyPr>
            <a:normAutofit/>
          </a:bodyPr>
          <a:lstStyle/>
          <a:p>
            <a:pPr marL="0" indent="0">
              <a:buNone/>
            </a:pPr>
            <a:endParaRPr lang="en-US" sz="2400" dirty="0"/>
          </a:p>
          <a:p>
            <a:endParaRPr lang="en-US" sz="2400" b="1" dirty="0"/>
          </a:p>
          <a:p>
            <a:endParaRPr lang="en-US" sz="2400" b="1" dirty="0"/>
          </a:p>
          <a:p>
            <a:pPr marL="0" indent="0">
              <a:buNone/>
            </a:pPr>
            <a:r>
              <a:rPr lang="en-US" sz="2000" b="1" dirty="0"/>
              <a:t>Real Banking Example</a:t>
            </a:r>
          </a:p>
          <a:p>
            <a:pPr marL="0" indent="0">
              <a:buNone/>
            </a:pPr>
            <a:r>
              <a:rPr lang="en-US" sz="2000" dirty="0"/>
              <a:t>	      User transfers money.</a:t>
            </a:r>
          </a:p>
          <a:p>
            <a:pPr marL="0" indent="0">
              <a:buNone/>
            </a:pPr>
            <a:r>
              <a:rPr lang="en-US" sz="2000" dirty="0"/>
              <a:t>Steps:</a:t>
            </a:r>
          </a:p>
          <a:p>
            <a:pPr lvl="2"/>
            <a:r>
              <a:rPr lang="en-US" sz="1600" dirty="0"/>
              <a:t>Transaction Service processes payment</a:t>
            </a:r>
          </a:p>
          <a:p>
            <a:pPr lvl="2"/>
            <a:r>
              <a:rPr lang="en-US" sz="1600" dirty="0"/>
              <a:t>Publishes event</a:t>
            </a:r>
          </a:p>
          <a:p>
            <a:pPr lvl="2"/>
            <a:r>
              <a:rPr lang="en-US" sz="1600" dirty="0"/>
              <a:t>Notification Service sends email</a:t>
            </a:r>
          </a:p>
          <a:p>
            <a:pPr marL="0" indent="0">
              <a:buNone/>
            </a:pPr>
            <a:endParaRPr lang="en-IN" sz="2400" dirty="0"/>
          </a:p>
        </p:txBody>
      </p:sp>
      <p:sp>
        <p:nvSpPr>
          <p:cNvPr id="6" name="TextBox 5">
            <a:extLst>
              <a:ext uri="{FF2B5EF4-FFF2-40B4-BE49-F238E27FC236}">
                <a16:creationId xmlns:a16="http://schemas.microsoft.com/office/drawing/2014/main" id="{3D7E5D44-850C-36E1-6D4B-ED4F3FE3DAA8}"/>
              </a:ext>
            </a:extLst>
          </p:cNvPr>
          <p:cNvSpPr txBox="1"/>
          <p:nvPr/>
        </p:nvSpPr>
        <p:spPr>
          <a:xfrm>
            <a:off x="457200" y="1624518"/>
            <a:ext cx="7801583" cy="1015663"/>
          </a:xfrm>
          <a:prstGeom prst="rect">
            <a:avLst/>
          </a:prstGeom>
          <a:noFill/>
        </p:spPr>
        <p:txBody>
          <a:bodyPr wrap="square">
            <a:spAutoFit/>
          </a:bodyPr>
          <a:lstStyle/>
          <a:p>
            <a:pPr>
              <a:buNone/>
            </a:pPr>
            <a:r>
              <a:rPr lang="en-IN" sz="2000" b="1" dirty="0"/>
              <a:t>Benefit 4: Asynchronous Communication</a:t>
            </a:r>
          </a:p>
          <a:p>
            <a:pPr>
              <a:buNone/>
            </a:pPr>
            <a:r>
              <a:rPr lang="en-IN" sz="2000" dirty="0"/>
              <a:t>User gets fast response.</a:t>
            </a:r>
          </a:p>
          <a:p>
            <a:pPr>
              <a:buNone/>
            </a:pPr>
            <a:r>
              <a:rPr lang="en-IN" sz="2000" dirty="0"/>
              <a:t>Notification happens later.</a:t>
            </a:r>
          </a:p>
        </p:txBody>
      </p:sp>
    </p:spTree>
    <p:extLst>
      <p:ext uri="{BB962C8B-B14F-4D97-AF65-F5344CB8AC3E}">
        <p14:creationId xmlns:p14="http://schemas.microsoft.com/office/powerpoint/2010/main" val="159115379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D1951-BCBC-7FDC-CC85-2E293BB6F1F6}"/>
              </a:ext>
            </a:extLst>
          </p:cNvPr>
          <p:cNvSpPr>
            <a:spLocks noGrp="1"/>
          </p:cNvSpPr>
          <p:nvPr>
            <p:ph type="title"/>
          </p:nvPr>
        </p:nvSpPr>
        <p:spPr/>
        <p:txBody>
          <a:bodyPr/>
          <a:lstStyle/>
          <a:p>
            <a:r>
              <a:rPr lang="en-IN" dirty="0"/>
              <a:t>Kafka Introduction</a:t>
            </a:r>
          </a:p>
        </p:txBody>
      </p:sp>
      <p:sp>
        <p:nvSpPr>
          <p:cNvPr id="3" name="Content Placeholder 2">
            <a:extLst>
              <a:ext uri="{FF2B5EF4-FFF2-40B4-BE49-F238E27FC236}">
                <a16:creationId xmlns:a16="http://schemas.microsoft.com/office/drawing/2014/main" id="{DF44948D-1564-E457-98A0-2F86B6F569FA}"/>
              </a:ext>
            </a:extLst>
          </p:cNvPr>
          <p:cNvSpPr>
            <a:spLocks noGrp="1"/>
          </p:cNvSpPr>
          <p:nvPr>
            <p:ph idx="1"/>
          </p:nvPr>
        </p:nvSpPr>
        <p:spPr/>
        <p:txBody>
          <a:bodyPr/>
          <a:lstStyle/>
          <a:p>
            <a:pPr marL="0" indent="0">
              <a:buNone/>
            </a:pPr>
            <a:r>
              <a:rPr lang="en-US" b="1" dirty="0"/>
              <a:t>What is Kafka?</a:t>
            </a:r>
          </a:p>
          <a:p>
            <a:pPr marL="0" indent="0">
              <a:buNone/>
            </a:pPr>
            <a:r>
              <a:rPr lang="en-US" dirty="0"/>
              <a:t>Kafka is a distributed event streaming platform.</a:t>
            </a:r>
          </a:p>
          <a:p>
            <a:pPr marL="0" indent="0">
              <a:buNone/>
            </a:pPr>
            <a:r>
              <a:rPr lang="en-US" dirty="0"/>
              <a:t>Used by:</a:t>
            </a:r>
          </a:p>
          <a:p>
            <a:pPr marL="800100" lvl="2" indent="0">
              <a:buNone/>
            </a:pPr>
            <a:r>
              <a:rPr lang="en-US" dirty="0"/>
              <a:t>• Netflix</a:t>
            </a:r>
            <a:br>
              <a:rPr lang="en-US" dirty="0"/>
            </a:br>
            <a:r>
              <a:rPr lang="en-US" dirty="0"/>
              <a:t>• Uber</a:t>
            </a:r>
            <a:br>
              <a:rPr lang="en-US" dirty="0"/>
            </a:br>
            <a:r>
              <a:rPr lang="en-US" dirty="0"/>
              <a:t>• LinkedIn</a:t>
            </a:r>
            <a:br>
              <a:rPr lang="en-US" dirty="0"/>
            </a:br>
            <a:r>
              <a:rPr lang="en-US" dirty="0"/>
              <a:t>• Amazon</a:t>
            </a:r>
          </a:p>
          <a:p>
            <a:endParaRPr lang="en-IN" dirty="0"/>
          </a:p>
        </p:txBody>
      </p:sp>
    </p:spTree>
    <p:extLst>
      <p:ext uri="{BB962C8B-B14F-4D97-AF65-F5344CB8AC3E}">
        <p14:creationId xmlns:p14="http://schemas.microsoft.com/office/powerpoint/2010/main" val="386032002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7ECC2-DBBF-B603-41C3-8EC8BB05DE14}"/>
              </a:ext>
            </a:extLst>
          </p:cNvPr>
          <p:cNvSpPr>
            <a:spLocks noGrp="1"/>
          </p:cNvSpPr>
          <p:nvPr>
            <p:ph type="title"/>
          </p:nvPr>
        </p:nvSpPr>
        <p:spPr/>
        <p:txBody>
          <a:bodyPr/>
          <a:lstStyle/>
          <a:p>
            <a:r>
              <a:rPr lang="en-IN" dirty="0"/>
              <a:t>Core Kafka Concepts</a:t>
            </a:r>
          </a:p>
        </p:txBody>
      </p:sp>
      <p:sp>
        <p:nvSpPr>
          <p:cNvPr id="3" name="Content Placeholder 2">
            <a:extLst>
              <a:ext uri="{FF2B5EF4-FFF2-40B4-BE49-F238E27FC236}">
                <a16:creationId xmlns:a16="http://schemas.microsoft.com/office/drawing/2014/main" id="{335105E0-C554-D4D3-BAB7-1478D1B3F336}"/>
              </a:ext>
            </a:extLst>
          </p:cNvPr>
          <p:cNvSpPr>
            <a:spLocks noGrp="1"/>
          </p:cNvSpPr>
          <p:nvPr>
            <p:ph idx="1"/>
          </p:nvPr>
        </p:nvSpPr>
        <p:spPr/>
        <p:txBody>
          <a:bodyPr>
            <a:normAutofit/>
          </a:bodyPr>
          <a:lstStyle/>
          <a:p>
            <a:pPr marL="0" indent="0">
              <a:buNone/>
            </a:pPr>
            <a:r>
              <a:rPr lang="en-IN" sz="2000" b="1" dirty="0"/>
              <a:t>Concept 1: Producer</a:t>
            </a:r>
          </a:p>
          <a:p>
            <a:pPr marL="0" indent="0">
              <a:buNone/>
            </a:pPr>
            <a:r>
              <a:rPr lang="en-IN" sz="2000" dirty="0"/>
              <a:t>		Producer sends event to Kafka.</a:t>
            </a:r>
          </a:p>
          <a:p>
            <a:pPr marL="0" indent="0">
              <a:buNone/>
            </a:pPr>
            <a:r>
              <a:rPr lang="en-IN" sz="2000" dirty="0"/>
              <a:t>Example:</a:t>
            </a:r>
          </a:p>
          <a:p>
            <a:pPr lvl="2"/>
            <a:r>
              <a:rPr lang="en-IN" sz="2000" dirty="0"/>
              <a:t>Transaction Service → Kafka</a:t>
            </a:r>
          </a:p>
          <a:p>
            <a:pPr marL="0" indent="0">
              <a:buNone/>
            </a:pPr>
            <a:r>
              <a:rPr lang="en-IN" sz="2000" dirty="0"/>
              <a:t>Code example:</a:t>
            </a:r>
          </a:p>
          <a:p>
            <a:pPr marL="0" indent="0">
              <a:buNone/>
            </a:pPr>
            <a:r>
              <a:rPr lang="en-IN" sz="2000" dirty="0"/>
              <a:t>	</a:t>
            </a:r>
            <a:r>
              <a:rPr lang="en-IN" sz="2000" dirty="0" err="1"/>
              <a:t>kafkaTemplate.send</a:t>
            </a:r>
            <a:r>
              <a:rPr lang="en-IN" sz="2000" dirty="0"/>
              <a:t>("transaction-topic", event);</a:t>
            </a:r>
          </a:p>
          <a:p>
            <a:pPr marL="0" indent="0">
              <a:buNone/>
            </a:pPr>
            <a:r>
              <a:rPr lang="en-IN" sz="2000" b="1" dirty="0"/>
              <a:t>Concept 2: Consumer</a:t>
            </a:r>
          </a:p>
          <a:p>
            <a:pPr marL="0" indent="0">
              <a:buNone/>
            </a:pPr>
            <a:r>
              <a:rPr lang="en-IN" sz="2000" dirty="0"/>
              <a:t>		Consumer reads event from Kafka.</a:t>
            </a:r>
          </a:p>
          <a:p>
            <a:pPr marL="0" indent="0">
              <a:buNone/>
            </a:pPr>
            <a:r>
              <a:rPr lang="en-IN" sz="2000" dirty="0"/>
              <a:t>Example:</a:t>
            </a:r>
          </a:p>
          <a:p>
            <a:pPr lvl="2"/>
            <a:r>
              <a:rPr lang="en-IN" sz="2000" dirty="0"/>
              <a:t>Notification Service</a:t>
            </a:r>
          </a:p>
          <a:p>
            <a:pPr marL="400050" lvl="1" indent="0">
              <a:buNone/>
            </a:pPr>
            <a:r>
              <a:rPr lang="en-IN" sz="1600" dirty="0"/>
              <a:t>@KafkaListener(topics = "transaction-topic")</a:t>
            </a:r>
          </a:p>
          <a:p>
            <a:pPr marL="400050" lvl="1" indent="0">
              <a:buNone/>
            </a:pPr>
            <a:r>
              <a:rPr lang="en-IN" sz="1600" dirty="0"/>
              <a:t>public void consume(String message)</a:t>
            </a:r>
          </a:p>
          <a:p>
            <a:pPr marL="0" indent="0">
              <a:buNone/>
            </a:pPr>
            <a:endParaRPr lang="en-IN" sz="2000" dirty="0"/>
          </a:p>
        </p:txBody>
      </p:sp>
    </p:spTree>
    <p:extLst>
      <p:ext uri="{BB962C8B-B14F-4D97-AF65-F5344CB8AC3E}">
        <p14:creationId xmlns:p14="http://schemas.microsoft.com/office/powerpoint/2010/main" val="370093053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5A21D-0E27-A31C-E385-439F2FC0A4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C73CD3-568D-F2B0-5EAE-72B95829E9DF}"/>
              </a:ext>
            </a:extLst>
          </p:cNvPr>
          <p:cNvSpPr>
            <a:spLocks noGrp="1"/>
          </p:cNvSpPr>
          <p:nvPr>
            <p:ph type="title"/>
          </p:nvPr>
        </p:nvSpPr>
        <p:spPr/>
        <p:txBody>
          <a:bodyPr/>
          <a:lstStyle/>
          <a:p>
            <a:r>
              <a:rPr lang="en-IN" dirty="0"/>
              <a:t>Core Kafka Concepts</a:t>
            </a:r>
          </a:p>
        </p:txBody>
      </p:sp>
      <p:sp>
        <p:nvSpPr>
          <p:cNvPr id="3" name="Content Placeholder 2">
            <a:extLst>
              <a:ext uri="{FF2B5EF4-FFF2-40B4-BE49-F238E27FC236}">
                <a16:creationId xmlns:a16="http://schemas.microsoft.com/office/drawing/2014/main" id="{5A3033A4-3772-E6A4-9B5B-EC8AC4C541DC}"/>
              </a:ext>
            </a:extLst>
          </p:cNvPr>
          <p:cNvSpPr>
            <a:spLocks noGrp="1"/>
          </p:cNvSpPr>
          <p:nvPr>
            <p:ph idx="1"/>
          </p:nvPr>
        </p:nvSpPr>
        <p:spPr/>
        <p:txBody>
          <a:bodyPr>
            <a:noAutofit/>
          </a:bodyPr>
          <a:lstStyle/>
          <a:p>
            <a:pPr marL="0" indent="0">
              <a:buNone/>
            </a:pPr>
            <a:r>
              <a:rPr lang="en-US" sz="2000" b="1" dirty="0"/>
              <a:t>Concept 3: Topic</a:t>
            </a:r>
          </a:p>
          <a:p>
            <a:pPr marL="0" indent="0">
              <a:buNone/>
            </a:pPr>
            <a:r>
              <a:rPr lang="en-US" sz="2000" dirty="0"/>
              <a:t>	Topic = Event channel.</a:t>
            </a:r>
          </a:p>
          <a:p>
            <a:pPr marL="0" indent="0">
              <a:buNone/>
            </a:pPr>
            <a:r>
              <a:rPr lang="en-US" sz="2000" dirty="0"/>
              <a:t>Example:</a:t>
            </a:r>
          </a:p>
          <a:p>
            <a:pPr lvl="2"/>
            <a:r>
              <a:rPr lang="en-US" sz="2000" dirty="0"/>
              <a:t>transaction-topic</a:t>
            </a:r>
          </a:p>
          <a:p>
            <a:pPr marL="0" indent="0">
              <a:buNone/>
            </a:pPr>
            <a:r>
              <a:rPr lang="en-US" sz="2000" dirty="0"/>
              <a:t>Like table name in database.</a:t>
            </a:r>
          </a:p>
          <a:p>
            <a:pPr marL="0" indent="0">
              <a:buNone/>
            </a:pPr>
            <a:r>
              <a:rPr lang="en-IN" sz="2000" b="1" dirty="0"/>
              <a:t>Concept 4: Broker</a:t>
            </a:r>
          </a:p>
          <a:p>
            <a:pPr marL="0" indent="0">
              <a:buNone/>
            </a:pPr>
            <a:r>
              <a:rPr lang="en-IN" sz="2000" dirty="0"/>
              <a:t>	Kafka server.</a:t>
            </a:r>
          </a:p>
          <a:p>
            <a:pPr marL="0" indent="0">
              <a:buNone/>
            </a:pPr>
            <a:r>
              <a:rPr lang="en-IN" sz="2000" dirty="0"/>
              <a:t>	localhost:9092</a:t>
            </a:r>
          </a:p>
          <a:p>
            <a:pPr marL="0" indent="0">
              <a:buNone/>
            </a:pPr>
            <a:r>
              <a:rPr lang="en-IN" sz="2000" b="1" dirty="0"/>
              <a:t>Concept 5: Offset</a:t>
            </a:r>
          </a:p>
          <a:p>
            <a:pPr marL="0" indent="0">
              <a:buNone/>
            </a:pPr>
            <a:r>
              <a:rPr lang="en-IN" sz="2000" dirty="0"/>
              <a:t>	Event position.</a:t>
            </a:r>
          </a:p>
          <a:p>
            <a:pPr marL="800100" lvl="2" indent="0">
              <a:buNone/>
            </a:pPr>
            <a:r>
              <a:rPr lang="en-IN" sz="2000" dirty="0"/>
              <a:t>Event1 offset 0</a:t>
            </a:r>
          </a:p>
          <a:p>
            <a:pPr marL="800100" lvl="2" indent="0">
              <a:buNone/>
            </a:pPr>
            <a:r>
              <a:rPr lang="en-IN" sz="2000" dirty="0"/>
              <a:t>Event2 offset 1</a:t>
            </a:r>
          </a:p>
          <a:p>
            <a:pPr marL="0" indent="0">
              <a:buNone/>
            </a:pPr>
            <a:r>
              <a:rPr lang="en-IN" sz="2000" b="1" dirty="0"/>
              <a:t>Kafka Flow:</a:t>
            </a:r>
          </a:p>
          <a:p>
            <a:pPr marL="0" indent="0">
              <a:buNone/>
            </a:pPr>
            <a:r>
              <a:rPr lang="en-IN" sz="2000" dirty="0"/>
              <a:t>Producer → Topic → Consumer</a:t>
            </a:r>
          </a:p>
          <a:p>
            <a:pPr marL="0" indent="0">
              <a:buNone/>
            </a:pPr>
            <a:endParaRPr lang="en-IN" sz="2000" dirty="0"/>
          </a:p>
        </p:txBody>
      </p:sp>
    </p:spTree>
    <p:extLst>
      <p:ext uri="{BB962C8B-B14F-4D97-AF65-F5344CB8AC3E}">
        <p14:creationId xmlns:p14="http://schemas.microsoft.com/office/powerpoint/2010/main" val="271220609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2FB34-DFBF-6B3B-7D65-7E6806F91D60}"/>
              </a:ext>
            </a:extLst>
          </p:cNvPr>
          <p:cNvSpPr>
            <a:spLocks noGrp="1"/>
          </p:cNvSpPr>
          <p:nvPr>
            <p:ph type="title"/>
          </p:nvPr>
        </p:nvSpPr>
        <p:spPr/>
        <p:txBody>
          <a:bodyPr/>
          <a:lstStyle/>
          <a:p>
            <a:r>
              <a:rPr lang="en-US" dirty="0"/>
              <a:t>Kafka Setup Hands-on using Docker</a:t>
            </a:r>
            <a:endParaRPr lang="en-IN" dirty="0"/>
          </a:p>
        </p:txBody>
      </p:sp>
      <p:sp>
        <p:nvSpPr>
          <p:cNvPr id="3" name="Content Placeholder 2">
            <a:extLst>
              <a:ext uri="{FF2B5EF4-FFF2-40B4-BE49-F238E27FC236}">
                <a16:creationId xmlns:a16="http://schemas.microsoft.com/office/drawing/2014/main" id="{6466C46E-BAA3-B03D-CC88-8416A8CF9447}"/>
              </a:ext>
            </a:extLst>
          </p:cNvPr>
          <p:cNvSpPr>
            <a:spLocks noGrp="1"/>
          </p:cNvSpPr>
          <p:nvPr>
            <p:ph idx="1"/>
          </p:nvPr>
        </p:nvSpPr>
        <p:spPr/>
        <p:txBody>
          <a:bodyPr>
            <a:noAutofit/>
          </a:bodyPr>
          <a:lstStyle/>
          <a:p>
            <a:pPr marL="0" indent="0">
              <a:buNone/>
            </a:pPr>
            <a:r>
              <a:rPr lang="en-IN" sz="1000" b="1" dirty="0"/>
              <a:t>Step 1 Install Docker</a:t>
            </a:r>
          </a:p>
          <a:p>
            <a:pPr marL="0" indent="0">
              <a:buNone/>
            </a:pPr>
            <a:r>
              <a:rPr lang="en-IN" sz="1000" dirty="0"/>
              <a:t>Verify:</a:t>
            </a:r>
          </a:p>
          <a:p>
            <a:pPr lvl="2"/>
            <a:r>
              <a:rPr lang="en-IN" sz="1000" dirty="0"/>
              <a:t>docker --version</a:t>
            </a:r>
          </a:p>
          <a:p>
            <a:pPr marL="0" indent="0">
              <a:buNone/>
            </a:pPr>
            <a:r>
              <a:rPr lang="en-IN" sz="1000" b="1" dirty="0"/>
              <a:t>Step 2 Create docker-</a:t>
            </a:r>
            <a:r>
              <a:rPr lang="en-IN" sz="1000" b="1" dirty="0" err="1"/>
              <a:t>compose.yml</a:t>
            </a:r>
            <a:endParaRPr lang="en-IN" sz="1000" b="1" dirty="0"/>
          </a:p>
          <a:p>
            <a:pPr marL="0" indent="0">
              <a:buNone/>
            </a:pPr>
            <a:r>
              <a:rPr lang="en-IN" sz="1000" dirty="0"/>
              <a:t>Create file:</a:t>
            </a:r>
          </a:p>
          <a:p>
            <a:pPr lvl="2"/>
            <a:r>
              <a:rPr lang="en-IN" sz="1000" dirty="0"/>
              <a:t>docker-</a:t>
            </a:r>
            <a:r>
              <a:rPr lang="en-IN" sz="1000" dirty="0" err="1"/>
              <a:t>compose.yml</a:t>
            </a:r>
            <a:endParaRPr lang="en-IN" sz="1000" dirty="0"/>
          </a:p>
          <a:p>
            <a:pPr marL="400050" lvl="1" indent="0">
              <a:buNone/>
            </a:pPr>
            <a:r>
              <a:rPr lang="en-IN" sz="1000" dirty="0"/>
              <a:t>version: '3'</a:t>
            </a:r>
          </a:p>
          <a:p>
            <a:pPr marL="400050" lvl="1" indent="0">
              <a:buNone/>
            </a:pPr>
            <a:r>
              <a:rPr lang="en-IN" sz="1000" dirty="0"/>
              <a:t>services:</a:t>
            </a:r>
          </a:p>
          <a:p>
            <a:pPr marL="400050" lvl="1" indent="0">
              <a:buNone/>
            </a:pPr>
            <a:endParaRPr lang="en-IN" sz="1000" dirty="0"/>
          </a:p>
          <a:p>
            <a:pPr marL="400050" lvl="1" indent="0">
              <a:buNone/>
            </a:pPr>
            <a:r>
              <a:rPr lang="en-IN" sz="1000" dirty="0"/>
              <a:t>  zookeeper:</a:t>
            </a:r>
          </a:p>
          <a:p>
            <a:pPr marL="400050" lvl="1" indent="0">
              <a:buNone/>
            </a:pPr>
            <a:r>
              <a:rPr lang="en-IN" sz="1000" dirty="0"/>
              <a:t>    image: </a:t>
            </a:r>
            <a:r>
              <a:rPr lang="en-IN" sz="1000" dirty="0" err="1"/>
              <a:t>bitnami</a:t>
            </a:r>
            <a:r>
              <a:rPr lang="en-IN" sz="1000" dirty="0"/>
              <a:t>/</a:t>
            </a:r>
            <a:r>
              <a:rPr lang="en-IN" sz="1000" dirty="0" err="1"/>
              <a:t>zookeeper:latest</a:t>
            </a:r>
            <a:endParaRPr lang="en-IN" sz="1000" dirty="0"/>
          </a:p>
          <a:p>
            <a:pPr marL="400050" lvl="1" indent="0">
              <a:buNone/>
            </a:pPr>
            <a:r>
              <a:rPr lang="en-IN" sz="1000" dirty="0"/>
              <a:t>    environment:</a:t>
            </a:r>
          </a:p>
          <a:p>
            <a:pPr marL="400050" lvl="1" indent="0">
              <a:buNone/>
            </a:pPr>
            <a:r>
              <a:rPr lang="en-IN" sz="1000" dirty="0"/>
              <a:t>      ALLOW_ANONYMOUS_LOGIN: yes</a:t>
            </a:r>
          </a:p>
          <a:p>
            <a:pPr marL="400050" lvl="1" indent="0">
              <a:buNone/>
            </a:pPr>
            <a:r>
              <a:rPr lang="en-IN" sz="1000" dirty="0"/>
              <a:t>    ports:</a:t>
            </a:r>
          </a:p>
          <a:p>
            <a:pPr marL="400050" lvl="1" indent="0">
              <a:buNone/>
            </a:pPr>
            <a:r>
              <a:rPr lang="en-IN" sz="1000" dirty="0"/>
              <a:t>      - "2181:2181"</a:t>
            </a:r>
          </a:p>
          <a:p>
            <a:pPr marL="400050" lvl="1" indent="0">
              <a:buNone/>
            </a:pPr>
            <a:endParaRPr lang="en-IN" sz="1000" dirty="0"/>
          </a:p>
          <a:p>
            <a:pPr marL="400050" lvl="1" indent="0">
              <a:buNone/>
            </a:pPr>
            <a:r>
              <a:rPr lang="en-IN" sz="1000" dirty="0"/>
              <a:t>  </a:t>
            </a:r>
            <a:r>
              <a:rPr lang="en-IN" sz="1000" dirty="0" err="1"/>
              <a:t>kafka</a:t>
            </a:r>
            <a:r>
              <a:rPr lang="en-IN" sz="1000" dirty="0"/>
              <a:t>:</a:t>
            </a:r>
          </a:p>
          <a:p>
            <a:pPr marL="400050" lvl="1" indent="0">
              <a:buNone/>
            </a:pPr>
            <a:r>
              <a:rPr lang="en-IN" sz="1000" dirty="0"/>
              <a:t>    image: </a:t>
            </a:r>
            <a:r>
              <a:rPr lang="en-IN" sz="1000" dirty="0" err="1"/>
              <a:t>bitnami</a:t>
            </a:r>
            <a:r>
              <a:rPr lang="en-IN" sz="1000" dirty="0"/>
              <a:t>/</a:t>
            </a:r>
            <a:r>
              <a:rPr lang="en-IN" sz="1000" dirty="0" err="1"/>
              <a:t>kafka:latest</a:t>
            </a:r>
            <a:endParaRPr lang="en-IN" sz="1000" dirty="0"/>
          </a:p>
          <a:p>
            <a:pPr marL="400050" lvl="1" indent="0">
              <a:buNone/>
            </a:pPr>
            <a:r>
              <a:rPr lang="en-IN" sz="1000" dirty="0"/>
              <a:t>    ports:</a:t>
            </a:r>
          </a:p>
          <a:p>
            <a:pPr marL="400050" lvl="1" indent="0">
              <a:buNone/>
            </a:pPr>
            <a:r>
              <a:rPr lang="en-IN" sz="1000" dirty="0"/>
              <a:t>      - "9092:9092"</a:t>
            </a:r>
          </a:p>
          <a:p>
            <a:pPr marL="400050" lvl="1" indent="0">
              <a:buNone/>
            </a:pPr>
            <a:r>
              <a:rPr lang="en-IN" sz="1000" dirty="0"/>
              <a:t>    environment:</a:t>
            </a:r>
          </a:p>
          <a:p>
            <a:pPr marL="400050" lvl="1" indent="0">
              <a:buNone/>
            </a:pPr>
            <a:r>
              <a:rPr lang="en-IN" sz="1000" dirty="0"/>
              <a:t>      KAFKA_CFG_ZOOKEEPER_CONNECT: zookeeper:2181</a:t>
            </a:r>
          </a:p>
          <a:p>
            <a:pPr marL="400050" lvl="1" indent="0">
              <a:buNone/>
            </a:pPr>
            <a:r>
              <a:rPr lang="en-IN" sz="1000" dirty="0"/>
              <a:t>      ALLOW_PLAINTEXT_LISTENER: yes</a:t>
            </a:r>
          </a:p>
          <a:p>
            <a:pPr marL="400050" lvl="1" indent="0">
              <a:buNone/>
            </a:pPr>
            <a:r>
              <a:rPr lang="en-IN" sz="1000" dirty="0"/>
              <a:t>      KAFKA_CFG_LISTENERS: PLAINTEXT://:9092</a:t>
            </a:r>
          </a:p>
          <a:p>
            <a:pPr marL="400050" lvl="1" indent="0">
              <a:buNone/>
            </a:pPr>
            <a:r>
              <a:rPr lang="en-IN" sz="1000" dirty="0"/>
              <a:t>      KAFKA_CFG_ADVERTISED_LISTENERS: PLAINTEXT://localhost:9092</a:t>
            </a:r>
          </a:p>
          <a:p>
            <a:pPr marL="400050" lvl="1" indent="0">
              <a:buNone/>
            </a:pPr>
            <a:r>
              <a:rPr lang="en-IN" sz="1000" dirty="0"/>
              <a:t>    </a:t>
            </a:r>
            <a:r>
              <a:rPr lang="en-IN" sz="1000" dirty="0" err="1"/>
              <a:t>depends_on</a:t>
            </a:r>
            <a:r>
              <a:rPr lang="en-IN" sz="1000" dirty="0"/>
              <a:t>:</a:t>
            </a:r>
          </a:p>
          <a:p>
            <a:pPr marL="400050" lvl="1" indent="0">
              <a:buNone/>
            </a:pPr>
            <a:r>
              <a:rPr lang="en-IN" sz="1000" dirty="0"/>
              <a:t>      - zookeeper</a:t>
            </a:r>
          </a:p>
          <a:p>
            <a:pPr marL="0" indent="0">
              <a:buNone/>
            </a:pPr>
            <a:endParaRPr lang="en-IN" sz="1000" dirty="0"/>
          </a:p>
          <a:p>
            <a:endParaRPr lang="en-IN" sz="1000" dirty="0"/>
          </a:p>
        </p:txBody>
      </p:sp>
    </p:spTree>
    <p:extLst>
      <p:ext uri="{BB962C8B-B14F-4D97-AF65-F5344CB8AC3E}">
        <p14:creationId xmlns:p14="http://schemas.microsoft.com/office/powerpoint/2010/main" val="360847526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7C419-385F-F5AC-F801-5AAD84AF5C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7AF898-24EF-5201-867F-404641586630}"/>
              </a:ext>
            </a:extLst>
          </p:cNvPr>
          <p:cNvSpPr>
            <a:spLocks noGrp="1"/>
          </p:cNvSpPr>
          <p:nvPr>
            <p:ph type="title"/>
          </p:nvPr>
        </p:nvSpPr>
        <p:spPr/>
        <p:txBody>
          <a:bodyPr/>
          <a:lstStyle/>
          <a:p>
            <a:r>
              <a:rPr lang="en-US" dirty="0"/>
              <a:t>Kafka Setup Hands-on using Docker</a:t>
            </a:r>
            <a:endParaRPr lang="en-IN" dirty="0"/>
          </a:p>
        </p:txBody>
      </p:sp>
      <p:sp>
        <p:nvSpPr>
          <p:cNvPr id="3" name="Content Placeholder 2">
            <a:extLst>
              <a:ext uri="{FF2B5EF4-FFF2-40B4-BE49-F238E27FC236}">
                <a16:creationId xmlns:a16="http://schemas.microsoft.com/office/drawing/2014/main" id="{C398270E-E760-5937-F29D-E42BFE548502}"/>
              </a:ext>
            </a:extLst>
          </p:cNvPr>
          <p:cNvSpPr>
            <a:spLocks noGrp="1"/>
          </p:cNvSpPr>
          <p:nvPr>
            <p:ph idx="1"/>
          </p:nvPr>
        </p:nvSpPr>
        <p:spPr/>
        <p:txBody>
          <a:bodyPr>
            <a:noAutofit/>
          </a:bodyPr>
          <a:lstStyle/>
          <a:p>
            <a:pPr marL="0" indent="0">
              <a:buNone/>
            </a:pPr>
            <a:r>
              <a:rPr lang="en-IN" sz="1200" b="1" dirty="0"/>
              <a:t>Step 3 Start Kafka</a:t>
            </a:r>
          </a:p>
          <a:p>
            <a:pPr marL="0" indent="0">
              <a:buNone/>
            </a:pPr>
            <a:r>
              <a:rPr lang="en-IN" sz="1200" dirty="0"/>
              <a:t>Run</a:t>
            </a:r>
            <a:r>
              <a:rPr lang="en-IN" sz="1200" b="1" dirty="0"/>
              <a:t> </a:t>
            </a:r>
          </a:p>
          <a:p>
            <a:pPr marL="0" indent="0">
              <a:buNone/>
            </a:pPr>
            <a:r>
              <a:rPr lang="en-IN" sz="1200" b="1" dirty="0"/>
              <a:t>	docker-compose up -d</a:t>
            </a:r>
          </a:p>
          <a:p>
            <a:pPr marL="0" indent="0">
              <a:buNone/>
            </a:pPr>
            <a:r>
              <a:rPr lang="en-IN" sz="1200" dirty="0"/>
              <a:t>Verify:</a:t>
            </a:r>
          </a:p>
          <a:p>
            <a:pPr marL="0" indent="0">
              <a:buNone/>
            </a:pPr>
            <a:r>
              <a:rPr lang="en-IN" sz="1200" b="1" dirty="0"/>
              <a:t>	docker </a:t>
            </a:r>
            <a:r>
              <a:rPr lang="en-IN" sz="1200" b="1" dirty="0" err="1"/>
              <a:t>ps</a:t>
            </a:r>
            <a:endParaRPr lang="en-IN" sz="1200" b="1" dirty="0"/>
          </a:p>
          <a:p>
            <a:pPr marL="0" indent="0">
              <a:buNone/>
            </a:pPr>
            <a:r>
              <a:rPr lang="en-IN" sz="1200" dirty="0"/>
              <a:t>You should see:</a:t>
            </a:r>
          </a:p>
          <a:p>
            <a:pPr marL="0" indent="0">
              <a:buNone/>
            </a:pPr>
            <a:r>
              <a:rPr lang="en-IN" sz="1200" b="1" dirty="0" err="1"/>
              <a:t>kafka</a:t>
            </a:r>
            <a:endParaRPr lang="en-IN" sz="1200" b="1" dirty="0"/>
          </a:p>
          <a:p>
            <a:pPr marL="0" indent="0">
              <a:buNone/>
            </a:pPr>
            <a:r>
              <a:rPr lang="en-IN" sz="1200" b="1" dirty="0"/>
              <a:t>zookeeper</a:t>
            </a:r>
          </a:p>
          <a:p>
            <a:pPr marL="0" indent="0">
              <a:buNone/>
            </a:pPr>
            <a:r>
              <a:rPr lang="en-IN" sz="1200" b="1" dirty="0"/>
              <a:t>Step 4 Create Topic</a:t>
            </a:r>
          </a:p>
          <a:p>
            <a:pPr marL="0" indent="0">
              <a:buNone/>
            </a:pPr>
            <a:r>
              <a:rPr lang="en-IN" sz="1200" dirty="0"/>
              <a:t>Run:</a:t>
            </a:r>
          </a:p>
          <a:p>
            <a:pPr lvl="2"/>
            <a:r>
              <a:rPr lang="en-IN" sz="1200" dirty="0"/>
              <a:t>docker exec -it </a:t>
            </a:r>
            <a:r>
              <a:rPr lang="en-IN" sz="1200" dirty="0" err="1"/>
              <a:t>kafka_container_name</a:t>
            </a:r>
            <a:r>
              <a:rPr lang="en-IN" sz="1200" dirty="0"/>
              <a:t> bash</a:t>
            </a:r>
          </a:p>
          <a:p>
            <a:pPr marL="0" indent="0">
              <a:buNone/>
            </a:pPr>
            <a:r>
              <a:rPr lang="en-IN" sz="1200" dirty="0"/>
              <a:t>Then:</a:t>
            </a:r>
          </a:p>
          <a:p>
            <a:pPr marL="400050" lvl="1" indent="0">
              <a:buNone/>
            </a:pPr>
            <a:r>
              <a:rPr lang="en-IN" sz="1200" dirty="0"/>
              <a:t>kafka-topics.sh --create \</a:t>
            </a:r>
          </a:p>
          <a:p>
            <a:pPr marL="400050" lvl="1" indent="0">
              <a:buNone/>
            </a:pPr>
            <a:r>
              <a:rPr lang="en-IN" sz="1200" dirty="0"/>
              <a:t>--topic transaction-topic \</a:t>
            </a:r>
          </a:p>
          <a:p>
            <a:pPr marL="400050" lvl="1" indent="0">
              <a:buNone/>
            </a:pPr>
            <a:r>
              <a:rPr lang="en-IN" sz="1200" dirty="0"/>
              <a:t>--bootstrap-server localhost:9092 \</a:t>
            </a:r>
          </a:p>
          <a:p>
            <a:pPr marL="400050" lvl="1" indent="0">
              <a:buNone/>
            </a:pPr>
            <a:r>
              <a:rPr lang="en-IN" sz="1200" dirty="0"/>
              <a:t>--partitions 1 \</a:t>
            </a:r>
          </a:p>
          <a:p>
            <a:pPr marL="400050" lvl="1" indent="0">
              <a:buNone/>
            </a:pPr>
            <a:r>
              <a:rPr lang="en-IN" sz="1200" dirty="0"/>
              <a:t>--replication-factor 1</a:t>
            </a:r>
          </a:p>
          <a:p>
            <a:pPr marL="0" indent="0">
              <a:buNone/>
            </a:pPr>
            <a:r>
              <a:rPr lang="en-IN" sz="1200" dirty="0"/>
              <a:t>Verify:</a:t>
            </a:r>
          </a:p>
          <a:p>
            <a:pPr lvl="2"/>
            <a:r>
              <a:rPr lang="en-IN" sz="1200" dirty="0"/>
              <a:t>kafka-topics.sh --list --bootstrap-server localhost:9092</a:t>
            </a:r>
          </a:p>
          <a:p>
            <a:pPr marL="0" indent="0">
              <a:buNone/>
            </a:pPr>
            <a:endParaRPr lang="en-IN" sz="1200" b="1" dirty="0"/>
          </a:p>
        </p:txBody>
      </p:sp>
    </p:spTree>
    <p:extLst>
      <p:ext uri="{BB962C8B-B14F-4D97-AF65-F5344CB8AC3E}">
        <p14:creationId xmlns:p14="http://schemas.microsoft.com/office/powerpoint/2010/main" val="231544131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A7F44-3A9F-A4DE-894C-912B2CCA8CDF}"/>
              </a:ext>
            </a:extLst>
          </p:cNvPr>
          <p:cNvSpPr>
            <a:spLocks noGrp="1"/>
          </p:cNvSpPr>
          <p:nvPr>
            <p:ph type="title"/>
          </p:nvPr>
        </p:nvSpPr>
        <p:spPr/>
        <p:txBody>
          <a:bodyPr/>
          <a:lstStyle/>
          <a:p>
            <a:r>
              <a:rPr lang="en-IN" dirty="0"/>
              <a:t>Kafka Producer Implementation</a:t>
            </a:r>
          </a:p>
        </p:txBody>
      </p:sp>
      <p:sp>
        <p:nvSpPr>
          <p:cNvPr id="3" name="Content Placeholder 2">
            <a:extLst>
              <a:ext uri="{FF2B5EF4-FFF2-40B4-BE49-F238E27FC236}">
                <a16:creationId xmlns:a16="http://schemas.microsoft.com/office/drawing/2014/main" id="{DD85C31E-F220-2941-AB8B-693F62A7314E}"/>
              </a:ext>
            </a:extLst>
          </p:cNvPr>
          <p:cNvSpPr>
            <a:spLocks noGrp="1"/>
          </p:cNvSpPr>
          <p:nvPr>
            <p:ph idx="1"/>
          </p:nvPr>
        </p:nvSpPr>
        <p:spPr/>
        <p:txBody>
          <a:bodyPr>
            <a:normAutofit fontScale="85000" lnSpcReduction="10000"/>
          </a:bodyPr>
          <a:lstStyle/>
          <a:p>
            <a:pPr marL="0" indent="0">
              <a:buNone/>
            </a:pPr>
            <a:r>
              <a:rPr lang="en-IN" sz="2000" dirty="0"/>
              <a:t>Architecture</a:t>
            </a:r>
          </a:p>
          <a:p>
            <a:pPr lvl="2"/>
            <a:r>
              <a:rPr lang="fr-FR" sz="2000" dirty="0"/>
              <a:t>Transaction Service → Kafka → Notification Service</a:t>
            </a:r>
          </a:p>
          <a:p>
            <a:pPr marL="0" indent="0">
              <a:buNone/>
            </a:pPr>
            <a:r>
              <a:rPr lang="en-US" sz="2000" b="1" dirty="0"/>
              <a:t>Step 1 Create Spring Boot Project</a:t>
            </a:r>
          </a:p>
          <a:p>
            <a:pPr lvl="2"/>
            <a:r>
              <a:rPr lang="en-US" sz="2000" dirty="0"/>
              <a:t>Go to:</a:t>
            </a:r>
          </a:p>
          <a:p>
            <a:pPr lvl="2"/>
            <a:r>
              <a:rPr lang="en-US" sz="2000" dirty="0">
                <a:hlinkClick r:id="rId2"/>
              </a:rPr>
              <a:t>https://start.spring.io</a:t>
            </a:r>
            <a:endParaRPr lang="en-US" sz="2000" dirty="0"/>
          </a:p>
          <a:p>
            <a:pPr lvl="2"/>
            <a:r>
              <a:rPr lang="en-US" sz="2000" dirty="0"/>
              <a:t>Dependencies:</a:t>
            </a:r>
          </a:p>
          <a:p>
            <a:pPr marL="1257300" lvl="3" indent="0">
              <a:buNone/>
            </a:pPr>
            <a:r>
              <a:rPr lang="en-US" dirty="0"/>
              <a:t>• Spring Web</a:t>
            </a:r>
            <a:br>
              <a:rPr lang="en-US" dirty="0"/>
            </a:br>
            <a:r>
              <a:rPr lang="en-US" dirty="0"/>
              <a:t>• Spring for Apache Kafka</a:t>
            </a:r>
            <a:br>
              <a:rPr lang="en-US" dirty="0"/>
            </a:br>
            <a:r>
              <a:rPr lang="en-US" dirty="0"/>
              <a:t>• Lombok</a:t>
            </a:r>
          </a:p>
          <a:p>
            <a:r>
              <a:rPr lang="en-US" sz="2000" b="1" dirty="0"/>
              <a:t>Step 2 </a:t>
            </a:r>
            <a:r>
              <a:rPr lang="en-US" sz="2000" b="1" dirty="0" err="1"/>
              <a:t>application.yml</a:t>
            </a:r>
            <a:endParaRPr lang="en-US" sz="2000" b="1" dirty="0"/>
          </a:p>
          <a:p>
            <a:pPr marL="0" indent="0">
              <a:buNone/>
            </a:pPr>
            <a:r>
              <a:rPr lang="en-IN" sz="2000" dirty="0"/>
              <a:t>server:</a:t>
            </a:r>
          </a:p>
          <a:p>
            <a:pPr marL="0" indent="0">
              <a:buNone/>
            </a:pPr>
            <a:r>
              <a:rPr lang="en-IN" sz="2000" dirty="0"/>
              <a:t>  port: 8081</a:t>
            </a:r>
          </a:p>
          <a:p>
            <a:pPr marL="0" indent="0">
              <a:buNone/>
            </a:pPr>
            <a:endParaRPr lang="en-IN" sz="2000" dirty="0"/>
          </a:p>
          <a:p>
            <a:pPr marL="0" indent="0">
              <a:buNone/>
            </a:pPr>
            <a:r>
              <a:rPr lang="en-IN" sz="2000" dirty="0"/>
              <a:t>spring:</a:t>
            </a:r>
          </a:p>
          <a:p>
            <a:pPr marL="0" indent="0">
              <a:buNone/>
            </a:pPr>
            <a:r>
              <a:rPr lang="en-IN" sz="2000" dirty="0"/>
              <a:t>  </a:t>
            </a:r>
            <a:r>
              <a:rPr lang="en-IN" sz="2000" dirty="0" err="1"/>
              <a:t>kafka</a:t>
            </a:r>
            <a:r>
              <a:rPr lang="en-IN" sz="2000" dirty="0"/>
              <a:t>:</a:t>
            </a:r>
          </a:p>
          <a:p>
            <a:pPr marL="0" indent="0">
              <a:buNone/>
            </a:pPr>
            <a:r>
              <a:rPr lang="en-IN" sz="2000" dirty="0"/>
              <a:t>    bootstrap-servers: localhost:9092</a:t>
            </a:r>
          </a:p>
          <a:p>
            <a:pPr marL="0" indent="0">
              <a:buNone/>
            </a:pPr>
            <a:endParaRPr lang="en-IN" sz="2000" dirty="0"/>
          </a:p>
          <a:p>
            <a:pPr marL="0" indent="0">
              <a:buNone/>
            </a:pPr>
            <a:endParaRPr lang="en-IN" sz="2000" dirty="0"/>
          </a:p>
        </p:txBody>
      </p:sp>
    </p:spTree>
    <p:extLst>
      <p:ext uri="{BB962C8B-B14F-4D97-AF65-F5344CB8AC3E}">
        <p14:creationId xmlns:p14="http://schemas.microsoft.com/office/powerpoint/2010/main" val="263482822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405EE-1021-84B7-68A1-AC7FC9D2F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5C277-47FB-1BD9-7B48-93B4F1C3C931}"/>
              </a:ext>
            </a:extLst>
          </p:cNvPr>
          <p:cNvSpPr>
            <a:spLocks noGrp="1"/>
          </p:cNvSpPr>
          <p:nvPr>
            <p:ph type="title"/>
          </p:nvPr>
        </p:nvSpPr>
        <p:spPr/>
        <p:txBody>
          <a:bodyPr/>
          <a:lstStyle/>
          <a:p>
            <a:r>
              <a:rPr lang="en-IN" dirty="0"/>
              <a:t>Kafka Producer Implementation</a:t>
            </a:r>
          </a:p>
        </p:txBody>
      </p:sp>
      <p:sp>
        <p:nvSpPr>
          <p:cNvPr id="3" name="Content Placeholder 2">
            <a:extLst>
              <a:ext uri="{FF2B5EF4-FFF2-40B4-BE49-F238E27FC236}">
                <a16:creationId xmlns:a16="http://schemas.microsoft.com/office/drawing/2014/main" id="{126D0E79-F7C7-7EEF-0F54-1FA08F267423}"/>
              </a:ext>
            </a:extLst>
          </p:cNvPr>
          <p:cNvSpPr>
            <a:spLocks noGrp="1"/>
          </p:cNvSpPr>
          <p:nvPr>
            <p:ph idx="1"/>
          </p:nvPr>
        </p:nvSpPr>
        <p:spPr/>
        <p:txBody>
          <a:bodyPr>
            <a:normAutofit/>
          </a:bodyPr>
          <a:lstStyle/>
          <a:p>
            <a:pPr marL="0" indent="0">
              <a:buNone/>
            </a:pPr>
            <a:r>
              <a:rPr lang="en-US" sz="2000" b="1" dirty="0"/>
              <a:t>Step 3 Create Event Model</a:t>
            </a:r>
          </a:p>
          <a:p>
            <a:pPr marL="0" indent="0">
              <a:buNone/>
            </a:pPr>
            <a:r>
              <a:rPr lang="en-IN" sz="2000" dirty="0"/>
              <a:t>package </a:t>
            </a:r>
            <a:r>
              <a:rPr lang="en-IN" sz="2000" dirty="0" err="1"/>
              <a:t>com.example.transaction.event</a:t>
            </a:r>
            <a:r>
              <a:rPr lang="en-IN" sz="2000" dirty="0"/>
              <a:t>;</a:t>
            </a:r>
          </a:p>
          <a:p>
            <a:pPr marL="0" indent="0">
              <a:buNone/>
            </a:pPr>
            <a:r>
              <a:rPr lang="en-IN" sz="2000" dirty="0"/>
              <a:t>import </a:t>
            </a:r>
            <a:r>
              <a:rPr lang="en-IN" sz="2000" dirty="0" err="1"/>
              <a:t>lombok</a:t>
            </a:r>
            <a:r>
              <a:rPr lang="en-IN" sz="2000" dirty="0"/>
              <a:t>.*;</a:t>
            </a:r>
          </a:p>
          <a:p>
            <a:pPr marL="0" indent="0">
              <a:buNone/>
            </a:pPr>
            <a:r>
              <a:rPr lang="en-IN" sz="2000" dirty="0"/>
              <a:t>@Data</a:t>
            </a:r>
          </a:p>
          <a:p>
            <a:pPr marL="0" indent="0">
              <a:buNone/>
            </a:pPr>
            <a:r>
              <a:rPr lang="en-IN" sz="2000" dirty="0"/>
              <a:t>@AllArgsConstructor</a:t>
            </a:r>
          </a:p>
          <a:p>
            <a:pPr marL="0" indent="0">
              <a:buNone/>
            </a:pPr>
            <a:r>
              <a:rPr lang="en-IN" sz="2000" dirty="0"/>
              <a:t>@NoArgsConstructor</a:t>
            </a:r>
          </a:p>
          <a:p>
            <a:pPr marL="0" indent="0">
              <a:buNone/>
            </a:pPr>
            <a:r>
              <a:rPr lang="en-IN" sz="2000" dirty="0"/>
              <a:t>public class </a:t>
            </a:r>
            <a:r>
              <a:rPr lang="en-IN" sz="2000" dirty="0" err="1"/>
              <a:t>TransactionEvent</a:t>
            </a:r>
            <a:r>
              <a:rPr lang="en-IN" sz="2000" dirty="0"/>
              <a:t> {</a:t>
            </a:r>
          </a:p>
          <a:p>
            <a:pPr marL="0" indent="0">
              <a:buNone/>
            </a:pPr>
            <a:r>
              <a:rPr lang="en-IN" sz="2000" dirty="0"/>
              <a:t>    private String </a:t>
            </a:r>
            <a:r>
              <a:rPr lang="en-IN" sz="2000" dirty="0" err="1"/>
              <a:t>transactionId</a:t>
            </a:r>
            <a:r>
              <a:rPr lang="en-IN" sz="2000" dirty="0"/>
              <a:t>;</a:t>
            </a:r>
          </a:p>
          <a:p>
            <a:pPr marL="0" indent="0">
              <a:buNone/>
            </a:pPr>
            <a:r>
              <a:rPr lang="en-IN" sz="2000" dirty="0"/>
              <a:t>    private double amount;</a:t>
            </a:r>
          </a:p>
          <a:p>
            <a:pPr marL="0" indent="0">
              <a:buNone/>
            </a:pPr>
            <a:r>
              <a:rPr lang="en-IN" sz="2000" dirty="0"/>
              <a:t>    private String status;</a:t>
            </a:r>
          </a:p>
          <a:p>
            <a:pPr marL="0" indent="0">
              <a:buNone/>
            </a:pPr>
            <a:r>
              <a:rPr lang="en-IN" sz="2000" dirty="0"/>
              <a:t>}</a:t>
            </a:r>
          </a:p>
          <a:p>
            <a:pPr marL="0" indent="0">
              <a:buNone/>
            </a:pPr>
            <a:endParaRPr lang="en-IN" sz="2000" dirty="0"/>
          </a:p>
        </p:txBody>
      </p:sp>
    </p:spTree>
    <p:extLst>
      <p:ext uri="{BB962C8B-B14F-4D97-AF65-F5344CB8AC3E}">
        <p14:creationId xmlns:p14="http://schemas.microsoft.com/office/powerpoint/2010/main" val="6552024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38B56-E200-2BD3-3F09-357F09D20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C5285-94C0-0B01-6F17-2BF010541AFD}"/>
              </a:ext>
            </a:extLst>
          </p:cNvPr>
          <p:cNvSpPr>
            <a:spLocks noGrp="1"/>
          </p:cNvSpPr>
          <p:nvPr>
            <p:ph type="title"/>
          </p:nvPr>
        </p:nvSpPr>
        <p:spPr/>
        <p:txBody>
          <a:bodyPr/>
          <a:lstStyle/>
          <a:p>
            <a:r>
              <a:rPr lang="en-IN" dirty="0"/>
              <a:t>Kafka Producer Implementation</a:t>
            </a:r>
          </a:p>
        </p:txBody>
      </p:sp>
      <p:sp>
        <p:nvSpPr>
          <p:cNvPr id="3" name="Content Placeholder 2">
            <a:extLst>
              <a:ext uri="{FF2B5EF4-FFF2-40B4-BE49-F238E27FC236}">
                <a16:creationId xmlns:a16="http://schemas.microsoft.com/office/drawing/2014/main" id="{F96FAC01-E9CA-34FF-FD09-94CCCA161D98}"/>
              </a:ext>
            </a:extLst>
          </p:cNvPr>
          <p:cNvSpPr>
            <a:spLocks noGrp="1"/>
          </p:cNvSpPr>
          <p:nvPr>
            <p:ph idx="1"/>
          </p:nvPr>
        </p:nvSpPr>
        <p:spPr/>
        <p:txBody>
          <a:bodyPr>
            <a:normAutofit/>
          </a:bodyPr>
          <a:lstStyle/>
          <a:p>
            <a:pPr marL="0" indent="0">
              <a:buNone/>
            </a:pPr>
            <a:r>
              <a:rPr lang="en-US" sz="2000" b="1" dirty="0"/>
              <a:t>Step 4 Create Kafka Producer Config</a:t>
            </a:r>
          </a:p>
          <a:p>
            <a:pPr marL="0" indent="0">
              <a:buNone/>
            </a:pPr>
            <a:r>
              <a:rPr lang="en-US" sz="2000" dirty="0"/>
              <a:t>package </a:t>
            </a:r>
            <a:r>
              <a:rPr lang="en-US" sz="2000" dirty="0" err="1"/>
              <a:t>com.example.transaction.config</a:t>
            </a:r>
            <a:r>
              <a:rPr lang="en-US" sz="2000" dirty="0"/>
              <a:t>;</a:t>
            </a:r>
          </a:p>
          <a:p>
            <a:pPr marL="0" indent="0">
              <a:buNone/>
            </a:pPr>
            <a:r>
              <a:rPr lang="en-US" sz="2000" dirty="0"/>
              <a:t>import </a:t>
            </a:r>
            <a:r>
              <a:rPr lang="en-US" sz="2000" dirty="0" err="1"/>
              <a:t>org.springframework.context.annotation.Configuration</a:t>
            </a:r>
            <a:r>
              <a:rPr lang="en-US" sz="2000" dirty="0"/>
              <a:t>;</a:t>
            </a:r>
          </a:p>
          <a:p>
            <a:pPr marL="0" indent="0">
              <a:buNone/>
            </a:pPr>
            <a:r>
              <a:rPr lang="en-US" sz="2000" dirty="0"/>
              <a:t>@Configuration</a:t>
            </a:r>
          </a:p>
          <a:p>
            <a:pPr marL="0" indent="0">
              <a:buNone/>
            </a:pPr>
            <a:r>
              <a:rPr lang="en-US" sz="2000" dirty="0"/>
              <a:t>public class </a:t>
            </a:r>
            <a:r>
              <a:rPr lang="en-US" sz="2000" dirty="0" err="1"/>
              <a:t>KafkaProducerConfig</a:t>
            </a:r>
            <a:r>
              <a:rPr lang="en-US" sz="2000" dirty="0"/>
              <a:t> {</a:t>
            </a:r>
          </a:p>
          <a:p>
            <a:pPr marL="0" indent="0">
              <a:buNone/>
            </a:pPr>
            <a:r>
              <a:rPr lang="en-US" sz="2000" dirty="0"/>
              <a:t>}</a:t>
            </a:r>
          </a:p>
          <a:p>
            <a:pPr marL="0" indent="0">
              <a:buNone/>
            </a:pPr>
            <a:r>
              <a:rPr lang="en-US" sz="2000" dirty="0"/>
              <a:t>(Spring Boot auto config is enough)</a:t>
            </a:r>
            <a:endParaRPr lang="en-IN" sz="2000" b="1" dirty="0"/>
          </a:p>
        </p:txBody>
      </p:sp>
    </p:spTree>
    <p:extLst>
      <p:ext uri="{BB962C8B-B14F-4D97-AF65-F5344CB8AC3E}">
        <p14:creationId xmlns:p14="http://schemas.microsoft.com/office/powerpoint/2010/main" val="78714751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8C667-237F-6C00-DA7D-98837CB7BF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D9A43C-272D-C9E2-318E-97285BBDDFB2}"/>
              </a:ext>
            </a:extLst>
          </p:cNvPr>
          <p:cNvSpPr>
            <a:spLocks noGrp="1"/>
          </p:cNvSpPr>
          <p:nvPr>
            <p:ph type="title"/>
          </p:nvPr>
        </p:nvSpPr>
        <p:spPr/>
        <p:txBody>
          <a:bodyPr/>
          <a:lstStyle/>
          <a:p>
            <a:r>
              <a:rPr lang="en-IN" dirty="0"/>
              <a:t>Kafka Producer Implementation</a:t>
            </a:r>
          </a:p>
        </p:txBody>
      </p:sp>
      <p:sp>
        <p:nvSpPr>
          <p:cNvPr id="3" name="Content Placeholder 2">
            <a:extLst>
              <a:ext uri="{FF2B5EF4-FFF2-40B4-BE49-F238E27FC236}">
                <a16:creationId xmlns:a16="http://schemas.microsoft.com/office/drawing/2014/main" id="{220AF74C-E03A-1A47-D2FF-6C3C4B964F68}"/>
              </a:ext>
            </a:extLst>
          </p:cNvPr>
          <p:cNvSpPr>
            <a:spLocks noGrp="1"/>
          </p:cNvSpPr>
          <p:nvPr>
            <p:ph idx="1"/>
          </p:nvPr>
        </p:nvSpPr>
        <p:spPr/>
        <p:txBody>
          <a:bodyPr>
            <a:normAutofit fontScale="55000" lnSpcReduction="20000"/>
          </a:bodyPr>
          <a:lstStyle/>
          <a:p>
            <a:pPr marL="0" indent="0">
              <a:buNone/>
            </a:pPr>
            <a:r>
              <a:rPr lang="en-US" sz="2000" b="1" dirty="0"/>
              <a:t>Step 5 Create Producer Service</a:t>
            </a:r>
          </a:p>
          <a:p>
            <a:pPr marL="0" indent="0">
              <a:buNone/>
            </a:pPr>
            <a:r>
              <a:rPr lang="en-IN" sz="2000" dirty="0"/>
              <a:t>package </a:t>
            </a:r>
            <a:r>
              <a:rPr lang="en-IN" sz="2000" dirty="0" err="1"/>
              <a:t>com.example.transaction.service</a:t>
            </a:r>
            <a:r>
              <a:rPr lang="en-IN" sz="2000" dirty="0"/>
              <a:t>;</a:t>
            </a:r>
          </a:p>
          <a:p>
            <a:pPr marL="0" indent="0">
              <a:buNone/>
            </a:pPr>
            <a:endParaRPr lang="en-IN" sz="2000" dirty="0"/>
          </a:p>
          <a:p>
            <a:pPr marL="0" indent="0">
              <a:buNone/>
            </a:pPr>
            <a:r>
              <a:rPr lang="en-IN" sz="2000" dirty="0"/>
              <a:t>import </a:t>
            </a:r>
            <a:r>
              <a:rPr lang="en-IN" sz="2000" dirty="0" err="1"/>
              <a:t>com.example.transaction.event.TransactionEvent</a:t>
            </a:r>
            <a:r>
              <a:rPr lang="en-IN" sz="2000" dirty="0"/>
              <a:t>;</a:t>
            </a:r>
          </a:p>
          <a:p>
            <a:pPr marL="0" indent="0">
              <a:buNone/>
            </a:pPr>
            <a:r>
              <a:rPr lang="en-IN" sz="2000" dirty="0"/>
              <a:t>import </a:t>
            </a:r>
            <a:r>
              <a:rPr lang="en-IN" sz="2000" dirty="0" err="1"/>
              <a:t>org.springframework.kafka.core.KafkaTemplate</a:t>
            </a:r>
            <a:r>
              <a:rPr lang="en-IN" sz="2000" dirty="0"/>
              <a:t>;</a:t>
            </a:r>
          </a:p>
          <a:p>
            <a:pPr marL="0" indent="0">
              <a:buNone/>
            </a:pPr>
            <a:r>
              <a:rPr lang="en-IN" sz="2000" dirty="0"/>
              <a:t>import </a:t>
            </a:r>
            <a:r>
              <a:rPr lang="en-IN" sz="2000" dirty="0" err="1"/>
              <a:t>org.springframework.stereotype.Service</a:t>
            </a:r>
            <a:r>
              <a:rPr lang="en-IN" sz="2000" dirty="0"/>
              <a:t>;</a:t>
            </a:r>
          </a:p>
          <a:p>
            <a:pPr marL="0" indent="0">
              <a:buNone/>
            </a:pPr>
            <a:endParaRPr lang="en-IN" sz="2000" dirty="0"/>
          </a:p>
          <a:p>
            <a:pPr marL="0" indent="0">
              <a:buNone/>
            </a:pPr>
            <a:r>
              <a:rPr lang="en-IN" sz="2000" dirty="0"/>
              <a:t>@Service</a:t>
            </a:r>
          </a:p>
          <a:p>
            <a:pPr marL="0" indent="0">
              <a:buNone/>
            </a:pPr>
            <a:r>
              <a:rPr lang="en-IN" sz="2000" dirty="0"/>
              <a:t>public class </a:t>
            </a:r>
            <a:r>
              <a:rPr lang="en-IN" sz="2000" dirty="0" err="1"/>
              <a:t>TransactionProducer</a:t>
            </a:r>
            <a:r>
              <a:rPr lang="en-IN" sz="2000" dirty="0"/>
              <a:t> {</a:t>
            </a:r>
          </a:p>
          <a:p>
            <a:pPr marL="0" indent="0">
              <a:buNone/>
            </a:pPr>
            <a:endParaRPr lang="en-IN" sz="2000" dirty="0"/>
          </a:p>
          <a:p>
            <a:pPr marL="0" indent="0">
              <a:buNone/>
            </a:pPr>
            <a:r>
              <a:rPr lang="en-IN" sz="2000" dirty="0"/>
              <a:t>    private final </a:t>
            </a:r>
            <a:r>
              <a:rPr lang="en-IN" sz="2000" dirty="0" err="1"/>
              <a:t>KafkaTemplate</a:t>
            </a:r>
            <a:r>
              <a:rPr lang="en-IN" sz="2000" dirty="0"/>
              <a:t>&lt;String, Object&gt; </a:t>
            </a:r>
            <a:r>
              <a:rPr lang="en-IN" sz="2000" dirty="0" err="1"/>
              <a:t>kafkaTemplate</a:t>
            </a:r>
            <a:r>
              <a:rPr lang="en-IN" sz="2000" dirty="0"/>
              <a:t>;</a:t>
            </a:r>
          </a:p>
          <a:p>
            <a:pPr marL="0" indent="0">
              <a:buNone/>
            </a:pPr>
            <a:endParaRPr lang="en-IN" sz="2000" dirty="0"/>
          </a:p>
          <a:p>
            <a:pPr marL="0" indent="0">
              <a:buNone/>
            </a:pPr>
            <a:r>
              <a:rPr lang="en-IN" sz="2000" dirty="0"/>
              <a:t>    public </a:t>
            </a:r>
            <a:r>
              <a:rPr lang="en-IN" sz="2000" dirty="0" err="1"/>
              <a:t>TransactionProducer</a:t>
            </a:r>
            <a:r>
              <a:rPr lang="en-IN" sz="2000" dirty="0"/>
              <a:t>(</a:t>
            </a:r>
            <a:r>
              <a:rPr lang="en-IN" sz="2000" dirty="0" err="1"/>
              <a:t>KafkaTemplate</a:t>
            </a:r>
            <a:r>
              <a:rPr lang="en-IN" sz="2000" dirty="0"/>
              <a:t>&lt;String, Object&gt; </a:t>
            </a:r>
            <a:r>
              <a:rPr lang="en-IN" sz="2000" dirty="0" err="1"/>
              <a:t>kafkaTemplate</a:t>
            </a:r>
            <a:r>
              <a:rPr lang="en-IN" sz="2000" dirty="0"/>
              <a:t>) {</a:t>
            </a:r>
          </a:p>
          <a:p>
            <a:pPr marL="0" indent="0">
              <a:buNone/>
            </a:pPr>
            <a:r>
              <a:rPr lang="en-IN" sz="2000" dirty="0"/>
              <a:t>        </a:t>
            </a:r>
            <a:r>
              <a:rPr lang="en-IN" sz="2000" dirty="0" err="1"/>
              <a:t>this.kafkaTemplate</a:t>
            </a:r>
            <a:r>
              <a:rPr lang="en-IN" sz="2000" dirty="0"/>
              <a:t> = </a:t>
            </a:r>
            <a:r>
              <a:rPr lang="en-IN" sz="2000" dirty="0" err="1"/>
              <a:t>kafkaTemplate</a:t>
            </a:r>
            <a:r>
              <a:rPr lang="en-IN" sz="2000" dirty="0"/>
              <a:t>;</a:t>
            </a:r>
          </a:p>
          <a:p>
            <a:pPr marL="0" indent="0">
              <a:buNone/>
            </a:pPr>
            <a:r>
              <a:rPr lang="en-IN" sz="2000" dirty="0"/>
              <a:t>    }</a:t>
            </a:r>
          </a:p>
          <a:p>
            <a:pPr marL="0" indent="0">
              <a:buNone/>
            </a:pPr>
            <a:endParaRPr lang="en-IN" sz="2000" dirty="0"/>
          </a:p>
          <a:p>
            <a:pPr marL="0" indent="0">
              <a:buNone/>
            </a:pPr>
            <a:r>
              <a:rPr lang="en-IN" sz="2000" dirty="0"/>
              <a:t>    public void </a:t>
            </a:r>
            <a:r>
              <a:rPr lang="en-IN" sz="2000" dirty="0" err="1"/>
              <a:t>publishEvent</a:t>
            </a:r>
            <a:r>
              <a:rPr lang="en-IN" sz="2000" dirty="0"/>
              <a:t>(</a:t>
            </a:r>
            <a:r>
              <a:rPr lang="en-IN" sz="2000" dirty="0" err="1"/>
              <a:t>TransactionEvent</a:t>
            </a:r>
            <a:r>
              <a:rPr lang="en-IN" sz="2000" dirty="0"/>
              <a:t> event) {</a:t>
            </a:r>
          </a:p>
          <a:p>
            <a:pPr marL="0" indent="0">
              <a:buNone/>
            </a:pPr>
            <a:endParaRPr lang="en-IN" sz="2000" dirty="0"/>
          </a:p>
          <a:p>
            <a:pPr marL="0" indent="0">
              <a:buNone/>
            </a:pPr>
            <a:r>
              <a:rPr lang="en-IN" sz="2000" dirty="0"/>
              <a:t>        </a:t>
            </a:r>
            <a:r>
              <a:rPr lang="en-IN" sz="2000" dirty="0" err="1"/>
              <a:t>kafkaTemplate.send</a:t>
            </a:r>
            <a:r>
              <a:rPr lang="en-IN" sz="2000" dirty="0"/>
              <a:t>("transaction-topic", event);</a:t>
            </a:r>
          </a:p>
          <a:p>
            <a:pPr marL="0" indent="0">
              <a:buNone/>
            </a:pPr>
            <a:endParaRPr lang="en-IN" sz="2000" dirty="0"/>
          </a:p>
          <a:p>
            <a:pPr marL="0" indent="0">
              <a:buNone/>
            </a:pPr>
            <a:r>
              <a:rPr lang="en-IN" sz="2000" dirty="0"/>
              <a:t>        </a:t>
            </a:r>
            <a:r>
              <a:rPr lang="en-IN" sz="2000" dirty="0" err="1"/>
              <a:t>System.out.println</a:t>
            </a:r>
            <a:r>
              <a:rPr lang="en-IN" sz="2000" dirty="0"/>
              <a:t>("Event published: " + event);</a:t>
            </a:r>
          </a:p>
          <a:p>
            <a:pPr marL="0" indent="0">
              <a:buNone/>
            </a:pPr>
            <a:r>
              <a:rPr lang="en-IN" sz="2000" dirty="0"/>
              <a:t>    }</a:t>
            </a:r>
          </a:p>
          <a:p>
            <a:pPr marL="0" indent="0">
              <a:buNone/>
            </a:pPr>
            <a:r>
              <a:rPr lang="en-IN" sz="2000" dirty="0"/>
              <a:t>}</a:t>
            </a:r>
          </a:p>
          <a:p>
            <a:pPr marL="0" indent="0">
              <a:buNone/>
            </a:pPr>
            <a:endParaRPr lang="en-IN" sz="2000" b="1" dirty="0"/>
          </a:p>
        </p:txBody>
      </p:sp>
    </p:spTree>
    <p:extLst>
      <p:ext uri="{BB962C8B-B14F-4D97-AF65-F5344CB8AC3E}">
        <p14:creationId xmlns:p14="http://schemas.microsoft.com/office/powerpoint/2010/main" val="322600824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254C8-3486-A049-C8C1-C224B5B1BF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A5E05A-83EB-74B2-3D1E-A60BA4366315}"/>
              </a:ext>
            </a:extLst>
          </p:cNvPr>
          <p:cNvSpPr>
            <a:spLocks noGrp="1"/>
          </p:cNvSpPr>
          <p:nvPr>
            <p:ph type="title"/>
          </p:nvPr>
        </p:nvSpPr>
        <p:spPr/>
        <p:txBody>
          <a:bodyPr/>
          <a:lstStyle/>
          <a:p>
            <a:r>
              <a:rPr lang="en-IN" dirty="0"/>
              <a:t>Kafka Producer Implementation</a:t>
            </a:r>
          </a:p>
        </p:txBody>
      </p:sp>
      <p:sp>
        <p:nvSpPr>
          <p:cNvPr id="3" name="Content Placeholder 2">
            <a:extLst>
              <a:ext uri="{FF2B5EF4-FFF2-40B4-BE49-F238E27FC236}">
                <a16:creationId xmlns:a16="http://schemas.microsoft.com/office/drawing/2014/main" id="{A6E2735D-52E4-036A-BFCC-B5B999F88429}"/>
              </a:ext>
            </a:extLst>
          </p:cNvPr>
          <p:cNvSpPr>
            <a:spLocks noGrp="1"/>
          </p:cNvSpPr>
          <p:nvPr>
            <p:ph idx="1"/>
          </p:nvPr>
        </p:nvSpPr>
        <p:spPr/>
        <p:txBody>
          <a:bodyPr>
            <a:normAutofit fontScale="32500" lnSpcReduction="20000"/>
          </a:bodyPr>
          <a:lstStyle/>
          <a:p>
            <a:pPr marL="0" indent="0">
              <a:buNone/>
            </a:pPr>
            <a:r>
              <a:rPr lang="en-IN" sz="2000" dirty="0"/>
              <a:t>Step 6 Create Controller</a:t>
            </a:r>
          </a:p>
          <a:p>
            <a:pPr marL="0" indent="0">
              <a:buNone/>
            </a:pPr>
            <a:r>
              <a:rPr lang="en-US" sz="2000" b="1" dirty="0"/>
              <a:t>package </a:t>
            </a:r>
            <a:r>
              <a:rPr lang="en-US" sz="2000" b="1" dirty="0" err="1"/>
              <a:t>com.example.transaction.controller</a:t>
            </a:r>
            <a:r>
              <a:rPr lang="en-US" sz="2000" b="1" dirty="0"/>
              <a:t>;</a:t>
            </a:r>
          </a:p>
          <a:p>
            <a:pPr marL="0" indent="0">
              <a:buNone/>
            </a:pPr>
            <a:endParaRPr lang="en-US" sz="2000" b="1" dirty="0"/>
          </a:p>
          <a:p>
            <a:pPr marL="0" indent="0">
              <a:buNone/>
            </a:pPr>
            <a:r>
              <a:rPr lang="en-US" sz="2000" b="1" dirty="0"/>
              <a:t>import </a:t>
            </a:r>
            <a:r>
              <a:rPr lang="en-US" sz="2000" b="1" dirty="0" err="1"/>
              <a:t>com.example.transaction.event.TransactionEvent</a:t>
            </a:r>
            <a:r>
              <a:rPr lang="en-US" sz="2000" b="1" dirty="0"/>
              <a:t>;</a:t>
            </a:r>
          </a:p>
          <a:p>
            <a:pPr marL="0" indent="0">
              <a:buNone/>
            </a:pPr>
            <a:r>
              <a:rPr lang="en-US" sz="2000" b="1" dirty="0"/>
              <a:t>import </a:t>
            </a:r>
            <a:r>
              <a:rPr lang="en-US" sz="2000" b="1" dirty="0" err="1"/>
              <a:t>com.example.transaction.service.TransactionProducer</a:t>
            </a:r>
            <a:r>
              <a:rPr lang="en-US" sz="2000" b="1" dirty="0"/>
              <a:t>;</a:t>
            </a:r>
          </a:p>
          <a:p>
            <a:pPr marL="0" indent="0">
              <a:buNone/>
            </a:pPr>
            <a:r>
              <a:rPr lang="en-US" sz="2000" b="1" dirty="0"/>
              <a:t>import </a:t>
            </a:r>
            <a:r>
              <a:rPr lang="en-US" sz="2000" b="1" dirty="0" err="1"/>
              <a:t>org.springframework.web.bind.annotation</a:t>
            </a:r>
            <a:r>
              <a:rPr lang="en-US" sz="2000" b="1" dirty="0"/>
              <a:t>.*;</a:t>
            </a:r>
          </a:p>
          <a:p>
            <a:pPr marL="0" indent="0">
              <a:buNone/>
            </a:pPr>
            <a:endParaRPr lang="en-US" sz="2000" b="1" dirty="0"/>
          </a:p>
          <a:p>
            <a:pPr marL="0" indent="0">
              <a:buNone/>
            </a:pPr>
            <a:r>
              <a:rPr lang="en-US" sz="2000" b="1" dirty="0"/>
              <a:t>@RestController</a:t>
            </a:r>
          </a:p>
          <a:p>
            <a:pPr marL="0" indent="0">
              <a:buNone/>
            </a:pPr>
            <a:r>
              <a:rPr lang="en-US" sz="2000" b="1" dirty="0"/>
              <a:t>@RequestMapping("/transactions")</a:t>
            </a:r>
          </a:p>
          <a:p>
            <a:pPr marL="0" indent="0">
              <a:buNone/>
            </a:pPr>
            <a:r>
              <a:rPr lang="en-US" sz="2000" b="1" dirty="0"/>
              <a:t>public class </a:t>
            </a:r>
            <a:r>
              <a:rPr lang="en-US" sz="2000" b="1" dirty="0" err="1"/>
              <a:t>TransactionController</a:t>
            </a:r>
            <a:r>
              <a:rPr lang="en-US" sz="2000" b="1" dirty="0"/>
              <a:t> {</a:t>
            </a:r>
          </a:p>
          <a:p>
            <a:pPr marL="0" indent="0">
              <a:buNone/>
            </a:pPr>
            <a:endParaRPr lang="en-US" sz="2000" b="1" dirty="0"/>
          </a:p>
          <a:p>
            <a:pPr marL="0" indent="0">
              <a:buNone/>
            </a:pPr>
            <a:r>
              <a:rPr lang="en-US" sz="2000" b="1" dirty="0"/>
              <a:t>    private final </a:t>
            </a:r>
            <a:r>
              <a:rPr lang="en-US" sz="2000" b="1" dirty="0" err="1"/>
              <a:t>TransactionProducer</a:t>
            </a:r>
            <a:r>
              <a:rPr lang="en-US" sz="2000" b="1" dirty="0"/>
              <a:t> producer;</a:t>
            </a:r>
          </a:p>
          <a:p>
            <a:pPr marL="0" indent="0">
              <a:buNone/>
            </a:pPr>
            <a:endParaRPr lang="en-US" sz="2000" b="1" dirty="0"/>
          </a:p>
          <a:p>
            <a:pPr marL="0" indent="0">
              <a:buNone/>
            </a:pPr>
            <a:r>
              <a:rPr lang="en-US" sz="2000" b="1" dirty="0"/>
              <a:t>    public </a:t>
            </a:r>
            <a:r>
              <a:rPr lang="en-US" sz="2000" b="1" dirty="0" err="1"/>
              <a:t>TransactionController</a:t>
            </a:r>
            <a:r>
              <a:rPr lang="en-US" sz="2000" b="1" dirty="0"/>
              <a:t>(</a:t>
            </a:r>
            <a:r>
              <a:rPr lang="en-US" sz="2000" b="1" dirty="0" err="1"/>
              <a:t>TransactionProducer</a:t>
            </a:r>
            <a:r>
              <a:rPr lang="en-US" sz="2000" b="1" dirty="0"/>
              <a:t> producer) {</a:t>
            </a:r>
          </a:p>
          <a:p>
            <a:pPr marL="0" indent="0">
              <a:buNone/>
            </a:pPr>
            <a:r>
              <a:rPr lang="en-US" sz="2000" b="1" dirty="0"/>
              <a:t>        </a:t>
            </a:r>
            <a:r>
              <a:rPr lang="en-US" sz="2000" b="1" dirty="0" err="1"/>
              <a:t>this.producer</a:t>
            </a:r>
            <a:r>
              <a:rPr lang="en-US" sz="2000" b="1" dirty="0"/>
              <a:t> = producer;</a:t>
            </a:r>
          </a:p>
          <a:p>
            <a:pPr marL="0" indent="0">
              <a:buNone/>
            </a:pPr>
            <a:r>
              <a:rPr lang="en-US" sz="2000" b="1" dirty="0"/>
              <a:t>    }</a:t>
            </a:r>
          </a:p>
          <a:p>
            <a:pPr marL="0" indent="0">
              <a:buNone/>
            </a:pPr>
            <a:endParaRPr lang="en-US" sz="2000" b="1" dirty="0"/>
          </a:p>
          <a:p>
            <a:pPr marL="0" indent="0">
              <a:buNone/>
            </a:pPr>
            <a:r>
              <a:rPr lang="en-US" sz="2000" b="1" dirty="0"/>
              <a:t>    @PostMapping</a:t>
            </a:r>
          </a:p>
          <a:p>
            <a:pPr marL="0" indent="0">
              <a:buNone/>
            </a:pPr>
            <a:r>
              <a:rPr lang="en-US" sz="2000" b="1" dirty="0"/>
              <a:t>    public String </a:t>
            </a:r>
            <a:r>
              <a:rPr lang="en-US" sz="2000" b="1" dirty="0" err="1"/>
              <a:t>createTransaction</a:t>
            </a:r>
            <a:r>
              <a:rPr lang="en-US" sz="2000" b="1" dirty="0"/>
              <a:t>() {</a:t>
            </a:r>
          </a:p>
          <a:p>
            <a:pPr marL="0" indent="0">
              <a:buNone/>
            </a:pPr>
            <a:endParaRPr lang="en-US" sz="2000" b="1" dirty="0"/>
          </a:p>
          <a:p>
            <a:pPr marL="0" indent="0">
              <a:buNone/>
            </a:pPr>
            <a:r>
              <a:rPr lang="en-US" sz="2000" b="1" dirty="0"/>
              <a:t>        </a:t>
            </a:r>
            <a:r>
              <a:rPr lang="en-US" sz="2000" b="1" dirty="0" err="1"/>
              <a:t>TransactionEvent</a:t>
            </a:r>
            <a:r>
              <a:rPr lang="en-US" sz="2000" b="1" dirty="0"/>
              <a:t> event =</a:t>
            </a:r>
          </a:p>
          <a:p>
            <a:pPr marL="0" indent="0">
              <a:buNone/>
            </a:pPr>
            <a:r>
              <a:rPr lang="en-US" sz="2000" b="1" dirty="0"/>
              <a:t>                new </a:t>
            </a:r>
            <a:r>
              <a:rPr lang="en-US" sz="2000" b="1" dirty="0" err="1"/>
              <a:t>TransactionEvent</a:t>
            </a:r>
            <a:r>
              <a:rPr lang="en-US" sz="2000" b="1" dirty="0"/>
              <a:t>(</a:t>
            </a:r>
          </a:p>
          <a:p>
            <a:pPr marL="0" indent="0">
              <a:buNone/>
            </a:pPr>
            <a:r>
              <a:rPr lang="en-US" sz="2000" b="1" dirty="0"/>
              <a:t>                        "TXN123",</a:t>
            </a:r>
          </a:p>
          <a:p>
            <a:pPr marL="0" indent="0">
              <a:buNone/>
            </a:pPr>
            <a:r>
              <a:rPr lang="en-US" sz="2000" b="1" dirty="0"/>
              <a:t>                        5000,</a:t>
            </a:r>
          </a:p>
          <a:p>
            <a:pPr marL="0" indent="0">
              <a:buNone/>
            </a:pPr>
            <a:r>
              <a:rPr lang="en-US" sz="2000" b="1" dirty="0"/>
              <a:t>                        "SUCCESS"</a:t>
            </a:r>
          </a:p>
          <a:p>
            <a:pPr marL="0" indent="0">
              <a:buNone/>
            </a:pPr>
            <a:r>
              <a:rPr lang="en-US" sz="2000" b="1" dirty="0"/>
              <a:t>                );</a:t>
            </a:r>
          </a:p>
          <a:p>
            <a:pPr marL="0" indent="0">
              <a:buNone/>
            </a:pPr>
            <a:endParaRPr lang="en-US" sz="2000" b="1" dirty="0"/>
          </a:p>
          <a:p>
            <a:pPr marL="0" indent="0">
              <a:buNone/>
            </a:pPr>
            <a:r>
              <a:rPr lang="en-US" sz="2000" b="1" dirty="0"/>
              <a:t>        </a:t>
            </a:r>
            <a:r>
              <a:rPr lang="en-US" sz="2000" b="1" dirty="0" err="1"/>
              <a:t>producer.publishEvent</a:t>
            </a:r>
            <a:r>
              <a:rPr lang="en-US" sz="2000" b="1" dirty="0"/>
              <a:t>(event);</a:t>
            </a:r>
          </a:p>
          <a:p>
            <a:pPr marL="0" indent="0">
              <a:buNone/>
            </a:pPr>
            <a:endParaRPr lang="en-US" sz="2000" b="1" dirty="0"/>
          </a:p>
          <a:p>
            <a:pPr marL="0" indent="0">
              <a:buNone/>
            </a:pPr>
            <a:r>
              <a:rPr lang="en-US" sz="2000" b="1" dirty="0"/>
              <a:t>        return "Transaction completed";</a:t>
            </a:r>
          </a:p>
          <a:p>
            <a:pPr marL="0" indent="0">
              <a:buNone/>
            </a:pPr>
            <a:r>
              <a:rPr lang="en-US" sz="2000" b="1" dirty="0"/>
              <a:t>    }</a:t>
            </a:r>
          </a:p>
          <a:p>
            <a:pPr marL="0" indent="0">
              <a:buNone/>
            </a:pPr>
            <a:r>
              <a:rPr lang="en-US" sz="2000" b="1" dirty="0"/>
              <a:t>}</a:t>
            </a:r>
          </a:p>
          <a:p>
            <a:pPr marL="0" indent="0">
              <a:buNone/>
            </a:pPr>
            <a:r>
              <a:rPr lang="en-IN" sz="2000" b="1" dirty="0"/>
              <a:t>Run Transaction Service</a:t>
            </a:r>
          </a:p>
          <a:p>
            <a:pPr marL="0" indent="0">
              <a:buNone/>
            </a:pPr>
            <a:r>
              <a:rPr lang="en-IN" sz="2000" b="1" dirty="0" err="1"/>
              <a:t>mvn</a:t>
            </a:r>
            <a:r>
              <a:rPr lang="en-IN" sz="2000" b="1" dirty="0"/>
              <a:t> </a:t>
            </a:r>
            <a:r>
              <a:rPr lang="en-IN" sz="2000" b="1" dirty="0" err="1"/>
              <a:t>spring-boot:run</a:t>
            </a:r>
            <a:endParaRPr lang="en-IN" sz="2000" b="1" dirty="0"/>
          </a:p>
          <a:p>
            <a:pPr marL="0" indent="0">
              <a:buNone/>
            </a:pPr>
            <a:r>
              <a:rPr lang="en-IN" sz="2000" dirty="0"/>
              <a:t>Test:</a:t>
            </a:r>
          </a:p>
          <a:p>
            <a:pPr marL="0" indent="0">
              <a:buNone/>
            </a:pPr>
            <a:r>
              <a:rPr lang="nn-NO" sz="2000" b="1" dirty="0"/>
              <a:t>POST http://localhost:8081/transactions</a:t>
            </a:r>
          </a:p>
          <a:p>
            <a:pPr marL="0" indent="0">
              <a:buNone/>
            </a:pPr>
            <a:r>
              <a:rPr lang="en-IN" sz="2000" dirty="0"/>
              <a:t>Output</a:t>
            </a:r>
          </a:p>
          <a:p>
            <a:pPr marL="0" indent="0">
              <a:buNone/>
            </a:pPr>
            <a:r>
              <a:rPr lang="en-US" sz="2000" b="1" dirty="0"/>
              <a:t>Event published: </a:t>
            </a:r>
            <a:r>
              <a:rPr lang="en-US" sz="2000" b="1" dirty="0" err="1"/>
              <a:t>TransactionEvent</a:t>
            </a:r>
            <a:r>
              <a:rPr lang="en-US" sz="2000" b="1" dirty="0"/>
              <a:t>(</a:t>
            </a:r>
            <a:r>
              <a:rPr lang="en-US" sz="2000" b="1" dirty="0" err="1"/>
              <a:t>transactionId</a:t>
            </a:r>
            <a:r>
              <a:rPr lang="en-US" sz="2000" b="1" dirty="0"/>
              <a:t>=TXN123, amount=5000, status=SUCCESS)</a:t>
            </a:r>
          </a:p>
          <a:p>
            <a:pPr marL="0" indent="0">
              <a:buNone/>
            </a:pPr>
            <a:endParaRPr lang="en-IN" sz="2000" b="1" dirty="0"/>
          </a:p>
        </p:txBody>
      </p:sp>
    </p:spTree>
    <p:extLst>
      <p:ext uri="{BB962C8B-B14F-4D97-AF65-F5344CB8AC3E}">
        <p14:creationId xmlns:p14="http://schemas.microsoft.com/office/powerpoint/2010/main" val="216500297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554B0-3FBC-F57D-8382-32783869FB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1DA541-2D71-C1D8-AC28-5F96F1E27437}"/>
              </a:ext>
            </a:extLst>
          </p:cNvPr>
          <p:cNvSpPr>
            <a:spLocks noGrp="1"/>
          </p:cNvSpPr>
          <p:nvPr>
            <p:ph type="title"/>
          </p:nvPr>
        </p:nvSpPr>
        <p:spPr/>
        <p:txBody>
          <a:bodyPr/>
          <a:lstStyle/>
          <a:p>
            <a:r>
              <a:rPr lang="en-IN" dirty="0"/>
              <a:t>Kafka Consumer Implementation</a:t>
            </a:r>
          </a:p>
        </p:txBody>
      </p:sp>
      <p:sp>
        <p:nvSpPr>
          <p:cNvPr id="3" name="Content Placeholder 2">
            <a:extLst>
              <a:ext uri="{FF2B5EF4-FFF2-40B4-BE49-F238E27FC236}">
                <a16:creationId xmlns:a16="http://schemas.microsoft.com/office/drawing/2014/main" id="{FA7C7623-86D7-B461-15E2-C5F24D8BBFAF}"/>
              </a:ext>
            </a:extLst>
          </p:cNvPr>
          <p:cNvSpPr>
            <a:spLocks noGrp="1"/>
          </p:cNvSpPr>
          <p:nvPr>
            <p:ph idx="1"/>
          </p:nvPr>
        </p:nvSpPr>
        <p:spPr/>
        <p:txBody>
          <a:bodyPr>
            <a:normAutofit/>
          </a:bodyPr>
          <a:lstStyle/>
          <a:p>
            <a:pPr marL="0" indent="0">
              <a:buNone/>
            </a:pPr>
            <a:r>
              <a:rPr lang="en-US" sz="2000" b="1" dirty="0"/>
              <a:t>Create Notification Service</a:t>
            </a:r>
          </a:p>
          <a:p>
            <a:pPr marL="0" indent="0">
              <a:buNone/>
            </a:pPr>
            <a:r>
              <a:rPr lang="en-US" sz="2000" b="1" dirty="0"/>
              <a:t>New Spring Boot Project</a:t>
            </a:r>
          </a:p>
          <a:p>
            <a:pPr marL="0" indent="0">
              <a:buNone/>
            </a:pPr>
            <a:r>
              <a:rPr lang="en-US" sz="2000" b="1" dirty="0"/>
              <a:t>Dependencies</a:t>
            </a:r>
            <a:r>
              <a:rPr lang="en-US" sz="2000" dirty="0"/>
              <a:t>:</a:t>
            </a:r>
          </a:p>
          <a:p>
            <a:pPr marL="400050" lvl="1" indent="0">
              <a:buNone/>
            </a:pPr>
            <a:r>
              <a:rPr lang="en-US" sz="1600" dirty="0"/>
              <a:t>• Spring Web</a:t>
            </a:r>
            <a:br>
              <a:rPr lang="en-US" sz="1600" dirty="0"/>
            </a:br>
            <a:r>
              <a:rPr lang="en-US" sz="1600" dirty="0"/>
              <a:t>• Spring Kafka</a:t>
            </a:r>
            <a:br>
              <a:rPr lang="en-US" sz="1600" dirty="0"/>
            </a:br>
            <a:r>
              <a:rPr lang="en-US" sz="1600" dirty="0"/>
              <a:t>• Lombok</a:t>
            </a:r>
          </a:p>
          <a:p>
            <a:pPr marL="0" indent="0">
              <a:buNone/>
            </a:pPr>
            <a:r>
              <a:rPr lang="en-US" sz="2000" b="1" dirty="0" err="1"/>
              <a:t>application.yml</a:t>
            </a:r>
            <a:endParaRPr lang="en-US" sz="2000" b="1" dirty="0"/>
          </a:p>
          <a:p>
            <a:pPr marL="0" indent="0">
              <a:buNone/>
            </a:pPr>
            <a:r>
              <a:rPr lang="en-US" sz="1300" dirty="0"/>
              <a:t>server:</a:t>
            </a:r>
          </a:p>
          <a:p>
            <a:pPr marL="0" indent="0">
              <a:buNone/>
            </a:pPr>
            <a:r>
              <a:rPr lang="en-US" sz="1300" dirty="0"/>
              <a:t>  port: 8082</a:t>
            </a:r>
          </a:p>
          <a:p>
            <a:pPr marL="0" indent="0">
              <a:buNone/>
            </a:pPr>
            <a:endParaRPr lang="en-US" sz="1300" dirty="0"/>
          </a:p>
          <a:p>
            <a:pPr marL="0" indent="0">
              <a:buNone/>
            </a:pPr>
            <a:r>
              <a:rPr lang="en-US" sz="1300" dirty="0"/>
              <a:t>spring:</a:t>
            </a:r>
          </a:p>
          <a:p>
            <a:pPr marL="0" indent="0">
              <a:buNone/>
            </a:pPr>
            <a:r>
              <a:rPr lang="en-US" sz="1300" dirty="0"/>
              <a:t>  </a:t>
            </a:r>
            <a:r>
              <a:rPr lang="en-US" sz="1300" dirty="0" err="1"/>
              <a:t>kafka</a:t>
            </a:r>
            <a:r>
              <a:rPr lang="en-US" sz="1300" dirty="0"/>
              <a:t>:</a:t>
            </a:r>
          </a:p>
          <a:p>
            <a:pPr marL="0" indent="0">
              <a:buNone/>
            </a:pPr>
            <a:r>
              <a:rPr lang="en-US" sz="1300" dirty="0"/>
              <a:t>    bootstrap-servers: localhost:9092</a:t>
            </a:r>
          </a:p>
          <a:p>
            <a:pPr marL="0" indent="0">
              <a:buNone/>
            </a:pPr>
            <a:r>
              <a:rPr lang="en-US" sz="1300" dirty="0"/>
              <a:t>    consumer:</a:t>
            </a:r>
          </a:p>
          <a:p>
            <a:pPr marL="0" indent="0">
              <a:buNone/>
            </a:pPr>
            <a:r>
              <a:rPr lang="en-US" sz="1300" dirty="0"/>
              <a:t>      group-id: notification-group</a:t>
            </a:r>
          </a:p>
          <a:p>
            <a:pPr marL="0" indent="0">
              <a:buNone/>
            </a:pPr>
            <a:r>
              <a:rPr lang="en-US" sz="1300" dirty="0"/>
              <a:t>      auto-offset-reset: earliest</a:t>
            </a:r>
          </a:p>
          <a:p>
            <a:pPr marL="0" indent="0">
              <a:buNone/>
            </a:pPr>
            <a:endParaRPr lang="en-US" sz="1300" dirty="0"/>
          </a:p>
          <a:p>
            <a:pPr marL="0" indent="0">
              <a:buNone/>
            </a:pPr>
            <a:endParaRPr lang="en-US" sz="2000" b="1" dirty="0"/>
          </a:p>
          <a:p>
            <a:pPr marL="0" indent="0">
              <a:buNone/>
            </a:pPr>
            <a:endParaRPr lang="en-IN" sz="2000" b="1" dirty="0"/>
          </a:p>
        </p:txBody>
      </p:sp>
    </p:spTree>
    <p:extLst>
      <p:ext uri="{BB962C8B-B14F-4D97-AF65-F5344CB8AC3E}">
        <p14:creationId xmlns:p14="http://schemas.microsoft.com/office/powerpoint/2010/main" val="120238234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16E3E-3285-8E06-E574-442C5B40E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5C65BB-9183-D44C-9000-4CF015FEEE92}"/>
              </a:ext>
            </a:extLst>
          </p:cNvPr>
          <p:cNvSpPr>
            <a:spLocks noGrp="1"/>
          </p:cNvSpPr>
          <p:nvPr>
            <p:ph type="title"/>
          </p:nvPr>
        </p:nvSpPr>
        <p:spPr/>
        <p:txBody>
          <a:bodyPr/>
          <a:lstStyle/>
          <a:p>
            <a:r>
              <a:rPr lang="en-IN" dirty="0"/>
              <a:t>Kafka Consumer Implementation</a:t>
            </a:r>
          </a:p>
        </p:txBody>
      </p:sp>
      <p:sp>
        <p:nvSpPr>
          <p:cNvPr id="3" name="Content Placeholder 2">
            <a:extLst>
              <a:ext uri="{FF2B5EF4-FFF2-40B4-BE49-F238E27FC236}">
                <a16:creationId xmlns:a16="http://schemas.microsoft.com/office/drawing/2014/main" id="{933B03DC-25E1-153B-55CC-0E01D7B502DC}"/>
              </a:ext>
            </a:extLst>
          </p:cNvPr>
          <p:cNvSpPr>
            <a:spLocks noGrp="1"/>
          </p:cNvSpPr>
          <p:nvPr>
            <p:ph idx="1"/>
          </p:nvPr>
        </p:nvSpPr>
        <p:spPr/>
        <p:txBody>
          <a:bodyPr>
            <a:normAutofit fontScale="47500" lnSpcReduction="20000"/>
          </a:bodyPr>
          <a:lstStyle/>
          <a:p>
            <a:pPr marL="0" indent="0">
              <a:buNone/>
            </a:pPr>
            <a:r>
              <a:rPr lang="en-IN" sz="2000" b="1" dirty="0"/>
              <a:t>Create Consumer</a:t>
            </a:r>
          </a:p>
          <a:p>
            <a:pPr marL="0" indent="0">
              <a:buNone/>
            </a:pPr>
            <a:r>
              <a:rPr lang="en-IN" sz="2000" dirty="0"/>
              <a:t>package </a:t>
            </a:r>
            <a:r>
              <a:rPr lang="en-IN" sz="2000" dirty="0" err="1"/>
              <a:t>com.example.notification.consumer</a:t>
            </a:r>
            <a:r>
              <a:rPr lang="en-IN" sz="2000" dirty="0"/>
              <a:t>;</a:t>
            </a:r>
          </a:p>
          <a:p>
            <a:pPr marL="0" indent="0">
              <a:buNone/>
            </a:pPr>
            <a:endParaRPr lang="en-IN" sz="2000" dirty="0"/>
          </a:p>
          <a:p>
            <a:pPr marL="0" indent="0">
              <a:buNone/>
            </a:pPr>
            <a:r>
              <a:rPr lang="en-IN" sz="2000" dirty="0"/>
              <a:t>import </a:t>
            </a:r>
            <a:r>
              <a:rPr lang="en-IN" sz="2000" dirty="0" err="1"/>
              <a:t>com.example.notification.event.TransactionEvent</a:t>
            </a:r>
            <a:r>
              <a:rPr lang="en-IN" sz="2000" dirty="0"/>
              <a:t>;</a:t>
            </a:r>
          </a:p>
          <a:p>
            <a:pPr marL="0" indent="0">
              <a:buNone/>
            </a:pPr>
            <a:r>
              <a:rPr lang="en-IN" sz="2000" dirty="0"/>
              <a:t>import </a:t>
            </a:r>
            <a:r>
              <a:rPr lang="en-IN" sz="2000" dirty="0" err="1"/>
              <a:t>org.springframework.kafka.annotation.KafkaListener</a:t>
            </a:r>
            <a:r>
              <a:rPr lang="en-IN" sz="2000" dirty="0"/>
              <a:t>;</a:t>
            </a:r>
          </a:p>
          <a:p>
            <a:pPr marL="0" indent="0">
              <a:buNone/>
            </a:pPr>
            <a:r>
              <a:rPr lang="en-IN" sz="2000" dirty="0"/>
              <a:t>import </a:t>
            </a:r>
            <a:r>
              <a:rPr lang="en-IN" sz="2000" dirty="0" err="1"/>
              <a:t>org.springframework.stereotype.Service</a:t>
            </a:r>
            <a:r>
              <a:rPr lang="en-IN" sz="2000" dirty="0"/>
              <a:t>;</a:t>
            </a:r>
          </a:p>
          <a:p>
            <a:pPr marL="0" indent="0">
              <a:buNone/>
            </a:pPr>
            <a:endParaRPr lang="en-IN" sz="2000" dirty="0"/>
          </a:p>
          <a:p>
            <a:pPr marL="0" indent="0">
              <a:buNone/>
            </a:pPr>
            <a:r>
              <a:rPr lang="en-IN" sz="2000" dirty="0"/>
              <a:t>@Service</a:t>
            </a:r>
          </a:p>
          <a:p>
            <a:pPr marL="0" indent="0">
              <a:buNone/>
            </a:pPr>
            <a:r>
              <a:rPr lang="en-IN" sz="2000" dirty="0"/>
              <a:t>public class </a:t>
            </a:r>
            <a:r>
              <a:rPr lang="en-IN" sz="2000" dirty="0" err="1"/>
              <a:t>NotificationConsumer</a:t>
            </a:r>
            <a:r>
              <a:rPr lang="en-IN" sz="2000" dirty="0"/>
              <a:t> {</a:t>
            </a:r>
          </a:p>
          <a:p>
            <a:pPr marL="0" indent="0">
              <a:buNone/>
            </a:pPr>
            <a:endParaRPr lang="en-IN" sz="2000" dirty="0"/>
          </a:p>
          <a:p>
            <a:pPr marL="0" indent="0">
              <a:buNone/>
            </a:pPr>
            <a:r>
              <a:rPr lang="en-IN" sz="2000" dirty="0"/>
              <a:t>    @KafkaListener(</a:t>
            </a:r>
          </a:p>
          <a:p>
            <a:pPr marL="0" indent="0">
              <a:buNone/>
            </a:pPr>
            <a:r>
              <a:rPr lang="en-IN" sz="2000" dirty="0"/>
              <a:t>            topics = "transaction-topic",</a:t>
            </a:r>
          </a:p>
          <a:p>
            <a:pPr marL="0" indent="0">
              <a:buNone/>
            </a:pPr>
            <a:r>
              <a:rPr lang="en-IN" sz="2000" dirty="0"/>
              <a:t>            </a:t>
            </a:r>
            <a:r>
              <a:rPr lang="en-IN" sz="2000" dirty="0" err="1"/>
              <a:t>groupId</a:t>
            </a:r>
            <a:r>
              <a:rPr lang="en-IN" sz="2000" dirty="0"/>
              <a:t> = "notification-group"</a:t>
            </a:r>
          </a:p>
          <a:p>
            <a:pPr marL="0" indent="0">
              <a:buNone/>
            </a:pPr>
            <a:r>
              <a:rPr lang="en-IN" sz="2000" dirty="0"/>
              <a:t>    )</a:t>
            </a:r>
          </a:p>
          <a:p>
            <a:pPr marL="0" indent="0">
              <a:buNone/>
            </a:pPr>
            <a:r>
              <a:rPr lang="en-IN" sz="2000" dirty="0"/>
              <a:t>    public void consume(</a:t>
            </a:r>
            <a:r>
              <a:rPr lang="en-IN" sz="2000" dirty="0" err="1"/>
              <a:t>TransactionEvent</a:t>
            </a:r>
            <a:r>
              <a:rPr lang="en-IN" sz="2000" dirty="0"/>
              <a:t> event) {</a:t>
            </a:r>
          </a:p>
          <a:p>
            <a:pPr marL="0" indent="0">
              <a:buNone/>
            </a:pPr>
            <a:endParaRPr lang="en-IN" sz="2000" dirty="0"/>
          </a:p>
          <a:p>
            <a:pPr marL="0" indent="0">
              <a:buNone/>
            </a:pPr>
            <a:r>
              <a:rPr lang="en-IN" sz="2000" dirty="0"/>
              <a:t>        </a:t>
            </a:r>
            <a:r>
              <a:rPr lang="en-IN" sz="2000" dirty="0" err="1"/>
              <a:t>System.out.println</a:t>
            </a:r>
            <a:r>
              <a:rPr lang="en-IN" sz="2000" dirty="0"/>
              <a:t>("Received event: " + event);</a:t>
            </a:r>
          </a:p>
          <a:p>
            <a:pPr marL="0" indent="0">
              <a:buNone/>
            </a:pPr>
            <a:endParaRPr lang="en-IN" sz="2000" dirty="0"/>
          </a:p>
          <a:p>
            <a:pPr marL="0" indent="0">
              <a:buNone/>
            </a:pPr>
            <a:r>
              <a:rPr lang="en-IN" sz="2000" dirty="0"/>
              <a:t>        </a:t>
            </a:r>
            <a:r>
              <a:rPr lang="en-IN" sz="2000" dirty="0" err="1"/>
              <a:t>sendNotification</a:t>
            </a:r>
            <a:r>
              <a:rPr lang="en-IN" sz="2000" dirty="0"/>
              <a:t>(event);</a:t>
            </a:r>
          </a:p>
          <a:p>
            <a:pPr marL="0" indent="0">
              <a:buNone/>
            </a:pPr>
            <a:r>
              <a:rPr lang="en-IN" sz="2000" dirty="0"/>
              <a:t>    }</a:t>
            </a:r>
          </a:p>
          <a:p>
            <a:pPr marL="0" indent="0">
              <a:buNone/>
            </a:pPr>
            <a:endParaRPr lang="en-IN" sz="2000" dirty="0"/>
          </a:p>
          <a:p>
            <a:pPr marL="0" indent="0">
              <a:buNone/>
            </a:pPr>
            <a:r>
              <a:rPr lang="en-IN" sz="2000" dirty="0"/>
              <a:t>    private void </a:t>
            </a:r>
            <a:r>
              <a:rPr lang="en-IN" sz="2000" dirty="0" err="1"/>
              <a:t>sendNotification</a:t>
            </a:r>
            <a:r>
              <a:rPr lang="en-IN" sz="2000" dirty="0"/>
              <a:t>(</a:t>
            </a:r>
            <a:r>
              <a:rPr lang="en-IN" sz="2000" dirty="0" err="1"/>
              <a:t>TransactionEvent</a:t>
            </a:r>
            <a:r>
              <a:rPr lang="en-IN" sz="2000" dirty="0"/>
              <a:t> event) {</a:t>
            </a:r>
          </a:p>
          <a:p>
            <a:pPr marL="0" indent="0">
              <a:buNone/>
            </a:pPr>
            <a:endParaRPr lang="en-IN" sz="2000" dirty="0"/>
          </a:p>
          <a:p>
            <a:pPr marL="0" indent="0">
              <a:buNone/>
            </a:pPr>
            <a:r>
              <a:rPr lang="en-IN" sz="2000" dirty="0"/>
              <a:t>        </a:t>
            </a:r>
            <a:r>
              <a:rPr lang="en-IN" sz="2000" dirty="0" err="1"/>
              <a:t>System.out.println</a:t>
            </a:r>
            <a:r>
              <a:rPr lang="en-IN" sz="2000" dirty="0"/>
              <a:t>(</a:t>
            </a:r>
          </a:p>
          <a:p>
            <a:pPr marL="0" indent="0">
              <a:buNone/>
            </a:pPr>
            <a:r>
              <a:rPr lang="en-IN" sz="2000" dirty="0"/>
              <a:t>                "Sending notification for transaction: "</a:t>
            </a:r>
          </a:p>
          <a:p>
            <a:pPr marL="0" indent="0">
              <a:buNone/>
            </a:pPr>
            <a:r>
              <a:rPr lang="en-IN" sz="2000" dirty="0"/>
              <a:t>                        + </a:t>
            </a:r>
            <a:r>
              <a:rPr lang="en-IN" sz="2000" dirty="0" err="1"/>
              <a:t>event.getTransactionId</a:t>
            </a:r>
            <a:r>
              <a:rPr lang="en-IN" sz="2000" dirty="0"/>
              <a:t>()</a:t>
            </a:r>
          </a:p>
          <a:p>
            <a:pPr marL="0" indent="0">
              <a:buNone/>
            </a:pPr>
            <a:r>
              <a:rPr lang="en-IN" sz="2000" dirty="0"/>
              <a:t>        );</a:t>
            </a:r>
          </a:p>
          <a:p>
            <a:pPr marL="0" indent="0">
              <a:buNone/>
            </a:pPr>
            <a:r>
              <a:rPr lang="en-IN" sz="2000" dirty="0"/>
              <a:t>    }</a:t>
            </a:r>
          </a:p>
          <a:p>
            <a:pPr marL="0" indent="0">
              <a:buNone/>
            </a:pPr>
            <a:r>
              <a:rPr lang="en-IN" sz="2000" dirty="0"/>
              <a:t>}</a:t>
            </a:r>
          </a:p>
          <a:p>
            <a:pPr marL="0" indent="0">
              <a:buNone/>
            </a:pPr>
            <a:endParaRPr lang="en-IN" sz="2000" b="1" dirty="0"/>
          </a:p>
        </p:txBody>
      </p:sp>
    </p:spTree>
    <p:extLst>
      <p:ext uri="{BB962C8B-B14F-4D97-AF65-F5344CB8AC3E}">
        <p14:creationId xmlns:p14="http://schemas.microsoft.com/office/powerpoint/2010/main" val="294321081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CE953-9BA8-7D0E-A53D-87F656584F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615475-23DE-7CA7-A6D2-76DCF7A608DE}"/>
              </a:ext>
            </a:extLst>
          </p:cNvPr>
          <p:cNvSpPr>
            <a:spLocks noGrp="1"/>
          </p:cNvSpPr>
          <p:nvPr>
            <p:ph type="title"/>
          </p:nvPr>
        </p:nvSpPr>
        <p:spPr/>
        <p:txBody>
          <a:bodyPr/>
          <a:lstStyle/>
          <a:p>
            <a:r>
              <a:rPr lang="en-IN" dirty="0"/>
              <a:t>Kafka Consumer Implementation</a:t>
            </a:r>
          </a:p>
        </p:txBody>
      </p:sp>
      <p:sp>
        <p:nvSpPr>
          <p:cNvPr id="3" name="Content Placeholder 2">
            <a:extLst>
              <a:ext uri="{FF2B5EF4-FFF2-40B4-BE49-F238E27FC236}">
                <a16:creationId xmlns:a16="http://schemas.microsoft.com/office/drawing/2014/main" id="{6EFB3104-EABC-D647-D668-873CE4DA6A67}"/>
              </a:ext>
            </a:extLst>
          </p:cNvPr>
          <p:cNvSpPr>
            <a:spLocks noGrp="1"/>
          </p:cNvSpPr>
          <p:nvPr>
            <p:ph idx="1"/>
          </p:nvPr>
        </p:nvSpPr>
        <p:spPr/>
        <p:txBody>
          <a:bodyPr>
            <a:normAutofit fontScale="62500" lnSpcReduction="20000"/>
          </a:bodyPr>
          <a:lstStyle/>
          <a:p>
            <a:pPr marL="0" indent="0">
              <a:buNone/>
            </a:pPr>
            <a:r>
              <a:rPr lang="en-US" sz="2000" b="1" dirty="0"/>
              <a:t>Event Model (same as producer)</a:t>
            </a:r>
          </a:p>
          <a:p>
            <a:pPr marL="0" indent="0">
              <a:buNone/>
            </a:pPr>
            <a:r>
              <a:rPr lang="en-IN" sz="1500" dirty="0"/>
              <a:t>package </a:t>
            </a:r>
            <a:r>
              <a:rPr lang="en-IN" sz="1500" dirty="0" err="1"/>
              <a:t>com.example.notification.event</a:t>
            </a:r>
            <a:r>
              <a:rPr lang="en-IN" sz="1500" dirty="0"/>
              <a:t>;</a:t>
            </a:r>
          </a:p>
          <a:p>
            <a:pPr marL="0" indent="0">
              <a:buNone/>
            </a:pPr>
            <a:endParaRPr lang="en-IN" sz="1500" dirty="0"/>
          </a:p>
          <a:p>
            <a:pPr marL="0" indent="0">
              <a:buNone/>
            </a:pPr>
            <a:r>
              <a:rPr lang="en-IN" sz="1500" dirty="0"/>
              <a:t>import </a:t>
            </a:r>
            <a:r>
              <a:rPr lang="en-IN" sz="1500" dirty="0" err="1"/>
              <a:t>lombok</a:t>
            </a:r>
            <a:r>
              <a:rPr lang="en-IN" sz="1500" dirty="0"/>
              <a:t>.*;</a:t>
            </a:r>
          </a:p>
          <a:p>
            <a:pPr marL="0" indent="0">
              <a:buNone/>
            </a:pPr>
            <a:endParaRPr lang="en-IN" sz="1500" dirty="0"/>
          </a:p>
          <a:p>
            <a:pPr marL="0" indent="0">
              <a:buNone/>
            </a:pPr>
            <a:r>
              <a:rPr lang="en-IN" sz="1500" dirty="0"/>
              <a:t>@Data</a:t>
            </a:r>
          </a:p>
          <a:p>
            <a:pPr marL="0" indent="0">
              <a:buNone/>
            </a:pPr>
            <a:r>
              <a:rPr lang="en-IN" sz="1500" dirty="0"/>
              <a:t>@AllArgsConstructor</a:t>
            </a:r>
          </a:p>
          <a:p>
            <a:pPr marL="0" indent="0">
              <a:buNone/>
            </a:pPr>
            <a:r>
              <a:rPr lang="en-IN" sz="1500" dirty="0"/>
              <a:t>@NoArgsConstructor</a:t>
            </a:r>
          </a:p>
          <a:p>
            <a:pPr marL="0" indent="0">
              <a:buNone/>
            </a:pPr>
            <a:r>
              <a:rPr lang="en-IN" sz="1500" dirty="0"/>
              <a:t>public class </a:t>
            </a:r>
            <a:r>
              <a:rPr lang="en-IN" sz="1500" dirty="0" err="1"/>
              <a:t>TransactionEvent</a:t>
            </a:r>
            <a:r>
              <a:rPr lang="en-IN" sz="1500" dirty="0"/>
              <a:t> {</a:t>
            </a:r>
          </a:p>
          <a:p>
            <a:pPr marL="0" indent="0">
              <a:buNone/>
            </a:pPr>
            <a:endParaRPr lang="en-IN" sz="1500" dirty="0"/>
          </a:p>
          <a:p>
            <a:pPr marL="0" indent="0">
              <a:buNone/>
            </a:pPr>
            <a:r>
              <a:rPr lang="en-IN" sz="1500" dirty="0"/>
              <a:t>    private String </a:t>
            </a:r>
            <a:r>
              <a:rPr lang="en-IN" sz="1500" dirty="0" err="1"/>
              <a:t>transactionId</a:t>
            </a:r>
            <a:r>
              <a:rPr lang="en-IN" sz="1500" dirty="0"/>
              <a:t>;</a:t>
            </a:r>
          </a:p>
          <a:p>
            <a:pPr marL="0" indent="0">
              <a:buNone/>
            </a:pPr>
            <a:r>
              <a:rPr lang="en-IN" sz="1500" dirty="0"/>
              <a:t>    private double amount;</a:t>
            </a:r>
          </a:p>
          <a:p>
            <a:pPr marL="0" indent="0">
              <a:buNone/>
            </a:pPr>
            <a:r>
              <a:rPr lang="en-IN" sz="1500" dirty="0"/>
              <a:t>    private String status;</a:t>
            </a:r>
          </a:p>
          <a:p>
            <a:pPr marL="0" indent="0">
              <a:buNone/>
            </a:pPr>
            <a:r>
              <a:rPr lang="en-IN" sz="1500" dirty="0"/>
              <a:t>}</a:t>
            </a:r>
          </a:p>
          <a:p>
            <a:pPr marL="0" indent="0">
              <a:buNone/>
            </a:pPr>
            <a:r>
              <a:rPr lang="en-IN" sz="2000" dirty="0"/>
              <a:t>Run Notification Service</a:t>
            </a:r>
          </a:p>
          <a:p>
            <a:pPr marL="0" indent="0">
              <a:buNone/>
            </a:pPr>
            <a:r>
              <a:rPr lang="en-IN" sz="2000" b="1" dirty="0" err="1"/>
              <a:t>mvn</a:t>
            </a:r>
            <a:r>
              <a:rPr lang="en-IN" sz="2000" b="1" dirty="0"/>
              <a:t> </a:t>
            </a:r>
            <a:r>
              <a:rPr lang="en-IN" sz="2000" b="1" dirty="0" err="1"/>
              <a:t>spring-boot:run</a:t>
            </a:r>
            <a:endParaRPr lang="en-IN" sz="2000" b="1" dirty="0"/>
          </a:p>
          <a:p>
            <a:pPr marL="0" indent="0">
              <a:buNone/>
            </a:pPr>
            <a:r>
              <a:rPr lang="en-US" sz="2000" b="1" dirty="0"/>
              <a:t>Test Flow</a:t>
            </a:r>
          </a:p>
          <a:p>
            <a:pPr marL="0" indent="0">
              <a:buNone/>
            </a:pPr>
            <a:r>
              <a:rPr lang="en-US" sz="2000" dirty="0"/>
              <a:t>Call Transaction API:</a:t>
            </a:r>
          </a:p>
          <a:p>
            <a:pPr lvl="2"/>
            <a:r>
              <a:rPr lang="en-US" dirty="0"/>
              <a:t>POST http://localhost:8081/transactions</a:t>
            </a:r>
          </a:p>
          <a:p>
            <a:pPr marL="0" indent="0">
              <a:buNone/>
            </a:pPr>
            <a:r>
              <a:rPr lang="en-IN" sz="2000" dirty="0"/>
              <a:t>Output Transaction Service</a:t>
            </a:r>
          </a:p>
          <a:p>
            <a:pPr marL="0" indent="0">
              <a:buNone/>
            </a:pPr>
            <a:r>
              <a:rPr lang="en-IN" sz="2000" b="1" dirty="0"/>
              <a:t>Event published: TXN123</a:t>
            </a:r>
          </a:p>
          <a:p>
            <a:pPr marL="0" indent="0">
              <a:buNone/>
            </a:pPr>
            <a:endParaRPr lang="en-IN" sz="2000" b="1" dirty="0"/>
          </a:p>
          <a:p>
            <a:pPr marL="0" indent="0">
              <a:buNone/>
            </a:pPr>
            <a:r>
              <a:rPr lang="en-IN" sz="2000" dirty="0"/>
              <a:t>Output Notification Service</a:t>
            </a:r>
          </a:p>
          <a:p>
            <a:pPr marL="0" indent="0">
              <a:buNone/>
            </a:pPr>
            <a:r>
              <a:rPr lang="en-US" sz="2000" b="1" dirty="0"/>
              <a:t>Received event: TXN123</a:t>
            </a:r>
          </a:p>
          <a:p>
            <a:pPr marL="0" indent="0">
              <a:buNone/>
            </a:pPr>
            <a:r>
              <a:rPr lang="en-US" sz="2000" b="1" dirty="0"/>
              <a:t>Sending notification for transaction: TXN123</a:t>
            </a:r>
          </a:p>
          <a:p>
            <a:pPr marL="0" indent="0">
              <a:buNone/>
            </a:pPr>
            <a:endParaRPr lang="en-IN" sz="2000" b="1" dirty="0"/>
          </a:p>
        </p:txBody>
      </p:sp>
    </p:spTree>
    <p:extLst>
      <p:ext uri="{BB962C8B-B14F-4D97-AF65-F5344CB8AC3E}">
        <p14:creationId xmlns:p14="http://schemas.microsoft.com/office/powerpoint/2010/main" val="189405330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9042A-9F47-F085-7798-A0B7CEBFFC56}"/>
              </a:ext>
            </a:extLst>
          </p:cNvPr>
          <p:cNvSpPr>
            <a:spLocks noGrp="1"/>
          </p:cNvSpPr>
          <p:nvPr>
            <p:ph type="title"/>
          </p:nvPr>
        </p:nvSpPr>
        <p:spPr/>
        <p:txBody>
          <a:bodyPr/>
          <a:lstStyle/>
          <a:p>
            <a:r>
              <a:rPr lang="en-IN" dirty="0"/>
              <a:t>Complete Flow Diagram</a:t>
            </a:r>
          </a:p>
        </p:txBody>
      </p:sp>
      <p:sp>
        <p:nvSpPr>
          <p:cNvPr id="3" name="Content Placeholder 2">
            <a:extLst>
              <a:ext uri="{FF2B5EF4-FFF2-40B4-BE49-F238E27FC236}">
                <a16:creationId xmlns:a16="http://schemas.microsoft.com/office/drawing/2014/main" id="{2EC82462-2A71-7233-05A3-4B7FF09D72A3}"/>
              </a:ext>
            </a:extLst>
          </p:cNvPr>
          <p:cNvSpPr>
            <a:spLocks noGrp="1"/>
          </p:cNvSpPr>
          <p:nvPr>
            <p:ph idx="1"/>
          </p:nvPr>
        </p:nvSpPr>
        <p:spPr/>
        <p:txBody>
          <a:bodyPr>
            <a:normAutofit fontScale="85000" lnSpcReduction="20000"/>
          </a:bodyPr>
          <a:lstStyle/>
          <a:p>
            <a:pPr marL="0" indent="0">
              <a:buNone/>
            </a:pPr>
            <a:r>
              <a:rPr lang="fr-FR" dirty="0"/>
              <a:t>Client</a:t>
            </a:r>
          </a:p>
          <a:p>
            <a:pPr marL="0" indent="0">
              <a:buNone/>
            </a:pPr>
            <a:r>
              <a:rPr lang="fr-FR" dirty="0"/>
              <a:t>  |</a:t>
            </a:r>
          </a:p>
          <a:p>
            <a:pPr marL="0" indent="0">
              <a:buNone/>
            </a:pPr>
            <a:r>
              <a:rPr lang="fr-FR" dirty="0"/>
              <a:t>  v</a:t>
            </a:r>
          </a:p>
          <a:p>
            <a:pPr marL="0" indent="0">
              <a:buNone/>
            </a:pPr>
            <a:r>
              <a:rPr lang="fr-FR" dirty="0"/>
              <a:t>Transaction Service</a:t>
            </a:r>
          </a:p>
          <a:p>
            <a:pPr marL="0" indent="0">
              <a:buNone/>
            </a:pPr>
            <a:r>
              <a:rPr lang="fr-FR" dirty="0"/>
              <a:t>  |</a:t>
            </a:r>
          </a:p>
          <a:p>
            <a:pPr marL="0" indent="0">
              <a:buNone/>
            </a:pPr>
            <a:r>
              <a:rPr lang="fr-FR" dirty="0"/>
              <a:t>  v</a:t>
            </a:r>
          </a:p>
          <a:p>
            <a:pPr marL="0" indent="0">
              <a:buNone/>
            </a:pPr>
            <a:r>
              <a:rPr lang="fr-FR" dirty="0"/>
              <a:t>Kafka Topic</a:t>
            </a:r>
          </a:p>
          <a:p>
            <a:pPr marL="0" indent="0">
              <a:buNone/>
            </a:pPr>
            <a:r>
              <a:rPr lang="fr-FR" dirty="0"/>
              <a:t>  |</a:t>
            </a:r>
          </a:p>
          <a:p>
            <a:pPr marL="0" indent="0">
              <a:buNone/>
            </a:pPr>
            <a:r>
              <a:rPr lang="fr-FR" dirty="0"/>
              <a:t>  v</a:t>
            </a:r>
          </a:p>
          <a:p>
            <a:pPr marL="0" indent="0">
              <a:buNone/>
            </a:pPr>
            <a:r>
              <a:rPr lang="fr-FR" dirty="0"/>
              <a:t>Notification Service</a:t>
            </a:r>
          </a:p>
          <a:p>
            <a:pPr marL="0" indent="0">
              <a:buNone/>
            </a:pPr>
            <a:endParaRPr lang="en-IN" dirty="0"/>
          </a:p>
        </p:txBody>
      </p:sp>
    </p:spTree>
    <p:extLst>
      <p:ext uri="{BB962C8B-B14F-4D97-AF65-F5344CB8AC3E}">
        <p14:creationId xmlns:p14="http://schemas.microsoft.com/office/powerpoint/2010/main" val="299433775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AFC83-AD9F-6AA5-8334-D53DB5EC6A88}"/>
              </a:ext>
            </a:extLst>
          </p:cNvPr>
          <p:cNvSpPr>
            <a:spLocks noGrp="1"/>
          </p:cNvSpPr>
          <p:nvPr>
            <p:ph type="title"/>
          </p:nvPr>
        </p:nvSpPr>
        <p:spPr/>
        <p:txBody>
          <a:bodyPr>
            <a:normAutofit fontScale="90000"/>
          </a:bodyPr>
          <a:lstStyle/>
          <a:p>
            <a:r>
              <a:rPr lang="en-IN" b="1" dirty="0"/>
              <a:t>Production Folder Structure</a:t>
            </a:r>
            <a:br>
              <a:rPr lang="en-IN" dirty="0"/>
            </a:br>
            <a:endParaRPr lang="en-IN" dirty="0"/>
          </a:p>
        </p:txBody>
      </p:sp>
      <p:sp>
        <p:nvSpPr>
          <p:cNvPr id="3" name="Content Placeholder 2">
            <a:extLst>
              <a:ext uri="{FF2B5EF4-FFF2-40B4-BE49-F238E27FC236}">
                <a16:creationId xmlns:a16="http://schemas.microsoft.com/office/drawing/2014/main" id="{8C586290-8DDD-06DA-C325-3F363E8EE137}"/>
              </a:ext>
            </a:extLst>
          </p:cNvPr>
          <p:cNvSpPr>
            <a:spLocks noGrp="1"/>
          </p:cNvSpPr>
          <p:nvPr>
            <p:ph idx="1"/>
          </p:nvPr>
        </p:nvSpPr>
        <p:spPr/>
        <p:txBody>
          <a:bodyPr>
            <a:normAutofit/>
          </a:bodyPr>
          <a:lstStyle/>
          <a:p>
            <a:pPr marL="0" indent="0">
              <a:buNone/>
            </a:pPr>
            <a:r>
              <a:rPr lang="en-IN" sz="2000" dirty="0"/>
              <a:t>Transaction Service</a:t>
            </a:r>
          </a:p>
          <a:p>
            <a:pPr marL="0" indent="0">
              <a:buNone/>
            </a:pPr>
            <a:r>
              <a:rPr lang="en-IN" sz="2000" dirty="0"/>
              <a:t>transaction-service</a:t>
            </a:r>
          </a:p>
          <a:p>
            <a:pPr marL="0" indent="0">
              <a:buNone/>
            </a:pPr>
            <a:r>
              <a:rPr lang="en-IN" sz="2000" dirty="0"/>
              <a:t> ├ controller</a:t>
            </a:r>
          </a:p>
          <a:p>
            <a:pPr marL="0" indent="0">
              <a:buNone/>
            </a:pPr>
            <a:r>
              <a:rPr lang="en-IN" sz="2000" dirty="0"/>
              <a:t> ├ service</a:t>
            </a:r>
          </a:p>
          <a:p>
            <a:pPr marL="0" indent="0">
              <a:buNone/>
            </a:pPr>
            <a:r>
              <a:rPr lang="en-IN" sz="2000" dirty="0"/>
              <a:t> ├ event</a:t>
            </a:r>
          </a:p>
          <a:p>
            <a:pPr marL="0" indent="0">
              <a:buNone/>
            </a:pPr>
            <a:r>
              <a:rPr lang="en-IN" sz="2000" dirty="0"/>
              <a:t> ├ config</a:t>
            </a:r>
          </a:p>
          <a:p>
            <a:pPr marL="0" indent="0">
              <a:buNone/>
            </a:pPr>
            <a:r>
              <a:rPr lang="en-IN" sz="2000" dirty="0"/>
              <a:t>Notification Service</a:t>
            </a:r>
          </a:p>
          <a:p>
            <a:pPr marL="0" indent="0">
              <a:buNone/>
            </a:pPr>
            <a:r>
              <a:rPr lang="en-IN" sz="2000" dirty="0"/>
              <a:t>notification-service</a:t>
            </a:r>
          </a:p>
          <a:p>
            <a:pPr marL="0" indent="0">
              <a:buNone/>
            </a:pPr>
            <a:r>
              <a:rPr lang="en-IN" sz="2000" dirty="0"/>
              <a:t> ├ consumer</a:t>
            </a:r>
          </a:p>
          <a:p>
            <a:pPr marL="0" indent="0">
              <a:buNone/>
            </a:pPr>
            <a:r>
              <a:rPr lang="en-IN" sz="2000" dirty="0"/>
              <a:t> ├ event</a:t>
            </a:r>
          </a:p>
          <a:p>
            <a:pPr marL="0" indent="0">
              <a:buNone/>
            </a:pPr>
            <a:r>
              <a:rPr lang="en-IN" sz="2000" dirty="0"/>
              <a:t> ├ service</a:t>
            </a:r>
          </a:p>
          <a:p>
            <a:pPr marL="0" indent="0">
              <a:buNone/>
            </a:pPr>
            <a:endParaRPr lang="en-IN" sz="2000" dirty="0"/>
          </a:p>
        </p:txBody>
      </p:sp>
    </p:spTree>
    <p:extLst>
      <p:ext uri="{BB962C8B-B14F-4D97-AF65-F5344CB8AC3E}">
        <p14:creationId xmlns:p14="http://schemas.microsoft.com/office/powerpoint/2010/main" val="288661155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150DF-B0CA-3164-8B88-321CC64BD01C}"/>
              </a:ext>
            </a:extLst>
          </p:cNvPr>
          <p:cNvSpPr>
            <a:spLocks noGrp="1"/>
          </p:cNvSpPr>
          <p:nvPr>
            <p:ph type="title"/>
          </p:nvPr>
        </p:nvSpPr>
        <p:spPr/>
        <p:txBody>
          <a:bodyPr/>
          <a:lstStyle/>
          <a:p>
            <a:r>
              <a:rPr lang="en-IN" dirty="0"/>
              <a:t>Questions</a:t>
            </a:r>
          </a:p>
        </p:txBody>
      </p:sp>
      <p:sp>
        <p:nvSpPr>
          <p:cNvPr id="3" name="Content Placeholder 2">
            <a:extLst>
              <a:ext uri="{FF2B5EF4-FFF2-40B4-BE49-F238E27FC236}">
                <a16:creationId xmlns:a16="http://schemas.microsoft.com/office/drawing/2014/main" id="{BAABEC9C-1F63-28E6-95CF-E34020974CF0}"/>
              </a:ext>
            </a:extLst>
          </p:cNvPr>
          <p:cNvSpPr>
            <a:spLocks noGrp="1"/>
          </p:cNvSpPr>
          <p:nvPr>
            <p:ph idx="1"/>
          </p:nvPr>
        </p:nvSpPr>
        <p:spPr/>
        <p:txBody>
          <a:bodyPr>
            <a:normAutofit fontScale="92500" lnSpcReduction="10000"/>
          </a:bodyPr>
          <a:lstStyle/>
          <a:p>
            <a:pPr marL="0" indent="0">
              <a:buNone/>
            </a:pPr>
            <a:r>
              <a:rPr lang="en-IN" dirty="0"/>
              <a:t>Q1: What is Kafka?</a:t>
            </a:r>
          </a:p>
          <a:p>
            <a:pPr lvl="2"/>
            <a:r>
              <a:rPr lang="en-IN" dirty="0"/>
              <a:t>Event streaming platform.</a:t>
            </a:r>
          </a:p>
          <a:p>
            <a:pPr marL="0" indent="0">
              <a:buNone/>
            </a:pPr>
            <a:r>
              <a:rPr lang="en-IN" dirty="0"/>
              <a:t>Q2: What is Topic?</a:t>
            </a:r>
          </a:p>
          <a:p>
            <a:pPr lvl="2"/>
            <a:r>
              <a:rPr lang="en-IN" dirty="0"/>
              <a:t>Event channel.</a:t>
            </a:r>
          </a:p>
          <a:p>
            <a:pPr marL="0" indent="0">
              <a:buNone/>
            </a:pPr>
            <a:r>
              <a:rPr lang="en-IN" dirty="0"/>
              <a:t>Q3: Producer role?</a:t>
            </a:r>
          </a:p>
          <a:p>
            <a:pPr lvl="2"/>
            <a:r>
              <a:rPr lang="en-IN" dirty="0"/>
              <a:t>Publishes event.</a:t>
            </a:r>
          </a:p>
          <a:p>
            <a:pPr marL="0" indent="0">
              <a:buNone/>
            </a:pPr>
            <a:r>
              <a:rPr lang="en-IN" dirty="0"/>
              <a:t>Q4: Consumer role?</a:t>
            </a:r>
          </a:p>
          <a:p>
            <a:pPr lvl="2"/>
            <a:r>
              <a:rPr lang="en-IN" dirty="0"/>
              <a:t>Consumes event.</a:t>
            </a:r>
          </a:p>
          <a:p>
            <a:pPr marL="0" indent="0">
              <a:buNone/>
            </a:pPr>
            <a:r>
              <a:rPr lang="en-IN" dirty="0"/>
              <a:t>Q5: Benefit of Kafka?</a:t>
            </a:r>
          </a:p>
          <a:p>
            <a:pPr lvl="2"/>
            <a:r>
              <a:rPr lang="en-IN" dirty="0"/>
              <a:t>Loose coupling.</a:t>
            </a:r>
          </a:p>
          <a:p>
            <a:pPr marL="0" indent="0">
              <a:buNone/>
            </a:pPr>
            <a:endParaRPr lang="en-IN" dirty="0"/>
          </a:p>
        </p:txBody>
      </p:sp>
    </p:spTree>
    <p:extLst>
      <p:ext uri="{BB962C8B-B14F-4D97-AF65-F5344CB8AC3E}">
        <p14:creationId xmlns:p14="http://schemas.microsoft.com/office/powerpoint/2010/main" val="203079962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Docker Overview</a:t>
            </a:r>
          </a:p>
        </p:txBody>
      </p:sp>
      <p:sp>
        <p:nvSpPr>
          <p:cNvPr id="3" name="Content Placeholder 2"/>
          <p:cNvSpPr>
            <a:spLocks noGrp="1"/>
          </p:cNvSpPr>
          <p:nvPr>
            <p:ph idx="1"/>
          </p:nvPr>
        </p:nvSpPr>
        <p:spPr/>
        <p:txBody>
          <a:bodyPr/>
          <a:lstStyle/>
          <a:p>
            <a:r>
              <a:t>Containerization platform</a:t>
            </a:r>
          </a:p>
          <a:p>
            <a:r>
              <a:t>Ensures consistent environments</a:t>
            </a:r>
          </a:p>
          <a:p>
            <a:r>
              <a:t>Easy deployment</a:t>
            </a:r>
          </a:p>
          <a:p>
            <a:r>
              <a:t>Supports microservices</a:t>
            </a:r>
          </a:p>
          <a:p>
            <a:r>
              <a:t>Improves portability</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Kubernetes Overview</a:t>
            </a:r>
          </a:p>
        </p:txBody>
      </p:sp>
      <p:sp>
        <p:nvSpPr>
          <p:cNvPr id="3" name="Content Placeholder 2"/>
          <p:cNvSpPr>
            <a:spLocks noGrp="1"/>
          </p:cNvSpPr>
          <p:nvPr>
            <p:ph idx="1"/>
          </p:nvPr>
        </p:nvSpPr>
        <p:spPr/>
        <p:txBody>
          <a:bodyPr/>
          <a:lstStyle/>
          <a:p>
            <a:r>
              <a:t>Container orchestration platform</a:t>
            </a:r>
          </a:p>
          <a:p>
            <a:r>
              <a:t>Automatic scaling</a:t>
            </a:r>
          </a:p>
          <a:p>
            <a:r>
              <a:t>Self healing</a:t>
            </a:r>
          </a:p>
          <a:p>
            <a:r>
              <a:t>Load balancing</a:t>
            </a:r>
          </a:p>
          <a:p>
            <a:r>
              <a:t>Production deployment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Monitoring with Prometheus &amp; Grafana</a:t>
            </a:r>
          </a:p>
        </p:txBody>
      </p:sp>
      <p:sp>
        <p:nvSpPr>
          <p:cNvPr id="3" name="Content Placeholder 2"/>
          <p:cNvSpPr>
            <a:spLocks noGrp="1"/>
          </p:cNvSpPr>
          <p:nvPr>
            <p:ph idx="1"/>
          </p:nvPr>
        </p:nvSpPr>
        <p:spPr/>
        <p:txBody>
          <a:bodyPr/>
          <a:lstStyle/>
          <a:p>
            <a:r>
              <a:t>Monitor system performance</a:t>
            </a:r>
          </a:p>
          <a:p>
            <a:r>
              <a:t>Track CPU and memory usage</a:t>
            </a:r>
          </a:p>
          <a:p>
            <a:r>
              <a:t>Track API performance</a:t>
            </a:r>
          </a:p>
          <a:p>
            <a:r>
              <a:t>Detect failures</a:t>
            </a:r>
          </a:p>
          <a:p>
            <a:r>
              <a:t>Improve reliability</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Design Concepts</a:t>
            </a:r>
          </a:p>
        </p:txBody>
      </p:sp>
      <p:sp>
        <p:nvSpPr>
          <p:cNvPr id="3" name="Content Placeholder 2"/>
          <p:cNvSpPr>
            <a:spLocks noGrp="1"/>
          </p:cNvSpPr>
          <p:nvPr>
            <p:ph idx="1"/>
          </p:nvPr>
        </p:nvSpPr>
        <p:spPr/>
        <p:txBody>
          <a:bodyPr/>
          <a:lstStyle/>
          <a:p>
            <a:r>
              <a:t>Scalability</a:t>
            </a:r>
          </a:p>
          <a:p>
            <a:r>
              <a:t>Availability</a:t>
            </a:r>
          </a:p>
          <a:p>
            <a:r>
              <a:t>Reliability</a:t>
            </a:r>
          </a:p>
          <a:p>
            <a:r>
              <a:t>Fault tolerance</a:t>
            </a:r>
          </a:p>
          <a:p>
            <a:r>
              <a:t>CAP theorem</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CAP Theorem</a:t>
            </a:r>
          </a:p>
        </p:txBody>
      </p:sp>
      <p:sp>
        <p:nvSpPr>
          <p:cNvPr id="3" name="Content Placeholder 2"/>
          <p:cNvSpPr>
            <a:spLocks noGrp="1"/>
          </p:cNvSpPr>
          <p:nvPr>
            <p:ph idx="1"/>
          </p:nvPr>
        </p:nvSpPr>
        <p:spPr/>
        <p:txBody>
          <a:bodyPr/>
          <a:lstStyle/>
          <a:p>
            <a:r>
              <a:t>Consistency</a:t>
            </a:r>
          </a:p>
          <a:p>
            <a:r>
              <a:t>Availability</a:t>
            </a:r>
          </a:p>
          <a:p>
            <a:r>
              <a:t>Partition tolerance</a:t>
            </a:r>
          </a:p>
          <a:p>
            <a:r>
              <a:t>Only two can be achieved simultaneously</a:t>
            </a:r>
          </a:p>
          <a:p>
            <a:r>
              <a:t>Important for distributed systems</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Deployment Architecture</a:t>
            </a:r>
          </a:p>
        </p:txBody>
      </p:sp>
      <p:sp>
        <p:nvSpPr>
          <p:cNvPr id="3" name="Content Placeholder 2"/>
          <p:cNvSpPr>
            <a:spLocks noGrp="1"/>
          </p:cNvSpPr>
          <p:nvPr>
            <p:ph idx="1"/>
          </p:nvPr>
        </p:nvSpPr>
        <p:spPr/>
        <p:txBody>
          <a:bodyPr/>
          <a:lstStyle/>
          <a:p>
            <a:r>
              <a:t>Client → API Gateway</a:t>
            </a:r>
          </a:p>
          <a:p>
            <a:r>
              <a:t>Gateway → Microservices</a:t>
            </a:r>
          </a:p>
          <a:p>
            <a:r>
              <a:t>Microservices → Databases</a:t>
            </a:r>
          </a:p>
          <a:p>
            <a:r>
              <a:t>Kafka for messaging</a:t>
            </a:r>
          </a:p>
          <a:p>
            <a:r>
              <a:t>Monitoring using Prometheus</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Best Practices</a:t>
            </a:r>
          </a:p>
        </p:txBody>
      </p:sp>
      <p:sp>
        <p:nvSpPr>
          <p:cNvPr id="3" name="Content Placeholder 2"/>
          <p:cNvSpPr>
            <a:spLocks noGrp="1"/>
          </p:cNvSpPr>
          <p:nvPr>
            <p:ph idx="1"/>
          </p:nvPr>
        </p:nvSpPr>
        <p:spPr/>
        <p:txBody>
          <a:bodyPr/>
          <a:lstStyle/>
          <a:p>
            <a:r>
              <a:t>Use API Gateway</a:t>
            </a:r>
          </a:p>
          <a:p>
            <a:r>
              <a:t>Use Service Discovery</a:t>
            </a:r>
          </a:p>
          <a:p>
            <a:r>
              <a:t>Use Database per service</a:t>
            </a:r>
          </a:p>
          <a:p>
            <a:r>
              <a:t>Implement monitoring</a:t>
            </a:r>
          </a:p>
          <a:p>
            <a:r>
              <a:t>Use containerization</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Final Project</a:t>
            </a:r>
          </a:p>
        </p:txBody>
      </p:sp>
      <p:sp>
        <p:nvSpPr>
          <p:cNvPr id="3" name="Content Placeholder 2"/>
          <p:cNvSpPr>
            <a:spLocks noGrp="1"/>
          </p:cNvSpPr>
          <p:nvPr>
            <p:ph idx="1"/>
          </p:nvPr>
        </p:nvSpPr>
        <p:spPr/>
        <p:txBody>
          <a:bodyPr/>
          <a:lstStyle/>
          <a:p>
            <a:r>
              <a:t>Build Banking Microservices System</a:t>
            </a:r>
          </a:p>
          <a:p>
            <a:r>
              <a:t>API Gateway</a:t>
            </a:r>
          </a:p>
          <a:p>
            <a:r>
              <a:t>Multiple microservices</a:t>
            </a:r>
          </a:p>
          <a:p>
            <a:r>
              <a:t>Kafka messaging</a:t>
            </a:r>
          </a:p>
          <a:p>
            <a:r>
              <a:t>Docker and Kubernetes deployment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1771</TotalTime>
  <Words>5862</Words>
  <Application>Microsoft Office PowerPoint</Application>
  <PresentationFormat>On-screen Show (4:3)</PresentationFormat>
  <Paragraphs>1339</Paragraphs>
  <Slides>123</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123</vt:i4>
      </vt:variant>
    </vt:vector>
  </HeadingPairs>
  <TitlesOfParts>
    <vt:vector size="127" baseType="lpstr">
      <vt:lpstr>Arial</vt:lpstr>
      <vt:lpstr>Calibri</vt:lpstr>
      <vt:lpstr>Open Sans</vt:lpstr>
      <vt:lpstr>Office Theme</vt:lpstr>
      <vt:lpstr>Microservices Architecture &amp; System Design</vt:lpstr>
      <vt:lpstr>Course Objectives</vt:lpstr>
      <vt:lpstr>Monolith Architecture</vt:lpstr>
      <vt:lpstr>What is a Monolith?</vt:lpstr>
      <vt:lpstr>Problems with Monolith</vt:lpstr>
      <vt:lpstr>Problems with Monolith</vt:lpstr>
      <vt:lpstr>Question</vt:lpstr>
      <vt:lpstr>Introduction to Microservices</vt:lpstr>
      <vt:lpstr>Microservices Architecture</vt:lpstr>
      <vt:lpstr>Microservices Architecture</vt:lpstr>
      <vt:lpstr>Advantages of Microservices</vt:lpstr>
      <vt:lpstr>Microservices Principles</vt:lpstr>
      <vt:lpstr>Example Monolithic Vs Microservices</vt:lpstr>
      <vt:lpstr>Example Monolithic Vs Microservices</vt:lpstr>
      <vt:lpstr>Answer</vt:lpstr>
      <vt:lpstr>Microservices Architecture Patterns</vt:lpstr>
      <vt:lpstr>Microservices Architecture Patterns</vt:lpstr>
      <vt:lpstr>Exercise</vt:lpstr>
      <vt:lpstr>Spring Boot Microservice Creation</vt:lpstr>
      <vt:lpstr>MicroServices with Spring Cloud Example</vt:lpstr>
      <vt:lpstr>Hands On </vt:lpstr>
      <vt:lpstr>Hands On </vt:lpstr>
      <vt:lpstr>Hands On</vt:lpstr>
      <vt:lpstr>Hands On</vt:lpstr>
      <vt:lpstr>Hands On</vt:lpstr>
      <vt:lpstr>Hands On</vt:lpstr>
      <vt:lpstr>Hands On </vt:lpstr>
      <vt:lpstr>Hands On</vt:lpstr>
      <vt:lpstr>Interservice Communication (REST) </vt:lpstr>
      <vt:lpstr>Types of Interservice Communication </vt:lpstr>
      <vt:lpstr>Type 1: Synchronous Communication (REST)</vt:lpstr>
      <vt:lpstr>Real Banking Example</vt:lpstr>
      <vt:lpstr>Advantages and Disadvantages</vt:lpstr>
      <vt:lpstr>Type 2: Asynchronous Communication (Kafka)</vt:lpstr>
      <vt:lpstr>Real Banking Example</vt:lpstr>
      <vt:lpstr>Advantages and DisAdvantages</vt:lpstr>
      <vt:lpstr>Problems in Interservice Communication</vt:lpstr>
      <vt:lpstr>Problems in Interservice Communication</vt:lpstr>
      <vt:lpstr>Problems in Interservice Communication</vt:lpstr>
      <vt:lpstr>Problems in Interservice Communication</vt:lpstr>
      <vt:lpstr>DEMO- Java &amp; SpringBoot</vt:lpstr>
      <vt:lpstr>DEMO- Java &amp; SpringBoot</vt:lpstr>
      <vt:lpstr>DEMO- Java &amp; SpringBoot</vt:lpstr>
      <vt:lpstr>DEMO- Java &amp; SpringBoot</vt:lpstr>
      <vt:lpstr>DEMO- Java &amp; SpringBoot</vt:lpstr>
      <vt:lpstr>DEMO- Java &amp; SpringBoot</vt:lpstr>
      <vt:lpstr>DEMO- Java &amp; SpringBoot</vt:lpstr>
      <vt:lpstr>DEMO- Java &amp; SpringBoot</vt:lpstr>
      <vt:lpstr>API Gateway Pattern</vt:lpstr>
      <vt:lpstr>Service Discovery Pattern</vt:lpstr>
      <vt:lpstr>Database per Service Pattern</vt:lpstr>
      <vt:lpstr>Communication Types</vt:lpstr>
      <vt:lpstr>Resilience Patterns &amp; Fault Tolerance</vt:lpstr>
      <vt:lpstr>What is Fault Tolerance?</vt:lpstr>
      <vt:lpstr>Why failures happen in Microservices?</vt:lpstr>
      <vt:lpstr>Types of Failures</vt:lpstr>
      <vt:lpstr>Types of Failures</vt:lpstr>
      <vt:lpstr>Without Fault Tolerance</vt:lpstr>
      <vt:lpstr>With Fault Tolerance</vt:lpstr>
      <vt:lpstr>Circuit Breaker Pattern</vt:lpstr>
      <vt:lpstr>Circuit Breaker Pattern</vt:lpstr>
      <vt:lpstr>Circuit Breaker Pattern</vt:lpstr>
      <vt:lpstr>Circuit Breaker Pattern</vt:lpstr>
      <vt:lpstr>Demo</vt:lpstr>
      <vt:lpstr>Demo</vt:lpstr>
      <vt:lpstr>Retry Pattern</vt:lpstr>
      <vt:lpstr>Hands-on Retry</vt:lpstr>
      <vt:lpstr>Hands-on Retry</vt:lpstr>
      <vt:lpstr>Timeout Pattern</vt:lpstr>
      <vt:lpstr>Hands-on Timeout</vt:lpstr>
      <vt:lpstr>Bulkhead Pattern</vt:lpstr>
      <vt:lpstr>Hands-on Bulkhead</vt:lpstr>
      <vt:lpstr>Fallback Pattern</vt:lpstr>
      <vt:lpstr>Hands-on</vt:lpstr>
      <vt:lpstr>Saga Pattern</vt:lpstr>
      <vt:lpstr>Saga Pattern</vt:lpstr>
      <vt:lpstr>Saga Pattern</vt:lpstr>
      <vt:lpstr>Saga Pattern</vt:lpstr>
      <vt:lpstr>Saga Orchestration</vt:lpstr>
      <vt:lpstr>Advantages &amp; Disadvantages</vt:lpstr>
      <vt:lpstr>Saga Choreography</vt:lpstr>
      <vt:lpstr>Advantages &amp; DisAdvantages</vt:lpstr>
      <vt:lpstr>Architecture for Hands-on</vt:lpstr>
      <vt:lpstr>Hands On - Database Design</vt:lpstr>
      <vt:lpstr>Hands On - Kafka Topics</vt:lpstr>
      <vt:lpstr>Transfer Service Implementation</vt:lpstr>
      <vt:lpstr>Hands On -Account Service Implementation</vt:lpstr>
      <vt:lpstr>Hands On – Kafka Consumer</vt:lpstr>
      <vt:lpstr>Hands On – Kafka Consumer</vt:lpstr>
      <vt:lpstr>Hands On – Notification Service</vt:lpstr>
      <vt:lpstr>Hands On – Running the System</vt:lpstr>
      <vt:lpstr>Hands On – Expected Flow</vt:lpstr>
      <vt:lpstr>Hands On – Full Event Flow Diagram</vt:lpstr>
      <vt:lpstr>Questions  </vt:lpstr>
      <vt:lpstr>Event Driven Architecture</vt:lpstr>
      <vt:lpstr>Event Driven Architecture</vt:lpstr>
      <vt:lpstr>Event Driven Architecture</vt:lpstr>
      <vt:lpstr>Event Driven Architecture</vt:lpstr>
      <vt:lpstr>Event Driven Architecture</vt:lpstr>
      <vt:lpstr>Kafka Introduction</vt:lpstr>
      <vt:lpstr>Core Kafka Concepts</vt:lpstr>
      <vt:lpstr>Core Kafka Concepts</vt:lpstr>
      <vt:lpstr>Kafka Setup Hands-on using Docker</vt:lpstr>
      <vt:lpstr>Kafka Setup Hands-on using Docker</vt:lpstr>
      <vt:lpstr>Kafka Producer Implementation</vt:lpstr>
      <vt:lpstr>Kafka Producer Implementation</vt:lpstr>
      <vt:lpstr>Kafka Producer Implementation</vt:lpstr>
      <vt:lpstr>Kafka Producer Implementation</vt:lpstr>
      <vt:lpstr>Kafka Producer Implementation</vt:lpstr>
      <vt:lpstr>Kafka Consumer Implementation</vt:lpstr>
      <vt:lpstr>Kafka Consumer Implementation</vt:lpstr>
      <vt:lpstr>Kafka Consumer Implementation</vt:lpstr>
      <vt:lpstr>Complete Flow Diagram</vt:lpstr>
      <vt:lpstr>Production Folder Structure </vt:lpstr>
      <vt:lpstr>Questions</vt:lpstr>
      <vt:lpstr>Docker Overview</vt:lpstr>
      <vt:lpstr>Kubernetes Overview</vt:lpstr>
      <vt:lpstr>Monitoring with Prometheus &amp; Grafana</vt:lpstr>
      <vt:lpstr>System Design Concepts</vt:lpstr>
      <vt:lpstr>CAP Theorem</vt:lpstr>
      <vt:lpstr>Deployment Architecture</vt:lpstr>
      <vt:lpstr>Best Practices</vt:lpstr>
      <vt:lpstr>Final Project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Prabhat Chandra</cp:lastModifiedBy>
  <cp:revision>11</cp:revision>
  <dcterms:created xsi:type="dcterms:W3CDTF">2013-01-27T09:14:16Z</dcterms:created>
  <dcterms:modified xsi:type="dcterms:W3CDTF">2026-02-18T04:44:57Z</dcterms:modified>
  <cp:category/>
</cp:coreProperties>
</file>